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79" r:id="rId6"/>
    <p:sldId id="278" r:id="rId7"/>
    <p:sldId id="262" r:id="rId8"/>
    <p:sldId id="263" r:id="rId9"/>
    <p:sldId id="264" r:id="rId10"/>
    <p:sldId id="267" r:id="rId11"/>
    <p:sldId id="268" r:id="rId12"/>
    <p:sldId id="270" r:id="rId13"/>
    <p:sldId id="271" r:id="rId14"/>
    <p:sldId id="273" r:id="rId15"/>
    <p:sldId id="274" r:id="rId16"/>
    <p:sldId id="275" r:id="rId17"/>
    <p:sldId id="276" r:id="rId18"/>
    <p:sldId id="280"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68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1186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 will be presenting our research on rice grain classification using a deep learning ensemble with explainability analysis.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three pain points: manual grading limits, single-model brittleness, and the black-box nature of standard deep learning. The research question frames our dual contribution: ensemble performance and explainability.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four objectives. Objectives 1–2 cover methodology; objective 3 is the core performance contribution; objective 4 is the explainability / XAI contribution.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the class names and counts with your actual DATA_DIR contents. The stratified 70/15/15 split preserves class proportions in every subset. The dataset is pre-augmented, so augmentation during training adds additional variation on top.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the class names and counts with your actual DATA_DIR contents. The stratified 70/15/15 split preserves class proportions in every subset. The dataset is pre-augmented, so augmentation during training adds additional variation on top.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5177711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models span a broad design space: lightweight (MobileNetV2, EfficientNetB0), mid-range (VGG16), and high-capacity Inception-family. This diversity is key to ensemble effectiveness — different architectures capture complementary features.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 head is identical for all 6 models (except VGG16, which omits the first BN1d since it doesn't have BN in its backbone). Freezing backbone BatchNorm layers during training preserves the learned ImageNet statistics and prevents them from shifting on our smaller rice dataset.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BN freezing strategy is subtle but important. Without it, the running statistics of the backbone get corrupted by the rice data distribution, which reduces accuracy. Gradient clipping stabilises training, especially for larger models like InceptionResNetV2.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of weighted voting is that it leverages the known performance differences between models. A model that achieved 98% validation accuracy contributes twice as much as one at 49%. This naturally down-weights weaker models without discarding them entirely.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here is the delta between best individual model and best ensemble. Even a 0.2-0.5% accuracy gain represents meaningful improvement at scale. Point out the precision/recall balance and note whether any class still struggles.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result to highlight: if Grad-CAM heat concentrates on the grain body rather than the black background, it validates that our preprocessing pipeline is working. All six models should show consistent attention on grain morphology and texture. Insert gradcam_all.png from your outputs/ folder.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LIME and Grad-CAM together provide complementary explanations. Grad-CAM is gradient-based and native to the architecture; LIME is model-agnostic and perturbation-based. Agreement between them increases confidence in the explanations. Show one example per model if time allows.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limitations — reviewers and professors appreciate intellectual honesty. The key strength vs limitation trade-off to highlight is: ensemble performance gain vs inference time cost. This naturally leads into the Future Work slide on model distillation.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by tying back to the research question from Slide 2. You have shown that (a) the ensemble outperforms individual models, and (b) Grad-CAM and LIME provide trustworthy, consistent explanations. These two findings directly answer the research question.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is limited, prioritise directions 01 and 02. Real-world validation is the most scientifically pressing (does the system work outside controlled conditions?). Knowledge distillation is the most practically impactful (can we deploy it at scale?).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references with exact DOIs and publication details. If the conference requires a specific citation format (e.g. IEEE, APA), reformat accordingly.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plenty of time for Q&amp;A. Anticipate questions about: (1) why these 6 models specifically, (2) what is the inference latency of the ensemble, (3) how would the pipeline handle real-world noisy backgrounds, (4) have you compared against traditional hand-crafted feature methods?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356029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jpg"/><Relationship Id="rId7" Type="http://schemas.openxmlformats.org/officeDocument/2006/relationships/image" Target="../media/image5.jpg"/><Relationship Id="rId12"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jpg"/><Relationship Id="rId11" Type="http://schemas.openxmlformats.org/officeDocument/2006/relationships/image" Target="../media/image9.jpg"/><Relationship Id="rId5" Type="http://schemas.openxmlformats.org/officeDocument/2006/relationships/image" Target="../media/image3.jpg"/><Relationship Id="rId10" Type="http://schemas.openxmlformats.org/officeDocument/2006/relationships/image" Target="../media/image8.jpg"/><Relationship Id="rId4" Type="http://schemas.openxmlformats.org/officeDocument/2006/relationships/image" Target="../media/image2.jpg"/><Relationship Id="rId9" Type="http://schemas.openxmlformats.org/officeDocument/2006/relationships/image" Target="../media/image7.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hyperlink" Target="https://doi.org/10.1016/j.atech.2025.100788" TargetMode="External"/><Relationship Id="rId3" Type="http://schemas.openxmlformats.org/officeDocument/2006/relationships/hyperlink" Target="https://doi.org/10.22214/ijraset.2024.59321" TargetMode="External"/><Relationship Id="rId7" Type="http://schemas.openxmlformats.org/officeDocument/2006/relationships/hyperlink" Target="https://doi.org/10.2139/ssrn.4129842"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doi.org/10.1016/j.eswa.2024.123276" TargetMode="External"/><Relationship Id="rId5" Type="http://schemas.openxmlformats.org/officeDocument/2006/relationships/hyperlink" Target="https://doi.org/10.1016/j.compag.2021.106285" TargetMode="External"/><Relationship Id="rId4" Type="http://schemas.openxmlformats.org/officeDocument/2006/relationships/hyperlink" Target="https://doi.org/10.56705/ijodas.v5i1.129"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mailto:naim.molla.stats@gmail.com"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D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7CB87A"/>
          </a:solidFill>
          <a:ln w="12700">
            <a:solidFill>
              <a:srgbClr val="7CB87A"/>
            </a:solidFill>
            <a:prstDash val="solid"/>
          </a:ln>
        </p:spPr>
      </p:sp>
      <p:sp>
        <p:nvSpPr>
          <p:cNvPr id="3" name="Shape 1"/>
          <p:cNvSpPr/>
          <p:nvPr/>
        </p:nvSpPr>
        <p:spPr>
          <a:xfrm>
            <a:off x="0" y="4978908"/>
            <a:ext cx="9144000" cy="164592"/>
          </a:xfrm>
          <a:prstGeom prst="rect">
            <a:avLst/>
          </a:prstGeom>
          <a:solidFill>
            <a:srgbClr val="4A8C3F"/>
          </a:solidFill>
          <a:ln w="12700">
            <a:solidFill>
              <a:srgbClr val="4A8C3F"/>
            </a:solidFill>
            <a:prstDash val="solid"/>
          </a:ln>
        </p:spPr>
      </p:sp>
      <p:sp>
        <p:nvSpPr>
          <p:cNvPr id="4" name="Shape 2"/>
          <p:cNvSpPr/>
          <p:nvPr/>
        </p:nvSpPr>
        <p:spPr>
          <a:xfrm>
            <a:off x="0" y="164592"/>
            <a:ext cx="502920" cy="4814316"/>
          </a:xfrm>
          <a:prstGeom prst="rect">
            <a:avLst/>
          </a:prstGeom>
          <a:solidFill>
            <a:srgbClr val="4A8C3F"/>
          </a:solidFill>
          <a:ln w="12700">
            <a:solidFill>
              <a:srgbClr val="4A8C3F"/>
            </a:solidFill>
            <a:prstDash val="solid"/>
          </a:ln>
        </p:spPr>
      </p:sp>
      <p:sp>
        <p:nvSpPr>
          <p:cNvPr id="7" name="Text 5"/>
          <p:cNvSpPr/>
          <p:nvPr/>
        </p:nvSpPr>
        <p:spPr>
          <a:xfrm>
            <a:off x="731520" y="320040"/>
            <a:ext cx="5852160" cy="3108960"/>
          </a:xfrm>
          <a:prstGeom prst="rect">
            <a:avLst/>
          </a:prstGeom>
          <a:noFill/>
          <a:ln/>
        </p:spPr>
        <p:txBody>
          <a:bodyPr wrap="square" rtlCol="0" anchor="t"/>
          <a:lstStyle/>
          <a:p>
            <a:pPr marL="0" indent="0" algn="l">
              <a:buNone/>
            </a:pPr>
            <a:r>
              <a:rPr lang="en-US" sz="2700" b="1" dirty="0">
                <a:solidFill>
                  <a:srgbClr val="FFFFFF"/>
                </a:solidFill>
                <a:latin typeface="Cambria" pitchFamily="34" charset="0"/>
                <a:ea typeface="Cambria" pitchFamily="34" charset="-122"/>
                <a:cs typeface="Cambria" pitchFamily="34" charset="-120"/>
              </a:rPr>
              <a:t>Deep Learning-Based Multi-Variety Rice Grain Classification Using Pre-Trained Convolution Neural Networks</a:t>
            </a:r>
            <a:endParaRPr lang="en-US" sz="2700" dirty="0"/>
          </a:p>
        </p:txBody>
      </p:sp>
      <p:sp>
        <p:nvSpPr>
          <p:cNvPr id="8" name="Text 6"/>
          <p:cNvSpPr/>
          <p:nvPr/>
        </p:nvSpPr>
        <p:spPr>
          <a:xfrm>
            <a:off x="731520" y="3456432"/>
            <a:ext cx="5852160" cy="365760"/>
          </a:xfrm>
          <a:prstGeom prst="rect">
            <a:avLst/>
          </a:prstGeom>
          <a:noFill/>
          <a:ln/>
        </p:spPr>
        <p:txBody>
          <a:bodyPr wrap="square" rtlCol="0" anchor="ctr"/>
          <a:lstStyle/>
          <a:p>
            <a:pPr marL="0" indent="0">
              <a:buNone/>
            </a:pPr>
            <a:r>
              <a:rPr lang="en-US" sz="1300" i="1" dirty="0">
                <a:solidFill>
                  <a:srgbClr val="7CB87A"/>
                </a:solidFill>
                <a:latin typeface="Calibri" pitchFamily="34" charset="0"/>
                <a:ea typeface="Calibri" pitchFamily="34" charset="-122"/>
                <a:cs typeface="Calibri" pitchFamily="34" charset="-120"/>
              </a:rPr>
              <a:t>Transfer Learning  │  Ensemble Voting  │  Grad-CAM  │  LIME</a:t>
            </a:r>
            <a:endParaRPr lang="en-US" sz="1300" dirty="0"/>
          </a:p>
        </p:txBody>
      </p:sp>
      <p:sp>
        <p:nvSpPr>
          <p:cNvPr id="9" name="Shape 7"/>
          <p:cNvSpPr/>
          <p:nvPr/>
        </p:nvSpPr>
        <p:spPr>
          <a:xfrm>
            <a:off x="731520" y="3886200"/>
            <a:ext cx="5120640" cy="0"/>
          </a:xfrm>
          <a:prstGeom prst="line">
            <a:avLst/>
          </a:prstGeom>
          <a:noFill/>
          <a:ln w="19050">
            <a:solidFill>
              <a:srgbClr val="4A8C3F"/>
            </a:solidFill>
            <a:prstDash val="solid"/>
          </a:ln>
        </p:spPr>
      </p:sp>
      <p:sp>
        <p:nvSpPr>
          <p:cNvPr id="10" name="Text 8"/>
          <p:cNvSpPr/>
          <p:nvPr/>
        </p:nvSpPr>
        <p:spPr>
          <a:xfrm>
            <a:off x="731520" y="3977640"/>
            <a:ext cx="8412480" cy="914400"/>
          </a:xfrm>
          <a:prstGeom prst="rect">
            <a:avLst/>
          </a:prstGeom>
          <a:noFill/>
          <a:ln/>
        </p:spPr>
        <p:txBody>
          <a:bodyPr wrap="square" rtlCol="0" anchor="ctr"/>
          <a:lstStyle/>
          <a:p>
            <a:pPr marL="0" indent="0">
              <a:buNone/>
            </a:pPr>
            <a:r>
              <a:rPr lang="en-US" sz="1400" dirty="0">
                <a:solidFill>
                  <a:srgbClr val="C8DFA0"/>
                </a:solidFill>
                <a:latin typeface="Calibri" pitchFamily="34" charset="0"/>
                <a:ea typeface="Calibri" pitchFamily="34" charset="-122"/>
                <a:cs typeface="Calibri" pitchFamily="34" charset="-120"/>
              </a:rPr>
              <a:t>Md. </a:t>
            </a:r>
            <a:r>
              <a:rPr lang="en-US" sz="1400" dirty="0" err="1">
                <a:solidFill>
                  <a:srgbClr val="C8DFA0"/>
                </a:solidFill>
                <a:latin typeface="Calibri" pitchFamily="34" charset="0"/>
                <a:ea typeface="Calibri" pitchFamily="34" charset="-122"/>
                <a:cs typeface="Calibri" pitchFamily="34" charset="-120"/>
              </a:rPr>
              <a:t>Naim</a:t>
            </a:r>
            <a:r>
              <a:rPr lang="en-US" sz="1400" dirty="0">
                <a:solidFill>
                  <a:srgbClr val="C8DFA0"/>
                </a:solidFill>
                <a:latin typeface="Calibri" pitchFamily="34" charset="0"/>
                <a:ea typeface="Calibri" pitchFamily="34" charset="-122"/>
                <a:cs typeface="Calibri" pitchFamily="34" charset="-120"/>
              </a:rPr>
              <a:t> </a:t>
            </a:r>
            <a:r>
              <a:rPr lang="en-US" sz="1400" dirty="0" err="1">
                <a:solidFill>
                  <a:srgbClr val="C8DFA0"/>
                </a:solidFill>
                <a:latin typeface="Calibri" pitchFamily="34" charset="0"/>
                <a:ea typeface="Calibri" pitchFamily="34" charset="-122"/>
                <a:cs typeface="Calibri" pitchFamily="34" charset="-120"/>
              </a:rPr>
              <a:t>Molla</a:t>
            </a:r>
            <a:r>
              <a:rPr lang="en-US" sz="1400" dirty="0">
                <a:solidFill>
                  <a:srgbClr val="C8DFA0"/>
                </a:solidFill>
                <a:latin typeface="Calibri" pitchFamily="34" charset="0"/>
                <a:ea typeface="Calibri" pitchFamily="34" charset="-122"/>
                <a:cs typeface="Calibri" pitchFamily="34" charset="-120"/>
              </a:rPr>
              <a:t>, Md </a:t>
            </a:r>
            <a:r>
              <a:rPr lang="en-US" sz="1400" dirty="0" err="1">
                <a:solidFill>
                  <a:srgbClr val="C8DFA0"/>
                </a:solidFill>
                <a:latin typeface="Calibri" pitchFamily="34" charset="0"/>
                <a:ea typeface="Calibri" pitchFamily="34" charset="-122"/>
                <a:cs typeface="Calibri" pitchFamily="34" charset="-120"/>
              </a:rPr>
              <a:t>Muntasim</a:t>
            </a:r>
            <a:r>
              <a:rPr lang="en-US" sz="1400" dirty="0">
                <a:solidFill>
                  <a:srgbClr val="C8DFA0"/>
                </a:solidFill>
                <a:latin typeface="Calibri" pitchFamily="34" charset="0"/>
                <a:ea typeface="Calibri" pitchFamily="34" charset="-122"/>
                <a:cs typeface="Calibri" pitchFamily="34" charset="-120"/>
              </a:rPr>
              <a:t> </a:t>
            </a:r>
            <a:r>
              <a:rPr lang="en-US" sz="1400" dirty="0" err="1">
                <a:solidFill>
                  <a:srgbClr val="C8DFA0"/>
                </a:solidFill>
                <a:latin typeface="Calibri" pitchFamily="34" charset="0"/>
                <a:ea typeface="Calibri" pitchFamily="34" charset="-122"/>
                <a:cs typeface="Calibri" pitchFamily="34" charset="-120"/>
              </a:rPr>
              <a:t>Munif</a:t>
            </a:r>
            <a:r>
              <a:rPr lang="en-US" sz="1400" dirty="0">
                <a:solidFill>
                  <a:srgbClr val="C8DFA0"/>
                </a:solidFill>
                <a:latin typeface="Calibri" pitchFamily="34" charset="0"/>
                <a:ea typeface="Calibri" pitchFamily="34" charset="-122"/>
                <a:cs typeface="Calibri" pitchFamily="34" charset="-120"/>
              </a:rPr>
              <a:t> Fahim, </a:t>
            </a:r>
            <a:r>
              <a:rPr lang="en-US" sz="1400" dirty="0" err="1">
                <a:solidFill>
                  <a:srgbClr val="C8DFA0"/>
                </a:solidFill>
                <a:latin typeface="Calibri" pitchFamily="34" charset="0"/>
                <a:ea typeface="Calibri" pitchFamily="34" charset="-122"/>
                <a:cs typeface="Calibri" pitchFamily="34" charset="-120"/>
              </a:rPr>
              <a:t>Samiul</a:t>
            </a:r>
            <a:r>
              <a:rPr lang="en-US" sz="1400" dirty="0">
                <a:solidFill>
                  <a:srgbClr val="C8DFA0"/>
                </a:solidFill>
                <a:latin typeface="Calibri" pitchFamily="34" charset="0"/>
                <a:ea typeface="Calibri" pitchFamily="34" charset="-122"/>
                <a:cs typeface="Calibri" pitchFamily="34" charset="-120"/>
              </a:rPr>
              <a:t> Islam, Md. Binyamin, Md. </a:t>
            </a:r>
            <a:r>
              <a:rPr lang="en-US" sz="1400" dirty="0" err="1">
                <a:solidFill>
                  <a:srgbClr val="C8DFA0"/>
                </a:solidFill>
                <a:latin typeface="Calibri" pitchFamily="34" charset="0"/>
                <a:ea typeface="Calibri" pitchFamily="34" charset="-122"/>
                <a:cs typeface="Calibri" pitchFamily="34" charset="-120"/>
              </a:rPr>
              <a:t>Mahfuz</a:t>
            </a:r>
            <a:r>
              <a:rPr lang="en-US" sz="1400" dirty="0">
                <a:solidFill>
                  <a:srgbClr val="C8DFA0"/>
                </a:solidFill>
                <a:latin typeface="Calibri" pitchFamily="34" charset="0"/>
                <a:ea typeface="Calibri" pitchFamily="34" charset="-122"/>
                <a:cs typeface="Calibri" pitchFamily="34" charset="-120"/>
              </a:rPr>
              <a:t> Uddin, Md. A. Salam, Md Jahid Hasan Imran, </a:t>
            </a:r>
            <a:r>
              <a:rPr lang="en-US" sz="1400" dirty="0" err="1">
                <a:solidFill>
                  <a:srgbClr val="C8DFA0"/>
                </a:solidFill>
                <a:latin typeface="Calibri" pitchFamily="34" charset="0"/>
                <a:ea typeface="Calibri" pitchFamily="34" charset="-122"/>
                <a:cs typeface="Calibri" pitchFamily="34" charset="-120"/>
              </a:rPr>
              <a:t>Tonmoy</a:t>
            </a:r>
            <a:r>
              <a:rPr lang="en-US" sz="1400" dirty="0">
                <a:solidFill>
                  <a:srgbClr val="C8DFA0"/>
                </a:solidFill>
                <a:latin typeface="Calibri" pitchFamily="34" charset="0"/>
                <a:ea typeface="Calibri" pitchFamily="34" charset="-122"/>
                <a:cs typeface="Calibri" pitchFamily="34" charset="-120"/>
              </a:rPr>
              <a:t> </a:t>
            </a:r>
            <a:r>
              <a:rPr lang="en-US" sz="1400" dirty="0" err="1">
                <a:solidFill>
                  <a:srgbClr val="C8DFA0"/>
                </a:solidFill>
                <a:latin typeface="Calibri" pitchFamily="34" charset="0"/>
                <a:ea typeface="Calibri" pitchFamily="34" charset="-122"/>
                <a:cs typeface="Calibri" pitchFamily="34" charset="-120"/>
              </a:rPr>
              <a:t>Shil</a:t>
            </a:r>
            <a:r>
              <a:rPr lang="en-US" sz="1400" dirty="0">
                <a:solidFill>
                  <a:srgbClr val="C8DFA0"/>
                </a:solidFill>
                <a:latin typeface="Calibri" pitchFamily="34" charset="0"/>
                <a:ea typeface="Calibri" pitchFamily="34" charset="-122"/>
                <a:cs typeface="Calibri" pitchFamily="34" charset="-120"/>
              </a:rPr>
              <a:t>, </a:t>
            </a:r>
            <a:r>
              <a:rPr lang="en-US" sz="1400" dirty="0" err="1">
                <a:solidFill>
                  <a:srgbClr val="C8DFA0"/>
                </a:solidFill>
                <a:latin typeface="Calibri" pitchFamily="34" charset="0"/>
                <a:ea typeface="Calibri" pitchFamily="34" charset="-122"/>
                <a:cs typeface="Calibri" pitchFamily="34" charset="-120"/>
              </a:rPr>
              <a:t>Nura</a:t>
            </a:r>
            <a:r>
              <a:rPr lang="en-US" sz="1400" dirty="0">
                <a:solidFill>
                  <a:srgbClr val="C8DFA0"/>
                </a:solidFill>
                <a:latin typeface="Calibri" pitchFamily="34" charset="0"/>
                <a:ea typeface="Calibri" pitchFamily="34" charset="-122"/>
                <a:cs typeface="Calibri" pitchFamily="34" charset="-120"/>
              </a:rPr>
              <a:t> </a:t>
            </a:r>
            <a:r>
              <a:rPr lang="en-US" sz="1400" dirty="0" err="1">
                <a:solidFill>
                  <a:srgbClr val="C8DFA0"/>
                </a:solidFill>
                <a:latin typeface="Calibri" pitchFamily="34" charset="0"/>
                <a:ea typeface="Calibri" pitchFamily="34" charset="-122"/>
                <a:cs typeface="Calibri" pitchFamily="34" charset="-120"/>
              </a:rPr>
              <a:t>Rayhan</a:t>
            </a:r>
            <a:r>
              <a:rPr lang="en-US" sz="1400" dirty="0">
                <a:solidFill>
                  <a:srgbClr val="C8DFA0"/>
                </a:solidFill>
                <a:latin typeface="Calibri" pitchFamily="34" charset="0"/>
                <a:ea typeface="Calibri" pitchFamily="34" charset="-122"/>
                <a:cs typeface="Calibri" pitchFamily="34" charset="-120"/>
              </a:rPr>
              <a:t> &amp; Md. </a:t>
            </a:r>
            <a:r>
              <a:rPr lang="en-US" sz="1400" dirty="0" err="1">
                <a:solidFill>
                  <a:srgbClr val="C8DFA0"/>
                </a:solidFill>
                <a:latin typeface="Calibri" pitchFamily="34" charset="0"/>
                <a:ea typeface="Calibri" pitchFamily="34" charset="-122"/>
                <a:cs typeface="Calibri" pitchFamily="34" charset="-120"/>
              </a:rPr>
              <a:t>Rezaul</a:t>
            </a:r>
            <a:r>
              <a:rPr lang="en-US" sz="1400" dirty="0">
                <a:solidFill>
                  <a:srgbClr val="C8DFA0"/>
                </a:solidFill>
                <a:latin typeface="Calibri" pitchFamily="34" charset="0"/>
                <a:ea typeface="Calibri" pitchFamily="34" charset="-122"/>
                <a:cs typeface="Calibri" pitchFamily="34" charset="-120"/>
              </a:rPr>
              <a:t> Karim</a:t>
            </a:r>
          </a:p>
          <a:p>
            <a:pPr marL="0" indent="0">
              <a:buNone/>
            </a:pPr>
            <a:r>
              <a:rPr lang="en-US" sz="1400" dirty="0">
                <a:solidFill>
                  <a:srgbClr val="C8DFA0"/>
                </a:solidFill>
                <a:latin typeface="Calibri" pitchFamily="34" charset="0"/>
                <a:ea typeface="Calibri" pitchFamily="34" charset="-122"/>
                <a:cs typeface="Calibri" pitchFamily="34" charset="-120"/>
              </a:rPr>
              <a:t>Data Science Research Lab, Department of Statistics, University of </a:t>
            </a:r>
            <a:r>
              <a:rPr lang="en-US" sz="1400" dirty="0" err="1">
                <a:solidFill>
                  <a:srgbClr val="C8DFA0"/>
                </a:solidFill>
                <a:latin typeface="Calibri" pitchFamily="34" charset="0"/>
                <a:ea typeface="Calibri" pitchFamily="34" charset="-122"/>
                <a:cs typeface="Calibri" pitchFamily="34" charset="-120"/>
              </a:rPr>
              <a:t>Rajshahi</a:t>
            </a:r>
            <a:r>
              <a:rPr lang="en-US" sz="1400" dirty="0">
                <a:solidFill>
                  <a:srgbClr val="C8DFA0"/>
                </a:solidFill>
                <a:latin typeface="Calibri" pitchFamily="34" charset="0"/>
                <a:ea typeface="Calibri" pitchFamily="34" charset="-122"/>
                <a:cs typeface="Calibri" pitchFamily="34" charset="-120"/>
              </a:rPr>
              <a:t>, Rajshahi-6205, Bangladesh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1"/>
        </a:solidFill>
        <a:effectLst/>
      </p:bgPr>
    </p:bg>
    <p:spTree>
      <p:nvGrpSpPr>
        <p:cNvPr id="1" name=""/>
        <p:cNvGrpSpPr/>
        <p:nvPr/>
      </p:nvGrpSpPr>
      <p:grpSpPr>
        <a:xfrm>
          <a:off x="0" y="0"/>
          <a:ext cx="0" cy="0"/>
          <a:chOff x="0" y="0"/>
          <a:chExt cx="0" cy="0"/>
        </a:xfrm>
      </p:grpSpPr>
      <p:sp>
        <p:nvSpPr>
          <p:cNvPr id="2" name="Shape 0"/>
          <p:cNvSpPr/>
          <p:nvPr/>
        </p:nvSpPr>
        <p:spPr>
          <a:xfrm>
            <a:off x="347472" y="228600"/>
            <a:ext cx="73152" cy="566928"/>
          </a:xfrm>
          <a:prstGeom prst="rect">
            <a:avLst/>
          </a:prstGeom>
          <a:solidFill>
            <a:srgbClr val="7CB87A"/>
          </a:solidFill>
          <a:ln w="12700">
            <a:solidFill>
              <a:srgbClr val="7CB87A"/>
            </a:solidFill>
            <a:prstDash val="solid"/>
          </a:ln>
        </p:spPr>
      </p:sp>
      <p:sp>
        <p:nvSpPr>
          <p:cNvPr id="3" name="Text 1"/>
          <p:cNvSpPr/>
          <p:nvPr/>
        </p:nvSpPr>
        <p:spPr>
          <a:xfrm>
            <a:off x="521208" y="192024"/>
            <a:ext cx="8275320" cy="676656"/>
          </a:xfrm>
          <a:prstGeom prst="rect">
            <a:avLst/>
          </a:prstGeom>
          <a:noFill/>
          <a:ln/>
        </p:spPr>
        <p:txBody>
          <a:bodyPr wrap="square" lIns="0" tIns="0" rIns="0" bIns="0" rtlCol="0" anchor="ctr"/>
          <a:lstStyle/>
          <a:p>
            <a:pPr marL="0" indent="0">
              <a:buNone/>
            </a:pPr>
            <a:r>
              <a:rPr lang="en-US" sz="2700" b="1" dirty="0">
                <a:solidFill>
                  <a:srgbClr val="1B4D2E"/>
                </a:solidFill>
                <a:latin typeface="Cambria" pitchFamily="34" charset="0"/>
                <a:ea typeface="Cambria" pitchFamily="34" charset="-122"/>
                <a:cs typeface="Cambria" pitchFamily="34" charset="-120"/>
              </a:rPr>
              <a:t>Motivation &amp; Problem Statement</a:t>
            </a:r>
            <a:endParaRPr lang="en-US" sz="2700" dirty="0"/>
          </a:p>
        </p:txBody>
      </p:sp>
      <p:sp>
        <p:nvSpPr>
          <p:cNvPr id="4" name="Shape 2"/>
          <p:cNvSpPr/>
          <p:nvPr/>
        </p:nvSpPr>
        <p:spPr>
          <a:xfrm>
            <a:off x="347472" y="969264"/>
            <a:ext cx="8449056" cy="0"/>
          </a:xfrm>
          <a:prstGeom prst="line">
            <a:avLst/>
          </a:prstGeom>
          <a:noFill/>
          <a:ln w="12700">
            <a:solidFill>
              <a:srgbClr val="C2D6B8"/>
            </a:solidFill>
            <a:prstDash val="solid"/>
          </a:ln>
        </p:spPr>
      </p:sp>
      <p:sp>
        <p:nvSpPr>
          <p:cNvPr id="5" name="Text 3"/>
          <p:cNvSpPr/>
          <p:nvPr/>
        </p:nvSpPr>
        <p:spPr>
          <a:xfrm>
            <a:off x="8046720" y="4892040"/>
            <a:ext cx="914400" cy="182880"/>
          </a:xfrm>
          <a:prstGeom prst="rect">
            <a:avLst/>
          </a:prstGeom>
          <a:noFill/>
          <a:ln/>
        </p:spPr>
        <p:txBody>
          <a:bodyPr wrap="square" rtlCol="0" anchor="ctr"/>
          <a:lstStyle/>
          <a:p>
            <a:pPr marL="0" indent="0" algn="r">
              <a:buNone/>
            </a:pPr>
            <a:r>
              <a:rPr lang="en-US" sz="1000" dirty="0">
                <a:solidFill>
                  <a:srgbClr val="607060"/>
                </a:solidFill>
                <a:latin typeface="Calibri" pitchFamily="34" charset="0"/>
                <a:ea typeface="Calibri" pitchFamily="34" charset="-122"/>
                <a:cs typeface="Calibri" pitchFamily="34" charset="-120"/>
              </a:rPr>
              <a:t>2 / 22</a:t>
            </a:r>
            <a:endParaRPr lang="en-US" sz="1000" dirty="0"/>
          </a:p>
        </p:txBody>
      </p:sp>
      <p:sp>
        <p:nvSpPr>
          <p:cNvPr id="6" name="Shape 4"/>
          <p:cNvSpPr/>
          <p:nvPr/>
        </p:nvSpPr>
        <p:spPr>
          <a:xfrm>
            <a:off x="347472" y="1042416"/>
            <a:ext cx="73152" cy="1152144"/>
          </a:xfrm>
          <a:prstGeom prst="rect">
            <a:avLst/>
          </a:prstGeom>
          <a:solidFill>
            <a:srgbClr val="7CB87A"/>
          </a:solidFill>
          <a:ln w="12700">
            <a:solidFill>
              <a:srgbClr val="7CB87A"/>
            </a:solidFill>
            <a:prstDash val="solid"/>
          </a:ln>
        </p:spPr>
      </p:sp>
      <p:sp>
        <p:nvSpPr>
          <p:cNvPr id="7" name="Shape 5"/>
          <p:cNvSpPr/>
          <p:nvPr/>
        </p:nvSpPr>
        <p:spPr>
          <a:xfrm>
            <a:off x="420624" y="1042416"/>
            <a:ext cx="3895344" cy="1152144"/>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8" name="Text 6"/>
          <p:cNvSpPr/>
          <p:nvPr/>
        </p:nvSpPr>
        <p:spPr>
          <a:xfrm>
            <a:off x="566928" y="1133856"/>
            <a:ext cx="3657600" cy="329184"/>
          </a:xfrm>
          <a:prstGeom prst="rect">
            <a:avLst/>
          </a:prstGeom>
          <a:noFill/>
          <a:ln/>
        </p:spPr>
        <p:txBody>
          <a:bodyPr wrap="square" rtlCol="0" anchor="ctr"/>
          <a:lstStyle/>
          <a:p>
            <a:pPr marL="0" indent="0">
              <a:buNone/>
            </a:pPr>
            <a:r>
              <a:rPr lang="en-US" sz="1300" b="1" dirty="0">
                <a:solidFill>
                  <a:srgbClr val="1B4D2E"/>
                </a:solidFill>
                <a:latin typeface="Cambria" pitchFamily="34" charset="0"/>
                <a:ea typeface="Cambria" pitchFamily="34" charset="-122"/>
                <a:cs typeface="Cambria" pitchFamily="34" charset="-120"/>
              </a:rPr>
              <a:t>Manual Inspection is Unreliable</a:t>
            </a:r>
            <a:endParaRPr lang="en-US" sz="1300" dirty="0"/>
          </a:p>
        </p:txBody>
      </p:sp>
      <p:sp>
        <p:nvSpPr>
          <p:cNvPr id="9" name="Text 7"/>
          <p:cNvSpPr/>
          <p:nvPr/>
        </p:nvSpPr>
        <p:spPr>
          <a:xfrm>
            <a:off x="566928" y="1472184"/>
            <a:ext cx="3657600" cy="658368"/>
          </a:xfrm>
          <a:prstGeom prst="rect">
            <a:avLst/>
          </a:prstGeom>
          <a:noFill/>
          <a:ln/>
        </p:spPr>
        <p:txBody>
          <a:bodyPr wrap="square" rtlCol="0" anchor="ctr"/>
          <a:lstStyle/>
          <a:p>
            <a:pPr marL="0" indent="0">
              <a:buNone/>
            </a:pPr>
            <a:r>
              <a:rPr lang="en-US" sz="1200" dirty="0">
                <a:solidFill>
                  <a:srgbClr val="2D3D2A"/>
                </a:solidFill>
                <a:latin typeface="Calibri" pitchFamily="34" charset="0"/>
                <a:ea typeface="Calibri" pitchFamily="34" charset="-122"/>
                <a:cs typeface="Calibri" pitchFamily="34" charset="-120"/>
              </a:rPr>
              <a:t>Traditional grain grading is slow, subjective, and error-prone — not scalable for modern agricultural operations.</a:t>
            </a:r>
            <a:endParaRPr lang="en-US" sz="1200" dirty="0"/>
          </a:p>
        </p:txBody>
      </p:sp>
      <p:sp>
        <p:nvSpPr>
          <p:cNvPr id="10" name="Shape 8"/>
          <p:cNvSpPr/>
          <p:nvPr/>
        </p:nvSpPr>
        <p:spPr>
          <a:xfrm>
            <a:off x="347472" y="2304288"/>
            <a:ext cx="73152" cy="1152144"/>
          </a:xfrm>
          <a:prstGeom prst="rect">
            <a:avLst/>
          </a:prstGeom>
          <a:solidFill>
            <a:srgbClr val="7CB87A"/>
          </a:solidFill>
          <a:ln w="12700">
            <a:solidFill>
              <a:srgbClr val="7CB87A"/>
            </a:solidFill>
            <a:prstDash val="solid"/>
          </a:ln>
        </p:spPr>
      </p:sp>
      <p:sp>
        <p:nvSpPr>
          <p:cNvPr id="11" name="Shape 9"/>
          <p:cNvSpPr/>
          <p:nvPr/>
        </p:nvSpPr>
        <p:spPr>
          <a:xfrm>
            <a:off x="420624" y="2304288"/>
            <a:ext cx="3895344" cy="1152144"/>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12" name="Text 10"/>
          <p:cNvSpPr/>
          <p:nvPr/>
        </p:nvSpPr>
        <p:spPr>
          <a:xfrm>
            <a:off x="566928" y="2395728"/>
            <a:ext cx="3657600" cy="329184"/>
          </a:xfrm>
          <a:prstGeom prst="rect">
            <a:avLst/>
          </a:prstGeom>
          <a:noFill/>
          <a:ln/>
        </p:spPr>
        <p:txBody>
          <a:bodyPr wrap="square" rtlCol="0" anchor="ctr"/>
          <a:lstStyle/>
          <a:p>
            <a:pPr marL="0" indent="0">
              <a:buNone/>
            </a:pPr>
            <a:r>
              <a:rPr lang="en-US" sz="1300" b="1" dirty="0">
                <a:solidFill>
                  <a:srgbClr val="1B4D2E"/>
                </a:solidFill>
                <a:latin typeface="Cambria" pitchFamily="34" charset="0"/>
                <a:ea typeface="Cambria" pitchFamily="34" charset="-122"/>
                <a:cs typeface="Cambria" pitchFamily="34" charset="-120"/>
              </a:rPr>
              <a:t>Single-Model Limitations</a:t>
            </a:r>
            <a:endParaRPr lang="en-US" sz="1300" dirty="0"/>
          </a:p>
        </p:txBody>
      </p:sp>
      <p:sp>
        <p:nvSpPr>
          <p:cNvPr id="13" name="Text 11"/>
          <p:cNvSpPr/>
          <p:nvPr/>
        </p:nvSpPr>
        <p:spPr>
          <a:xfrm>
            <a:off x="566928" y="2734056"/>
            <a:ext cx="3657600" cy="658368"/>
          </a:xfrm>
          <a:prstGeom prst="rect">
            <a:avLst/>
          </a:prstGeom>
          <a:noFill/>
          <a:ln/>
        </p:spPr>
        <p:txBody>
          <a:bodyPr wrap="square" rtlCol="0" anchor="ctr"/>
          <a:lstStyle/>
          <a:p>
            <a:pPr marL="0" indent="0">
              <a:buNone/>
            </a:pPr>
            <a:r>
              <a:rPr lang="en-US" sz="1200" dirty="0">
                <a:solidFill>
                  <a:srgbClr val="2D3D2A"/>
                </a:solidFill>
                <a:latin typeface="Calibri" pitchFamily="34" charset="0"/>
                <a:ea typeface="Calibri" pitchFamily="34" charset="-122"/>
                <a:cs typeface="Calibri" pitchFamily="34" charset="-120"/>
              </a:rPr>
              <a:t>Most existing CNN systems rely on one architecture, which may miss complex grain morphology patterns captured by other model families.</a:t>
            </a:r>
            <a:endParaRPr lang="en-US" sz="1200" dirty="0"/>
          </a:p>
        </p:txBody>
      </p:sp>
      <p:sp>
        <p:nvSpPr>
          <p:cNvPr id="14" name="Shape 12"/>
          <p:cNvSpPr/>
          <p:nvPr/>
        </p:nvSpPr>
        <p:spPr>
          <a:xfrm>
            <a:off x="347472" y="3566160"/>
            <a:ext cx="73152" cy="1152144"/>
          </a:xfrm>
          <a:prstGeom prst="rect">
            <a:avLst/>
          </a:prstGeom>
          <a:solidFill>
            <a:srgbClr val="7CB87A"/>
          </a:solidFill>
          <a:ln w="12700">
            <a:solidFill>
              <a:srgbClr val="7CB87A"/>
            </a:solidFill>
            <a:prstDash val="solid"/>
          </a:ln>
        </p:spPr>
      </p:sp>
      <p:sp>
        <p:nvSpPr>
          <p:cNvPr id="15" name="Shape 13"/>
          <p:cNvSpPr/>
          <p:nvPr/>
        </p:nvSpPr>
        <p:spPr>
          <a:xfrm>
            <a:off x="420624" y="3566160"/>
            <a:ext cx="3895344" cy="1152144"/>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16" name="Text 14"/>
          <p:cNvSpPr/>
          <p:nvPr/>
        </p:nvSpPr>
        <p:spPr>
          <a:xfrm>
            <a:off x="566928" y="3657600"/>
            <a:ext cx="3657600" cy="329184"/>
          </a:xfrm>
          <a:prstGeom prst="rect">
            <a:avLst/>
          </a:prstGeom>
          <a:noFill/>
          <a:ln/>
        </p:spPr>
        <p:txBody>
          <a:bodyPr wrap="square" rtlCol="0" anchor="ctr"/>
          <a:lstStyle/>
          <a:p>
            <a:pPr marL="0" indent="0">
              <a:buNone/>
            </a:pPr>
            <a:r>
              <a:rPr lang="en-US" sz="1300" b="1" dirty="0">
                <a:solidFill>
                  <a:srgbClr val="1B4D2E"/>
                </a:solidFill>
                <a:latin typeface="Cambria" pitchFamily="34" charset="0"/>
                <a:ea typeface="Cambria" pitchFamily="34" charset="-122"/>
                <a:cs typeface="Cambria" pitchFamily="34" charset="-120"/>
              </a:rPr>
              <a:t>Lack of Model Explainability</a:t>
            </a:r>
            <a:endParaRPr lang="en-US" sz="1300" dirty="0"/>
          </a:p>
        </p:txBody>
      </p:sp>
      <p:sp>
        <p:nvSpPr>
          <p:cNvPr id="17" name="Text 15"/>
          <p:cNvSpPr/>
          <p:nvPr/>
        </p:nvSpPr>
        <p:spPr>
          <a:xfrm>
            <a:off x="566928" y="3995928"/>
            <a:ext cx="3657600" cy="658368"/>
          </a:xfrm>
          <a:prstGeom prst="rect">
            <a:avLst/>
          </a:prstGeom>
          <a:noFill/>
          <a:ln/>
        </p:spPr>
        <p:txBody>
          <a:bodyPr wrap="square" rtlCol="0" anchor="ctr"/>
          <a:lstStyle/>
          <a:p>
            <a:pPr marL="0" indent="0">
              <a:buNone/>
            </a:pPr>
            <a:r>
              <a:rPr lang="en-US" sz="1200" dirty="0">
                <a:solidFill>
                  <a:srgbClr val="2D3D2A"/>
                </a:solidFill>
                <a:latin typeface="Calibri" pitchFamily="34" charset="0"/>
                <a:ea typeface="Calibri" pitchFamily="34" charset="-122"/>
                <a:cs typeface="Calibri" pitchFamily="34" charset="-120"/>
              </a:rPr>
              <a:t>Deep learning models are treated as opaque black boxes, limiting trust and adoption in precision agriculture applications.</a:t>
            </a:r>
            <a:endParaRPr lang="en-US" sz="1200" dirty="0"/>
          </a:p>
        </p:txBody>
      </p:sp>
      <p:sp>
        <p:nvSpPr>
          <p:cNvPr id="18" name="Shape 16"/>
          <p:cNvSpPr/>
          <p:nvPr/>
        </p:nvSpPr>
        <p:spPr>
          <a:xfrm>
            <a:off x="4498848" y="1042416"/>
            <a:ext cx="4297680" cy="3675888"/>
          </a:xfrm>
          <a:prstGeom prst="rect">
            <a:avLst/>
          </a:prstGeom>
          <a:solidFill>
            <a:srgbClr val="1B4D2E"/>
          </a:solidFill>
          <a:ln w="12700">
            <a:solidFill>
              <a:srgbClr val="1B4D2E"/>
            </a:solidFill>
            <a:prstDash val="solid"/>
          </a:ln>
          <a:effectLst>
            <a:outerShdw blurRad="63500" dist="25400" dir="8100000" algn="bl" rotWithShape="0">
              <a:srgbClr val="000000">
                <a:alpha val="9000"/>
              </a:srgbClr>
            </a:outerShdw>
          </a:effectLst>
        </p:spPr>
      </p:sp>
      <p:sp>
        <p:nvSpPr>
          <p:cNvPr id="19" name="Text 17"/>
          <p:cNvSpPr/>
          <p:nvPr/>
        </p:nvSpPr>
        <p:spPr>
          <a:xfrm>
            <a:off x="4645152" y="1170432"/>
            <a:ext cx="3931920" cy="384048"/>
          </a:xfrm>
          <a:prstGeom prst="rect">
            <a:avLst/>
          </a:prstGeom>
          <a:noFill/>
          <a:ln/>
        </p:spPr>
        <p:txBody>
          <a:bodyPr wrap="square" rtlCol="0" anchor="ctr"/>
          <a:lstStyle/>
          <a:p>
            <a:pPr marL="0" indent="0">
              <a:buNone/>
            </a:pPr>
            <a:r>
              <a:rPr lang="en-US" sz="1600" b="1" dirty="0">
                <a:solidFill>
                  <a:srgbClr val="7CB87A"/>
                </a:solidFill>
                <a:latin typeface="Cambria" pitchFamily="34" charset="0"/>
                <a:ea typeface="Cambria" pitchFamily="34" charset="-122"/>
                <a:cs typeface="Cambria" pitchFamily="34" charset="-120"/>
              </a:rPr>
              <a:t>Research Gap</a:t>
            </a:r>
            <a:endParaRPr lang="en-US" sz="1600" dirty="0"/>
          </a:p>
        </p:txBody>
      </p:sp>
      <p:sp>
        <p:nvSpPr>
          <p:cNvPr id="20" name="Text 18"/>
          <p:cNvSpPr/>
          <p:nvPr/>
        </p:nvSpPr>
        <p:spPr>
          <a:xfrm>
            <a:off x="4645152" y="1554480"/>
            <a:ext cx="3931920" cy="1005840"/>
          </a:xfrm>
          <a:prstGeom prst="rect">
            <a:avLst/>
          </a:prstGeom>
          <a:noFill/>
          <a:ln/>
        </p:spPr>
        <p:txBody>
          <a:bodyPr wrap="square" rtlCol="0" anchor="ctr"/>
          <a:lstStyle/>
          <a:p>
            <a:pPr marL="0" indent="0">
              <a:buNone/>
            </a:pPr>
            <a:r>
              <a:rPr lang="en-US" sz="1250" dirty="0">
                <a:solidFill>
                  <a:srgbClr val="C8DFA0"/>
                </a:solidFill>
                <a:latin typeface="Calibri" pitchFamily="34" charset="0"/>
                <a:ea typeface="Calibri" pitchFamily="34" charset="-122"/>
                <a:cs typeface="Calibri" pitchFamily="34" charset="-120"/>
              </a:rPr>
              <a:t>Most rice classification systems rely on a single deep learning model without interpretability, limiting reliability and adoption in precision agriculture.</a:t>
            </a:r>
            <a:endParaRPr lang="en-US" sz="1250" dirty="0"/>
          </a:p>
        </p:txBody>
      </p:sp>
      <p:sp>
        <p:nvSpPr>
          <p:cNvPr id="21" name="Shape 19"/>
          <p:cNvSpPr/>
          <p:nvPr/>
        </p:nvSpPr>
        <p:spPr>
          <a:xfrm>
            <a:off x="4645152" y="2743200"/>
            <a:ext cx="3749040" cy="0"/>
          </a:xfrm>
          <a:prstGeom prst="line">
            <a:avLst/>
          </a:prstGeom>
          <a:noFill/>
          <a:ln w="12700">
            <a:solidFill>
              <a:srgbClr val="4A8C3F"/>
            </a:solidFill>
            <a:prstDash val="solid"/>
          </a:ln>
        </p:spPr>
      </p:sp>
      <p:sp>
        <p:nvSpPr>
          <p:cNvPr id="22" name="Text 20"/>
          <p:cNvSpPr/>
          <p:nvPr/>
        </p:nvSpPr>
        <p:spPr>
          <a:xfrm>
            <a:off x="4645152" y="2852928"/>
            <a:ext cx="3931920" cy="384048"/>
          </a:xfrm>
          <a:prstGeom prst="rect">
            <a:avLst/>
          </a:prstGeom>
          <a:noFill/>
          <a:ln/>
        </p:spPr>
        <p:txBody>
          <a:bodyPr wrap="square" rtlCol="0" anchor="ctr"/>
          <a:lstStyle/>
          <a:p>
            <a:pPr marL="0" indent="0">
              <a:buNone/>
            </a:pPr>
            <a:r>
              <a:rPr lang="en-US" sz="1600" b="1" dirty="0">
                <a:solidFill>
                  <a:srgbClr val="7CB87A"/>
                </a:solidFill>
                <a:latin typeface="Cambria" pitchFamily="34" charset="0"/>
                <a:ea typeface="Cambria" pitchFamily="34" charset="-122"/>
                <a:cs typeface="Cambria" pitchFamily="34" charset="-120"/>
              </a:rPr>
              <a:t>Research Question</a:t>
            </a:r>
            <a:endParaRPr lang="en-US" sz="1600" dirty="0"/>
          </a:p>
        </p:txBody>
      </p:sp>
      <p:sp>
        <p:nvSpPr>
          <p:cNvPr id="23" name="Text 21"/>
          <p:cNvSpPr/>
          <p:nvPr/>
        </p:nvSpPr>
        <p:spPr>
          <a:xfrm>
            <a:off x="4645152" y="3255264"/>
            <a:ext cx="3931920" cy="1325880"/>
          </a:xfrm>
          <a:prstGeom prst="rect">
            <a:avLst/>
          </a:prstGeom>
          <a:noFill/>
          <a:ln/>
        </p:spPr>
        <p:txBody>
          <a:bodyPr wrap="square" rtlCol="0" anchor="ctr"/>
          <a:lstStyle/>
          <a:p>
            <a:pPr marL="0" indent="0">
              <a:buNone/>
            </a:pPr>
            <a:r>
              <a:rPr lang="en-US" sz="1250" dirty="0">
                <a:solidFill>
                  <a:srgbClr val="C8DFA0"/>
                </a:solidFill>
                <a:latin typeface="Calibri" pitchFamily="34" charset="0"/>
                <a:ea typeface="Calibri" pitchFamily="34" charset="-122"/>
                <a:cs typeface="Calibri" pitchFamily="34" charset="-120"/>
              </a:rPr>
              <a:t>Can an ensemble of diverse pre-trained CNNs outperform any single model — and can Grad-CAM and LIME provide trustworthy, interpretable explanations for classification decisions?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1"/>
        </a:solidFill>
        <a:effectLst/>
      </p:bgPr>
    </p:bg>
    <p:spTree>
      <p:nvGrpSpPr>
        <p:cNvPr id="1" name=""/>
        <p:cNvGrpSpPr/>
        <p:nvPr/>
      </p:nvGrpSpPr>
      <p:grpSpPr>
        <a:xfrm>
          <a:off x="0" y="0"/>
          <a:ext cx="0" cy="0"/>
          <a:chOff x="0" y="0"/>
          <a:chExt cx="0" cy="0"/>
        </a:xfrm>
      </p:grpSpPr>
      <p:sp>
        <p:nvSpPr>
          <p:cNvPr id="2" name="Shape 0"/>
          <p:cNvSpPr/>
          <p:nvPr/>
        </p:nvSpPr>
        <p:spPr>
          <a:xfrm>
            <a:off x="347472" y="228600"/>
            <a:ext cx="73152" cy="566928"/>
          </a:xfrm>
          <a:prstGeom prst="rect">
            <a:avLst/>
          </a:prstGeom>
          <a:solidFill>
            <a:srgbClr val="7CB87A"/>
          </a:solidFill>
          <a:ln w="12700">
            <a:solidFill>
              <a:srgbClr val="7CB87A"/>
            </a:solidFill>
            <a:prstDash val="solid"/>
          </a:ln>
        </p:spPr>
      </p:sp>
      <p:sp>
        <p:nvSpPr>
          <p:cNvPr id="3" name="Text 1"/>
          <p:cNvSpPr/>
          <p:nvPr/>
        </p:nvSpPr>
        <p:spPr>
          <a:xfrm>
            <a:off x="521208" y="192024"/>
            <a:ext cx="8275320" cy="676656"/>
          </a:xfrm>
          <a:prstGeom prst="rect">
            <a:avLst/>
          </a:prstGeom>
          <a:noFill/>
          <a:ln/>
        </p:spPr>
        <p:txBody>
          <a:bodyPr wrap="square" lIns="0" tIns="0" rIns="0" bIns="0" rtlCol="0" anchor="ctr"/>
          <a:lstStyle/>
          <a:p>
            <a:pPr marL="0" indent="0">
              <a:buNone/>
            </a:pPr>
            <a:r>
              <a:rPr lang="en-US" sz="2700" b="1" dirty="0">
                <a:solidFill>
                  <a:srgbClr val="1B4D2E"/>
                </a:solidFill>
                <a:latin typeface="Cambria" pitchFamily="34" charset="0"/>
                <a:ea typeface="Cambria" pitchFamily="34" charset="-122"/>
                <a:cs typeface="Cambria" pitchFamily="34" charset="-120"/>
              </a:rPr>
              <a:t>Objectives</a:t>
            </a:r>
            <a:endParaRPr lang="en-US" sz="2700" dirty="0"/>
          </a:p>
        </p:txBody>
      </p:sp>
      <p:sp>
        <p:nvSpPr>
          <p:cNvPr id="4" name="Shape 2"/>
          <p:cNvSpPr/>
          <p:nvPr/>
        </p:nvSpPr>
        <p:spPr>
          <a:xfrm>
            <a:off x="347472" y="969264"/>
            <a:ext cx="8449056" cy="0"/>
          </a:xfrm>
          <a:prstGeom prst="line">
            <a:avLst/>
          </a:prstGeom>
          <a:noFill/>
          <a:ln w="12700">
            <a:solidFill>
              <a:srgbClr val="C2D6B8"/>
            </a:solidFill>
            <a:prstDash val="solid"/>
          </a:ln>
        </p:spPr>
      </p:sp>
      <p:sp>
        <p:nvSpPr>
          <p:cNvPr id="5" name="Text 3"/>
          <p:cNvSpPr/>
          <p:nvPr/>
        </p:nvSpPr>
        <p:spPr>
          <a:xfrm>
            <a:off x="8046720" y="4892040"/>
            <a:ext cx="914400" cy="182880"/>
          </a:xfrm>
          <a:prstGeom prst="rect">
            <a:avLst/>
          </a:prstGeom>
          <a:noFill/>
          <a:ln/>
        </p:spPr>
        <p:txBody>
          <a:bodyPr wrap="square" rtlCol="0" anchor="ctr"/>
          <a:lstStyle/>
          <a:p>
            <a:pPr marL="0" indent="0" algn="r">
              <a:buNone/>
            </a:pPr>
            <a:r>
              <a:rPr lang="en-US" sz="1000" dirty="0">
                <a:solidFill>
                  <a:srgbClr val="607060"/>
                </a:solidFill>
                <a:latin typeface="Calibri" pitchFamily="34" charset="0"/>
                <a:ea typeface="Calibri" pitchFamily="34" charset="-122"/>
                <a:cs typeface="Calibri" pitchFamily="34" charset="-120"/>
              </a:rPr>
              <a:t>3 / 22</a:t>
            </a:r>
            <a:endParaRPr lang="en-US" sz="1000" dirty="0"/>
          </a:p>
        </p:txBody>
      </p:sp>
      <p:sp>
        <p:nvSpPr>
          <p:cNvPr id="6" name="Shape 4"/>
          <p:cNvSpPr/>
          <p:nvPr/>
        </p:nvSpPr>
        <p:spPr>
          <a:xfrm>
            <a:off x="347472" y="1042416"/>
            <a:ext cx="4160520" cy="1719072"/>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7" name="Shape 5"/>
          <p:cNvSpPr/>
          <p:nvPr/>
        </p:nvSpPr>
        <p:spPr>
          <a:xfrm>
            <a:off x="347472" y="1042416"/>
            <a:ext cx="548640" cy="1719072"/>
          </a:xfrm>
          <a:prstGeom prst="rect">
            <a:avLst/>
          </a:prstGeom>
          <a:solidFill>
            <a:srgbClr val="1B4D2E"/>
          </a:solidFill>
          <a:ln w="12700">
            <a:solidFill>
              <a:srgbClr val="1B4D2E"/>
            </a:solidFill>
            <a:prstDash val="solid"/>
          </a:ln>
        </p:spPr>
      </p:sp>
      <p:sp>
        <p:nvSpPr>
          <p:cNvPr id="8" name="Text 6"/>
          <p:cNvSpPr/>
          <p:nvPr/>
        </p:nvSpPr>
        <p:spPr>
          <a:xfrm>
            <a:off x="347472" y="1042416"/>
            <a:ext cx="548640" cy="1719072"/>
          </a:xfrm>
          <a:prstGeom prst="rect">
            <a:avLst/>
          </a:prstGeom>
          <a:noFill/>
          <a:ln/>
        </p:spPr>
        <p:txBody>
          <a:bodyPr wrap="square" rtlCol="0" anchor="ctr"/>
          <a:lstStyle/>
          <a:p>
            <a:pPr marL="0" indent="0" algn="ctr">
              <a:buNone/>
            </a:pPr>
            <a:r>
              <a:rPr lang="en-US" sz="2000" b="1" dirty="0">
                <a:solidFill>
                  <a:srgbClr val="7CB87A"/>
                </a:solidFill>
                <a:latin typeface="Cambria" pitchFamily="34" charset="0"/>
                <a:ea typeface="Cambria" pitchFamily="34" charset="-122"/>
                <a:cs typeface="Cambria" pitchFamily="34" charset="-120"/>
              </a:rPr>
              <a:t>01</a:t>
            </a:r>
            <a:endParaRPr lang="en-US" sz="2000" dirty="0"/>
          </a:p>
        </p:txBody>
      </p:sp>
      <p:sp>
        <p:nvSpPr>
          <p:cNvPr id="9" name="Text 7"/>
          <p:cNvSpPr/>
          <p:nvPr/>
        </p:nvSpPr>
        <p:spPr>
          <a:xfrm>
            <a:off x="987552" y="1170432"/>
            <a:ext cx="3429000" cy="347472"/>
          </a:xfrm>
          <a:prstGeom prst="rect">
            <a:avLst/>
          </a:prstGeom>
          <a:noFill/>
          <a:ln/>
        </p:spPr>
        <p:txBody>
          <a:bodyPr wrap="square" rtlCol="0" anchor="ctr"/>
          <a:lstStyle/>
          <a:p>
            <a:pPr marL="0" indent="0">
              <a:buNone/>
            </a:pPr>
            <a:r>
              <a:rPr lang="en-US" sz="1300" b="1" dirty="0">
                <a:solidFill>
                  <a:srgbClr val="1B4D2E"/>
                </a:solidFill>
                <a:latin typeface="Cambria" pitchFamily="34" charset="0"/>
                <a:ea typeface="Cambria" pitchFamily="34" charset="-122"/>
                <a:cs typeface="Cambria" pitchFamily="34" charset="-120"/>
              </a:rPr>
              <a:t>Grain Segmentation Pipeline</a:t>
            </a:r>
            <a:endParaRPr lang="en-US" sz="1300" dirty="0"/>
          </a:p>
        </p:txBody>
      </p:sp>
      <p:sp>
        <p:nvSpPr>
          <p:cNvPr id="10" name="Text 8"/>
          <p:cNvSpPr/>
          <p:nvPr/>
        </p:nvSpPr>
        <p:spPr>
          <a:xfrm>
            <a:off x="987552" y="1536192"/>
            <a:ext cx="3429000" cy="1170432"/>
          </a:xfrm>
          <a:prstGeom prst="rect">
            <a:avLst/>
          </a:prstGeom>
          <a:noFill/>
          <a:ln/>
        </p:spPr>
        <p:txBody>
          <a:bodyPr wrap="square" rtlCol="0" anchor="ctr"/>
          <a:lstStyle/>
          <a:p>
            <a:pPr marL="0" indent="0">
              <a:buNone/>
            </a:pPr>
            <a:r>
              <a:rPr lang="en-US" sz="1200" dirty="0">
                <a:solidFill>
                  <a:srgbClr val="2D3D2A"/>
                </a:solidFill>
                <a:latin typeface="Calibri" pitchFamily="34" charset="0"/>
                <a:ea typeface="Calibri" pitchFamily="34" charset="-122"/>
                <a:cs typeface="Calibri" pitchFamily="34" charset="-120"/>
              </a:rPr>
              <a:t>Design an Otsu-based preprocessing pipeline to isolate rice grains from the background, ensuring models focus exclusively on grain morphology.</a:t>
            </a:r>
            <a:endParaRPr lang="en-US" sz="1200" dirty="0"/>
          </a:p>
        </p:txBody>
      </p:sp>
      <p:sp>
        <p:nvSpPr>
          <p:cNvPr id="11" name="Shape 9"/>
          <p:cNvSpPr/>
          <p:nvPr/>
        </p:nvSpPr>
        <p:spPr>
          <a:xfrm>
            <a:off x="4681728" y="1042416"/>
            <a:ext cx="4160520" cy="1719072"/>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12" name="Shape 10"/>
          <p:cNvSpPr/>
          <p:nvPr/>
        </p:nvSpPr>
        <p:spPr>
          <a:xfrm>
            <a:off x="4681728" y="1042416"/>
            <a:ext cx="548640" cy="1719072"/>
          </a:xfrm>
          <a:prstGeom prst="rect">
            <a:avLst/>
          </a:prstGeom>
          <a:solidFill>
            <a:srgbClr val="1B4D2E"/>
          </a:solidFill>
          <a:ln w="12700">
            <a:solidFill>
              <a:srgbClr val="1B4D2E"/>
            </a:solidFill>
            <a:prstDash val="solid"/>
          </a:ln>
        </p:spPr>
      </p:sp>
      <p:sp>
        <p:nvSpPr>
          <p:cNvPr id="13" name="Text 11"/>
          <p:cNvSpPr/>
          <p:nvPr/>
        </p:nvSpPr>
        <p:spPr>
          <a:xfrm>
            <a:off x="4681728" y="1042416"/>
            <a:ext cx="548640" cy="1719072"/>
          </a:xfrm>
          <a:prstGeom prst="rect">
            <a:avLst/>
          </a:prstGeom>
          <a:noFill/>
          <a:ln/>
        </p:spPr>
        <p:txBody>
          <a:bodyPr wrap="square" rtlCol="0" anchor="ctr"/>
          <a:lstStyle/>
          <a:p>
            <a:pPr marL="0" indent="0" algn="ctr">
              <a:buNone/>
            </a:pPr>
            <a:r>
              <a:rPr lang="en-US" sz="2000" b="1" dirty="0">
                <a:solidFill>
                  <a:srgbClr val="7CB87A"/>
                </a:solidFill>
                <a:latin typeface="Cambria" pitchFamily="34" charset="0"/>
                <a:ea typeface="Cambria" pitchFamily="34" charset="-122"/>
                <a:cs typeface="Cambria" pitchFamily="34" charset="-120"/>
              </a:rPr>
              <a:t>02</a:t>
            </a:r>
            <a:endParaRPr lang="en-US" sz="2000" dirty="0"/>
          </a:p>
        </p:txBody>
      </p:sp>
      <p:sp>
        <p:nvSpPr>
          <p:cNvPr id="14" name="Text 12"/>
          <p:cNvSpPr/>
          <p:nvPr/>
        </p:nvSpPr>
        <p:spPr>
          <a:xfrm>
            <a:off x="5321808" y="1170432"/>
            <a:ext cx="3429000" cy="347472"/>
          </a:xfrm>
          <a:prstGeom prst="rect">
            <a:avLst/>
          </a:prstGeom>
          <a:noFill/>
          <a:ln/>
        </p:spPr>
        <p:txBody>
          <a:bodyPr wrap="square" rtlCol="0" anchor="ctr"/>
          <a:lstStyle/>
          <a:p>
            <a:pPr marL="0" indent="0">
              <a:buNone/>
            </a:pPr>
            <a:r>
              <a:rPr lang="en-US" sz="1300" b="1" dirty="0">
                <a:solidFill>
                  <a:srgbClr val="1B4D2E"/>
                </a:solidFill>
                <a:latin typeface="Cambria" pitchFamily="34" charset="0"/>
                <a:ea typeface="Cambria" pitchFamily="34" charset="-122"/>
                <a:cs typeface="Cambria" pitchFamily="34" charset="-120"/>
              </a:rPr>
              <a:t>Multi-Architecture Transfer Learning</a:t>
            </a:r>
            <a:endParaRPr lang="en-US" sz="1300" dirty="0"/>
          </a:p>
        </p:txBody>
      </p:sp>
      <p:sp>
        <p:nvSpPr>
          <p:cNvPr id="15" name="Text 13"/>
          <p:cNvSpPr/>
          <p:nvPr/>
        </p:nvSpPr>
        <p:spPr>
          <a:xfrm>
            <a:off x="5321808" y="1536192"/>
            <a:ext cx="3429000" cy="1170432"/>
          </a:xfrm>
          <a:prstGeom prst="rect">
            <a:avLst/>
          </a:prstGeom>
          <a:noFill/>
          <a:ln/>
        </p:spPr>
        <p:txBody>
          <a:bodyPr wrap="square" rtlCol="0" anchor="ctr"/>
          <a:lstStyle/>
          <a:p>
            <a:pPr marL="0" indent="0">
              <a:buNone/>
            </a:pPr>
            <a:r>
              <a:rPr lang="en-US" sz="1200" dirty="0">
                <a:solidFill>
                  <a:srgbClr val="2D3D2A"/>
                </a:solidFill>
                <a:latin typeface="Calibri" pitchFamily="34" charset="0"/>
                <a:ea typeface="Calibri" pitchFamily="34" charset="-122"/>
                <a:cs typeface="Calibri" pitchFamily="34" charset="-120"/>
              </a:rPr>
              <a:t>Fine-tune six pre-trained CNNs — EfficientNetB0, MobileNetV2, VGG16, InceptionV3, Xception, and InceptionResNetV2 — using ImageNet weights.</a:t>
            </a:r>
            <a:endParaRPr lang="en-US" sz="1200" dirty="0"/>
          </a:p>
        </p:txBody>
      </p:sp>
      <p:sp>
        <p:nvSpPr>
          <p:cNvPr id="16" name="Shape 14"/>
          <p:cNvSpPr/>
          <p:nvPr/>
        </p:nvSpPr>
        <p:spPr>
          <a:xfrm>
            <a:off x="347472" y="2944368"/>
            <a:ext cx="4160520" cy="1719072"/>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17" name="Shape 15"/>
          <p:cNvSpPr/>
          <p:nvPr/>
        </p:nvSpPr>
        <p:spPr>
          <a:xfrm>
            <a:off x="347472" y="2944368"/>
            <a:ext cx="548640" cy="1719072"/>
          </a:xfrm>
          <a:prstGeom prst="rect">
            <a:avLst/>
          </a:prstGeom>
          <a:solidFill>
            <a:srgbClr val="1B4D2E"/>
          </a:solidFill>
          <a:ln w="12700">
            <a:solidFill>
              <a:srgbClr val="1B4D2E"/>
            </a:solidFill>
            <a:prstDash val="solid"/>
          </a:ln>
        </p:spPr>
      </p:sp>
      <p:sp>
        <p:nvSpPr>
          <p:cNvPr id="18" name="Text 16"/>
          <p:cNvSpPr/>
          <p:nvPr/>
        </p:nvSpPr>
        <p:spPr>
          <a:xfrm>
            <a:off x="347472" y="2944368"/>
            <a:ext cx="548640" cy="1719072"/>
          </a:xfrm>
          <a:prstGeom prst="rect">
            <a:avLst/>
          </a:prstGeom>
          <a:noFill/>
          <a:ln/>
        </p:spPr>
        <p:txBody>
          <a:bodyPr wrap="square" rtlCol="0" anchor="ctr"/>
          <a:lstStyle/>
          <a:p>
            <a:pPr marL="0" indent="0" algn="ctr">
              <a:buNone/>
            </a:pPr>
            <a:r>
              <a:rPr lang="en-US" sz="2000" b="1" dirty="0">
                <a:solidFill>
                  <a:srgbClr val="7CB87A"/>
                </a:solidFill>
                <a:latin typeface="Cambria" pitchFamily="34" charset="0"/>
                <a:ea typeface="Cambria" pitchFamily="34" charset="-122"/>
                <a:cs typeface="Cambria" pitchFamily="34" charset="-120"/>
              </a:rPr>
              <a:t>03</a:t>
            </a:r>
            <a:endParaRPr lang="en-US" sz="2000" dirty="0"/>
          </a:p>
        </p:txBody>
      </p:sp>
      <p:sp>
        <p:nvSpPr>
          <p:cNvPr id="19" name="Text 17"/>
          <p:cNvSpPr/>
          <p:nvPr/>
        </p:nvSpPr>
        <p:spPr>
          <a:xfrm>
            <a:off x="987552" y="3072384"/>
            <a:ext cx="3429000" cy="347472"/>
          </a:xfrm>
          <a:prstGeom prst="rect">
            <a:avLst/>
          </a:prstGeom>
          <a:noFill/>
          <a:ln/>
        </p:spPr>
        <p:txBody>
          <a:bodyPr wrap="square" rtlCol="0" anchor="ctr"/>
          <a:lstStyle/>
          <a:p>
            <a:pPr marL="0" indent="0">
              <a:buNone/>
            </a:pPr>
            <a:r>
              <a:rPr lang="en-US" sz="1300" b="1" dirty="0">
                <a:solidFill>
                  <a:srgbClr val="1B4D2E"/>
                </a:solidFill>
                <a:latin typeface="Cambria" pitchFamily="34" charset="0"/>
                <a:ea typeface="Cambria" pitchFamily="34" charset="-122"/>
                <a:cs typeface="Cambria" pitchFamily="34" charset="-120"/>
              </a:rPr>
              <a:t>Ensemble Voting Strategies</a:t>
            </a:r>
            <a:endParaRPr lang="en-US" sz="1300" dirty="0"/>
          </a:p>
        </p:txBody>
      </p:sp>
      <p:sp>
        <p:nvSpPr>
          <p:cNvPr id="20" name="Text 18"/>
          <p:cNvSpPr/>
          <p:nvPr/>
        </p:nvSpPr>
        <p:spPr>
          <a:xfrm>
            <a:off x="987552" y="3438144"/>
            <a:ext cx="3429000" cy="1170432"/>
          </a:xfrm>
          <a:prstGeom prst="rect">
            <a:avLst/>
          </a:prstGeom>
          <a:noFill/>
          <a:ln/>
        </p:spPr>
        <p:txBody>
          <a:bodyPr wrap="square" rtlCol="0" anchor="ctr"/>
          <a:lstStyle/>
          <a:p>
            <a:pPr marL="0" indent="0">
              <a:buNone/>
            </a:pPr>
            <a:r>
              <a:rPr lang="en-US" sz="1200" dirty="0">
                <a:solidFill>
                  <a:srgbClr val="2D3D2A"/>
                </a:solidFill>
                <a:latin typeface="Calibri" pitchFamily="34" charset="0"/>
                <a:ea typeface="Calibri" pitchFamily="34" charset="-122"/>
                <a:cs typeface="Calibri" pitchFamily="34" charset="-120"/>
              </a:rPr>
              <a:t>Build and compare hard voting, soft voting, and validation-accuracy-weighted voting ensembles to improve robustness over individual models.</a:t>
            </a:r>
            <a:endParaRPr lang="en-US" sz="1200" dirty="0"/>
          </a:p>
        </p:txBody>
      </p:sp>
      <p:sp>
        <p:nvSpPr>
          <p:cNvPr id="21" name="Shape 19"/>
          <p:cNvSpPr/>
          <p:nvPr/>
        </p:nvSpPr>
        <p:spPr>
          <a:xfrm>
            <a:off x="4681728" y="2944368"/>
            <a:ext cx="4160520" cy="1719072"/>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22" name="Shape 20"/>
          <p:cNvSpPr/>
          <p:nvPr/>
        </p:nvSpPr>
        <p:spPr>
          <a:xfrm>
            <a:off x="4681728" y="2944368"/>
            <a:ext cx="548640" cy="1719072"/>
          </a:xfrm>
          <a:prstGeom prst="rect">
            <a:avLst/>
          </a:prstGeom>
          <a:solidFill>
            <a:srgbClr val="1B4D2E"/>
          </a:solidFill>
          <a:ln w="12700">
            <a:solidFill>
              <a:srgbClr val="1B4D2E"/>
            </a:solidFill>
            <a:prstDash val="solid"/>
          </a:ln>
        </p:spPr>
      </p:sp>
      <p:sp>
        <p:nvSpPr>
          <p:cNvPr id="23" name="Text 21"/>
          <p:cNvSpPr/>
          <p:nvPr/>
        </p:nvSpPr>
        <p:spPr>
          <a:xfrm>
            <a:off x="4681728" y="2944368"/>
            <a:ext cx="548640" cy="1719072"/>
          </a:xfrm>
          <a:prstGeom prst="rect">
            <a:avLst/>
          </a:prstGeom>
          <a:noFill/>
          <a:ln/>
        </p:spPr>
        <p:txBody>
          <a:bodyPr wrap="square" rtlCol="0" anchor="ctr"/>
          <a:lstStyle/>
          <a:p>
            <a:pPr marL="0" indent="0" algn="ctr">
              <a:buNone/>
            </a:pPr>
            <a:r>
              <a:rPr lang="en-US" sz="2000" b="1" dirty="0">
                <a:solidFill>
                  <a:srgbClr val="7CB87A"/>
                </a:solidFill>
                <a:latin typeface="Cambria" pitchFamily="34" charset="0"/>
                <a:ea typeface="Cambria" pitchFamily="34" charset="-122"/>
                <a:cs typeface="Cambria" pitchFamily="34" charset="-120"/>
              </a:rPr>
              <a:t>04</a:t>
            </a:r>
            <a:endParaRPr lang="en-US" sz="2000" dirty="0"/>
          </a:p>
        </p:txBody>
      </p:sp>
      <p:sp>
        <p:nvSpPr>
          <p:cNvPr id="24" name="Text 22"/>
          <p:cNvSpPr/>
          <p:nvPr/>
        </p:nvSpPr>
        <p:spPr>
          <a:xfrm>
            <a:off x="5321808" y="3072384"/>
            <a:ext cx="3429000" cy="347472"/>
          </a:xfrm>
          <a:prstGeom prst="rect">
            <a:avLst/>
          </a:prstGeom>
          <a:noFill/>
          <a:ln/>
        </p:spPr>
        <p:txBody>
          <a:bodyPr wrap="square" rtlCol="0" anchor="ctr"/>
          <a:lstStyle/>
          <a:p>
            <a:pPr marL="0" indent="0">
              <a:buNone/>
            </a:pPr>
            <a:r>
              <a:rPr lang="en-US" sz="1300" b="1" dirty="0">
                <a:solidFill>
                  <a:srgbClr val="1B4D2E"/>
                </a:solidFill>
                <a:latin typeface="Cambria" pitchFamily="34" charset="0"/>
                <a:ea typeface="Cambria" pitchFamily="34" charset="-122"/>
                <a:cs typeface="Cambria" pitchFamily="34" charset="-120"/>
              </a:rPr>
              <a:t>Explainability: Grad-CAM &amp; LIME</a:t>
            </a:r>
            <a:endParaRPr lang="en-US" sz="1300" dirty="0"/>
          </a:p>
        </p:txBody>
      </p:sp>
      <p:sp>
        <p:nvSpPr>
          <p:cNvPr id="25" name="Text 23"/>
          <p:cNvSpPr/>
          <p:nvPr/>
        </p:nvSpPr>
        <p:spPr>
          <a:xfrm>
            <a:off x="5321808" y="3438144"/>
            <a:ext cx="3429000" cy="1170432"/>
          </a:xfrm>
          <a:prstGeom prst="rect">
            <a:avLst/>
          </a:prstGeom>
          <a:noFill/>
          <a:ln/>
        </p:spPr>
        <p:txBody>
          <a:bodyPr wrap="square" rtlCol="0" anchor="ctr"/>
          <a:lstStyle/>
          <a:p>
            <a:pPr marL="0" indent="0">
              <a:buNone/>
            </a:pPr>
            <a:r>
              <a:rPr lang="en-US" sz="1200" dirty="0">
                <a:solidFill>
                  <a:srgbClr val="2D3D2A"/>
                </a:solidFill>
                <a:latin typeface="Calibri" pitchFamily="34" charset="0"/>
                <a:ea typeface="Calibri" pitchFamily="34" charset="-122"/>
                <a:cs typeface="Calibri" pitchFamily="34" charset="-120"/>
              </a:rPr>
              <a:t>Apply Grad-CAM and LIME to each trained model to interpret which visual regions drive classification decisions and validate preprocessing effectiveness.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1"/>
        </a:solidFill>
        <a:effectLst/>
      </p:bgPr>
    </p:bg>
    <p:spTree>
      <p:nvGrpSpPr>
        <p:cNvPr id="1" name=""/>
        <p:cNvGrpSpPr/>
        <p:nvPr/>
      </p:nvGrpSpPr>
      <p:grpSpPr>
        <a:xfrm>
          <a:off x="0" y="0"/>
          <a:ext cx="0" cy="0"/>
          <a:chOff x="0" y="0"/>
          <a:chExt cx="0" cy="0"/>
        </a:xfrm>
      </p:grpSpPr>
      <p:sp>
        <p:nvSpPr>
          <p:cNvPr id="2" name="Shape 0"/>
          <p:cNvSpPr/>
          <p:nvPr/>
        </p:nvSpPr>
        <p:spPr>
          <a:xfrm>
            <a:off x="347472" y="228600"/>
            <a:ext cx="73152" cy="566928"/>
          </a:xfrm>
          <a:prstGeom prst="rect">
            <a:avLst/>
          </a:prstGeom>
          <a:solidFill>
            <a:srgbClr val="7CB87A"/>
          </a:solidFill>
          <a:ln w="12700">
            <a:solidFill>
              <a:srgbClr val="7CB87A"/>
            </a:solidFill>
            <a:prstDash val="solid"/>
          </a:ln>
        </p:spPr>
      </p:sp>
      <p:sp>
        <p:nvSpPr>
          <p:cNvPr id="3" name="Text 1"/>
          <p:cNvSpPr/>
          <p:nvPr/>
        </p:nvSpPr>
        <p:spPr>
          <a:xfrm>
            <a:off x="521208" y="192024"/>
            <a:ext cx="8275320" cy="676656"/>
          </a:xfrm>
          <a:prstGeom prst="rect">
            <a:avLst/>
          </a:prstGeom>
          <a:noFill/>
          <a:ln/>
        </p:spPr>
        <p:txBody>
          <a:bodyPr wrap="square" lIns="0" tIns="0" rIns="0" bIns="0" rtlCol="0" anchor="ctr"/>
          <a:lstStyle/>
          <a:p>
            <a:pPr marL="0" indent="0">
              <a:buNone/>
            </a:pPr>
            <a:r>
              <a:rPr lang="en-US" sz="2700" b="1" dirty="0">
                <a:solidFill>
                  <a:srgbClr val="1B4D2E"/>
                </a:solidFill>
                <a:latin typeface="Cambria" pitchFamily="34" charset="0"/>
                <a:ea typeface="Cambria" pitchFamily="34" charset="-122"/>
                <a:cs typeface="Cambria" pitchFamily="34" charset="-120"/>
              </a:rPr>
              <a:t>Dataset Description</a:t>
            </a:r>
            <a:endParaRPr lang="en-US" sz="2700" dirty="0"/>
          </a:p>
        </p:txBody>
      </p:sp>
      <p:sp>
        <p:nvSpPr>
          <p:cNvPr id="4" name="Shape 2"/>
          <p:cNvSpPr/>
          <p:nvPr/>
        </p:nvSpPr>
        <p:spPr>
          <a:xfrm>
            <a:off x="347472" y="969264"/>
            <a:ext cx="8449056" cy="0"/>
          </a:xfrm>
          <a:prstGeom prst="line">
            <a:avLst/>
          </a:prstGeom>
          <a:noFill/>
          <a:ln w="12700">
            <a:solidFill>
              <a:srgbClr val="C2D6B8"/>
            </a:solidFill>
            <a:prstDash val="solid"/>
          </a:ln>
        </p:spPr>
      </p:sp>
      <p:sp>
        <p:nvSpPr>
          <p:cNvPr id="5" name="Text 3"/>
          <p:cNvSpPr/>
          <p:nvPr/>
        </p:nvSpPr>
        <p:spPr>
          <a:xfrm>
            <a:off x="8046720" y="4892040"/>
            <a:ext cx="914400" cy="182880"/>
          </a:xfrm>
          <a:prstGeom prst="rect">
            <a:avLst/>
          </a:prstGeom>
          <a:noFill/>
          <a:ln/>
        </p:spPr>
        <p:txBody>
          <a:bodyPr wrap="square" rtlCol="0" anchor="ctr"/>
          <a:lstStyle/>
          <a:p>
            <a:pPr marL="0" indent="0" algn="r">
              <a:buNone/>
            </a:pPr>
            <a:r>
              <a:rPr lang="en-US" sz="1000" dirty="0">
                <a:solidFill>
                  <a:srgbClr val="607060"/>
                </a:solidFill>
                <a:latin typeface="Calibri" pitchFamily="34" charset="0"/>
                <a:ea typeface="Calibri" pitchFamily="34" charset="-122"/>
                <a:cs typeface="Calibri" pitchFamily="34" charset="-120"/>
              </a:rPr>
              <a:t>4 / 22</a:t>
            </a:r>
            <a:endParaRPr lang="en-US" sz="1000" dirty="0"/>
          </a:p>
        </p:txBody>
      </p:sp>
      <p:sp>
        <p:nvSpPr>
          <p:cNvPr id="6" name="Shape 4"/>
          <p:cNvSpPr/>
          <p:nvPr/>
        </p:nvSpPr>
        <p:spPr>
          <a:xfrm>
            <a:off x="347472" y="1042416"/>
            <a:ext cx="73152" cy="822960"/>
          </a:xfrm>
          <a:prstGeom prst="rect">
            <a:avLst/>
          </a:prstGeom>
          <a:solidFill>
            <a:srgbClr val="7CB87A"/>
          </a:solidFill>
          <a:ln w="12700">
            <a:solidFill>
              <a:srgbClr val="7CB87A"/>
            </a:solidFill>
            <a:prstDash val="solid"/>
          </a:ln>
        </p:spPr>
      </p:sp>
      <p:sp>
        <p:nvSpPr>
          <p:cNvPr id="7" name="Shape 5"/>
          <p:cNvSpPr/>
          <p:nvPr/>
        </p:nvSpPr>
        <p:spPr>
          <a:xfrm>
            <a:off x="420624" y="1042416"/>
            <a:ext cx="3493008" cy="822960"/>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8" name="Text 6"/>
          <p:cNvSpPr/>
          <p:nvPr/>
        </p:nvSpPr>
        <p:spPr>
          <a:xfrm>
            <a:off x="530352" y="1078992"/>
            <a:ext cx="1645920" cy="749808"/>
          </a:xfrm>
          <a:prstGeom prst="rect">
            <a:avLst/>
          </a:prstGeom>
          <a:noFill/>
          <a:ln/>
        </p:spPr>
        <p:txBody>
          <a:bodyPr wrap="square" rtlCol="0" anchor="ctr"/>
          <a:lstStyle/>
          <a:p>
            <a:pPr marL="0" indent="0">
              <a:buNone/>
            </a:pPr>
            <a:r>
              <a:rPr lang="en-US" sz="2400" b="1" dirty="0">
                <a:solidFill>
                  <a:srgbClr val="1B4D2E"/>
                </a:solidFill>
                <a:latin typeface="Cambria" pitchFamily="34" charset="0"/>
                <a:ea typeface="Cambria" pitchFamily="34" charset="-122"/>
              </a:rPr>
              <a:t>10</a:t>
            </a:r>
            <a:endParaRPr lang="en-US" sz="2400" dirty="0"/>
          </a:p>
        </p:txBody>
      </p:sp>
      <p:sp>
        <p:nvSpPr>
          <p:cNvPr id="9" name="Text 7"/>
          <p:cNvSpPr/>
          <p:nvPr/>
        </p:nvSpPr>
        <p:spPr>
          <a:xfrm>
            <a:off x="2286000" y="1225296"/>
            <a:ext cx="1554480" cy="457200"/>
          </a:xfrm>
          <a:prstGeom prst="rect">
            <a:avLst/>
          </a:prstGeom>
          <a:noFill/>
          <a:ln/>
        </p:spPr>
        <p:txBody>
          <a:bodyPr wrap="square" rtlCol="0" anchor="ctr"/>
          <a:lstStyle/>
          <a:p>
            <a:pPr marL="0" indent="0">
              <a:buNone/>
            </a:pPr>
            <a:r>
              <a:rPr lang="en-US" sz="1250" dirty="0">
                <a:solidFill>
                  <a:srgbClr val="2D3D2A"/>
                </a:solidFill>
                <a:latin typeface="Calibri" pitchFamily="34" charset="0"/>
                <a:ea typeface="Calibri" pitchFamily="34" charset="-122"/>
                <a:cs typeface="Calibri" pitchFamily="34" charset="-120"/>
              </a:rPr>
              <a:t>Rice Variety Classes</a:t>
            </a:r>
            <a:endParaRPr lang="en-US" sz="1250" dirty="0"/>
          </a:p>
        </p:txBody>
      </p:sp>
      <p:sp>
        <p:nvSpPr>
          <p:cNvPr id="10" name="Shape 8"/>
          <p:cNvSpPr/>
          <p:nvPr/>
        </p:nvSpPr>
        <p:spPr>
          <a:xfrm>
            <a:off x="347472" y="1975104"/>
            <a:ext cx="73152" cy="822960"/>
          </a:xfrm>
          <a:prstGeom prst="rect">
            <a:avLst/>
          </a:prstGeom>
          <a:solidFill>
            <a:srgbClr val="7CB87A"/>
          </a:solidFill>
          <a:ln w="12700">
            <a:solidFill>
              <a:srgbClr val="7CB87A"/>
            </a:solidFill>
            <a:prstDash val="solid"/>
          </a:ln>
        </p:spPr>
      </p:sp>
      <p:sp>
        <p:nvSpPr>
          <p:cNvPr id="11" name="Shape 9"/>
          <p:cNvSpPr/>
          <p:nvPr/>
        </p:nvSpPr>
        <p:spPr>
          <a:xfrm>
            <a:off x="420624" y="1975104"/>
            <a:ext cx="3493008" cy="822960"/>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12" name="Text 10"/>
          <p:cNvSpPr/>
          <p:nvPr/>
        </p:nvSpPr>
        <p:spPr>
          <a:xfrm>
            <a:off x="530352" y="2011680"/>
            <a:ext cx="1645920" cy="749808"/>
          </a:xfrm>
          <a:prstGeom prst="rect">
            <a:avLst/>
          </a:prstGeom>
          <a:noFill/>
          <a:ln/>
        </p:spPr>
        <p:txBody>
          <a:bodyPr wrap="square" rtlCol="0" anchor="ctr"/>
          <a:lstStyle/>
          <a:p>
            <a:pPr marL="0" indent="0">
              <a:buNone/>
            </a:pPr>
            <a:r>
              <a:rPr lang="en-US" sz="2400" b="1" dirty="0">
                <a:solidFill>
                  <a:srgbClr val="1B4D2E"/>
                </a:solidFill>
                <a:latin typeface="Cambria" pitchFamily="34" charset="0"/>
                <a:ea typeface="Cambria" pitchFamily="34" charset="-122"/>
                <a:cs typeface="Cambria" pitchFamily="34" charset="-120"/>
              </a:rPr>
              <a:t>75,000+</a:t>
            </a:r>
            <a:endParaRPr lang="en-US" sz="2400" dirty="0"/>
          </a:p>
        </p:txBody>
      </p:sp>
      <p:sp>
        <p:nvSpPr>
          <p:cNvPr id="13" name="Text 11"/>
          <p:cNvSpPr/>
          <p:nvPr/>
        </p:nvSpPr>
        <p:spPr>
          <a:xfrm>
            <a:off x="2286000" y="2157984"/>
            <a:ext cx="1554480" cy="457200"/>
          </a:xfrm>
          <a:prstGeom prst="rect">
            <a:avLst/>
          </a:prstGeom>
          <a:noFill/>
          <a:ln/>
        </p:spPr>
        <p:txBody>
          <a:bodyPr wrap="square" rtlCol="0" anchor="ctr"/>
          <a:lstStyle/>
          <a:p>
            <a:pPr marL="0" indent="0">
              <a:buNone/>
            </a:pPr>
            <a:r>
              <a:rPr lang="en-US" sz="1250" dirty="0">
                <a:solidFill>
                  <a:srgbClr val="2D3D2A"/>
                </a:solidFill>
                <a:latin typeface="Calibri" pitchFamily="34" charset="0"/>
                <a:ea typeface="Calibri" pitchFamily="34" charset="-122"/>
                <a:cs typeface="Calibri" pitchFamily="34" charset="-120"/>
              </a:rPr>
              <a:t>Total Images (Augmented)</a:t>
            </a:r>
            <a:endParaRPr lang="en-US" sz="1250" dirty="0"/>
          </a:p>
        </p:txBody>
      </p:sp>
      <p:sp>
        <p:nvSpPr>
          <p:cNvPr id="14" name="Shape 12"/>
          <p:cNvSpPr/>
          <p:nvPr/>
        </p:nvSpPr>
        <p:spPr>
          <a:xfrm>
            <a:off x="347472" y="2907792"/>
            <a:ext cx="73152" cy="822960"/>
          </a:xfrm>
          <a:prstGeom prst="rect">
            <a:avLst/>
          </a:prstGeom>
          <a:solidFill>
            <a:srgbClr val="7CB87A"/>
          </a:solidFill>
          <a:ln w="12700">
            <a:solidFill>
              <a:srgbClr val="7CB87A"/>
            </a:solidFill>
            <a:prstDash val="solid"/>
          </a:ln>
        </p:spPr>
      </p:sp>
      <p:sp>
        <p:nvSpPr>
          <p:cNvPr id="15" name="Shape 13"/>
          <p:cNvSpPr/>
          <p:nvPr/>
        </p:nvSpPr>
        <p:spPr>
          <a:xfrm>
            <a:off x="420624" y="2907792"/>
            <a:ext cx="3493008" cy="822960"/>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16" name="Text 14"/>
          <p:cNvSpPr/>
          <p:nvPr/>
        </p:nvSpPr>
        <p:spPr>
          <a:xfrm>
            <a:off x="530352" y="2944368"/>
            <a:ext cx="1645920" cy="749808"/>
          </a:xfrm>
          <a:prstGeom prst="rect">
            <a:avLst/>
          </a:prstGeom>
          <a:noFill/>
          <a:ln/>
        </p:spPr>
        <p:txBody>
          <a:bodyPr wrap="square" rtlCol="0" anchor="ctr"/>
          <a:lstStyle/>
          <a:p>
            <a:pPr marL="0" indent="0">
              <a:buNone/>
            </a:pPr>
            <a:r>
              <a:rPr lang="en-US" sz="2400" b="1" dirty="0">
                <a:solidFill>
                  <a:srgbClr val="1B4D2E"/>
                </a:solidFill>
                <a:latin typeface="Cambria" pitchFamily="34" charset="0"/>
                <a:ea typeface="Cambria" pitchFamily="34" charset="-122"/>
                <a:cs typeface="Cambria" pitchFamily="34" charset="-120"/>
              </a:rPr>
              <a:t>70 / 15 / 15</a:t>
            </a:r>
            <a:endParaRPr lang="en-US" sz="2400" dirty="0"/>
          </a:p>
        </p:txBody>
      </p:sp>
      <p:sp>
        <p:nvSpPr>
          <p:cNvPr id="17" name="Text 15"/>
          <p:cNvSpPr/>
          <p:nvPr/>
        </p:nvSpPr>
        <p:spPr>
          <a:xfrm>
            <a:off x="2286000" y="3090672"/>
            <a:ext cx="1554480" cy="457200"/>
          </a:xfrm>
          <a:prstGeom prst="rect">
            <a:avLst/>
          </a:prstGeom>
          <a:noFill/>
          <a:ln/>
        </p:spPr>
        <p:txBody>
          <a:bodyPr wrap="square" rtlCol="0" anchor="ctr"/>
          <a:lstStyle/>
          <a:p>
            <a:pPr marL="0" indent="0">
              <a:buNone/>
            </a:pPr>
            <a:r>
              <a:rPr lang="en-US" sz="1250" dirty="0">
                <a:solidFill>
                  <a:srgbClr val="2D3D2A"/>
                </a:solidFill>
                <a:latin typeface="Calibri" pitchFamily="34" charset="0"/>
                <a:ea typeface="Calibri" pitchFamily="34" charset="-122"/>
                <a:cs typeface="Calibri" pitchFamily="34" charset="-120"/>
              </a:rPr>
              <a:t>Train / Val / Test Split</a:t>
            </a:r>
            <a:endParaRPr lang="en-US" sz="1250" dirty="0"/>
          </a:p>
        </p:txBody>
      </p:sp>
      <p:sp>
        <p:nvSpPr>
          <p:cNvPr id="18" name="Shape 16"/>
          <p:cNvSpPr/>
          <p:nvPr/>
        </p:nvSpPr>
        <p:spPr>
          <a:xfrm>
            <a:off x="347472" y="3840480"/>
            <a:ext cx="73152" cy="822960"/>
          </a:xfrm>
          <a:prstGeom prst="rect">
            <a:avLst/>
          </a:prstGeom>
          <a:solidFill>
            <a:srgbClr val="7CB87A"/>
          </a:solidFill>
          <a:ln w="12700">
            <a:solidFill>
              <a:srgbClr val="7CB87A"/>
            </a:solidFill>
            <a:prstDash val="solid"/>
          </a:ln>
        </p:spPr>
      </p:sp>
      <p:sp>
        <p:nvSpPr>
          <p:cNvPr id="19" name="Shape 17"/>
          <p:cNvSpPr/>
          <p:nvPr/>
        </p:nvSpPr>
        <p:spPr>
          <a:xfrm>
            <a:off x="420624" y="3840480"/>
            <a:ext cx="3493008" cy="822960"/>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20" name="Text 18"/>
          <p:cNvSpPr/>
          <p:nvPr/>
        </p:nvSpPr>
        <p:spPr>
          <a:xfrm>
            <a:off x="530352" y="3877056"/>
            <a:ext cx="1645920" cy="749808"/>
          </a:xfrm>
          <a:prstGeom prst="rect">
            <a:avLst/>
          </a:prstGeom>
          <a:noFill/>
          <a:ln/>
        </p:spPr>
        <p:txBody>
          <a:bodyPr wrap="square" rtlCol="0" anchor="ctr"/>
          <a:lstStyle/>
          <a:p>
            <a:pPr marL="0" indent="0">
              <a:buNone/>
            </a:pPr>
            <a:r>
              <a:rPr lang="en-US" sz="2400" b="1" dirty="0">
                <a:solidFill>
                  <a:srgbClr val="1B4D2E"/>
                </a:solidFill>
                <a:latin typeface="Cambria" pitchFamily="34" charset="0"/>
                <a:ea typeface="Cambria" pitchFamily="34" charset="-122"/>
                <a:cs typeface="Cambria" pitchFamily="34" charset="-120"/>
              </a:rPr>
              <a:t>Stratified</a:t>
            </a:r>
            <a:endParaRPr lang="en-US" sz="2400" dirty="0"/>
          </a:p>
        </p:txBody>
      </p:sp>
      <p:sp>
        <p:nvSpPr>
          <p:cNvPr id="21" name="Text 19"/>
          <p:cNvSpPr/>
          <p:nvPr/>
        </p:nvSpPr>
        <p:spPr>
          <a:xfrm>
            <a:off x="2286000" y="4023360"/>
            <a:ext cx="1554480" cy="457200"/>
          </a:xfrm>
          <a:prstGeom prst="rect">
            <a:avLst/>
          </a:prstGeom>
          <a:noFill/>
          <a:ln/>
        </p:spPr>
        <p:txBody>
          <a:bodyPr wrap="square" rtlCol="0" anchor="ctr"/>
          <a:lstStyle/>
          <a:p>
            <a:pPr marL="0" indent="0">
              <a:buNone/>
            </a:pPr>
            <a:r>
              <a:rPr lang="en-US" sz="1250" dirty="0">
                <a:solidFill>
                  <a:srgbClr val="2D3D2A"/>
                </a:solidFill>
                <a:latin typeface="Calibri" pitchFamily="34" charset="0"/>
                <a:ea typeface="Calibri" pitchFamily="34" charset="-122"/>
                <a:cs typeface="Calibri" pitchFamily="34" charset="-120"/>
              </a:rPr>
              <a:t>Sampling Strategy</a:t>
            </a:r>
            <a:endParaRPr lang="en-US" sz="1250" dirty="0"/>
          </a:p>
        </p:txBody>
      </p:sp>
      <p:graphicFrame>
        <p:nvGraphicFramePr>
          <p:cNvPr id="22" name="Table 0"/>
          <p:cNvGraphicFramePr>
            <a:graphicFrameLocks noGrp="1"/>
          </p:cNvGraphicFramePr>
          <p:nvPr>
            <p:extLst>
              <p:ext uri="{D42A27DB-BD31-4B8C-83A1-F6EECF244321}">
                <p14:modId xmlns:p14="http://schemas.microsoft.com/office/powerpoint/2010/main" val="2669928687"/>
              </p:ext>
            </p:extLst>
          </p:nvPr>
        </p:nvGraphicFramePr>
        <p:xfrm>
          <a:off x="4072738" y="1453896"/>
          <a:ext cx="2364638" cy="2172614"/>
        </p:xfrm>
        <a:graphic>
          <a:graphicData uri="http://schemas.openxmlformats.org/drawingml/2006/table">
            <a:tbl>
              <a:tblPr/>
              <a:tblGrid>
                <a:gridCol w="1186891">
                  <a:extLst>
                    <a:ext uri="{9D8B030D-6E8A-4147-A177-3AD203B41FA5}">
                      <a16:colId xmlns:a16="http://schemas.microsoft.com/office/drawing/2014/main" val="20000"/>
                    </a:ext>
                  </a:extLst>
                </a:gridCol>
                <a:gridCol w="1177747">
                  <a:extLst>
                    <a:ext uri="{9D8B030D-6E8A-4147-A177-3AD203B41FA5}">
                      <a16:colId xmlns:a16="http://schemas.microsoft.com/office/drawing/2014/main" val="20001"/>
                    </a:ext>
                  </a:extLst>
                </a:gridCol>
              </a:tblGrid>
              <a:tr h="354787">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Class / Variety</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2C5F2D"/>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Index</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314554">
                <a:tc>
                  <a:txBody>
                    <a:bodyPr/>
                    <a:lstStyle/>
                    <a:p>
                      <a:pPr marL="0" indent="0" algn="l">
                        <a:buNone/>
                      </a:pPr>
                      <a:r>
                        <a:rPr lang="en-US" sz="1250" dirty="0" err="1">
                          <a:solidFill>
                            <a:srgbClr val="2D3D2A"/>
                          </a:solidFill>
                          <a:latin typeface="Calibri" pitchFamily="34" charset="0"/>
                          <a:ea typeface="Calibri" pitchFamily="34" charset="-122"/>
                          <a:cs typeface="Calibri" pitchFamily="34" charset="-120"/>
                        </a:rPr>
                        <a:t>Aush</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D3D2A"/>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5021">
                <a:tc>
                  <a:txBody>
                    <a:bodyPr/>
                    <a:lstStyle/>
                    <a:p>
                      <a:pPr marL="0" indent="0" algn="l">
                        <a:buNone/>
                      </a:pPr>
                      <a:r>
                        <a:rPr lang="en-US" sz="1250" dirty="0">
                          <a:solidFill>
                            <a:srgbClr val="2D3D2A"/>
                          </a:solidFill>
                          <a:latin typeface="Calibri" pitchFamily="34" charset="0"/>
                          <a:ea typeface="Calibri" pitchFamily="34" charset="-122"/>
                          <a:cs typeface="Calibri" pitchFamily="34" charset="-120"/>
                        </a:rPr>
                        <a:t>BR-28</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D3D2A"/>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7977">
                <a:tc>
                  <a:txBody>
                    <a:bodyPr/>
                    <a:lstStyle/>
                    <a:p>
                      <a:pPr marL="0" indent="0" algn="l">
                        <a:buNone/>
                      </a:pPr>
                      <a:r>
                        <a:rPr lang="en-US" sz="1250" dirty="0">
                          <a:solidFill>
                            <a:srgbClr val="2D3D2A"/>
                          </a:solidFill>
                          <a:latin typeface="Calibri" pitchFamily="34" charset="0"/>
                          <a:ea typeface="Calibri" pitchFamily="34" charset="-122"/>
                          <a:cs typeface="Calibri" pitchFamily="34" charset="-120"/>
                        </a:rPr>
                        <a:t>BR-29</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D3D2A"/>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2536">
                <a:tc>
                  <a:txBody>
                    <a:bodyPr/>
                    <a:lstStyle/>
                    <a:p>
                      <a:pPr marL="0" indent="0" algn="l">
                        <a:buNone/>
                      </a:pPr>
                      <a:r>
                        <a:rPr lang="en-US" sz="1250" dirty="0" err="1">
                          <a:solidFill>
                            <a:srgbClr val="2D3D2A"/>
                          </a:solidFill>
                          <a:latin typeface="Calibri" pitchFamily="34" charset="0"/>
                          <a:ea typeface="Calibri" pitchFamily="34" charset="-122"/>
                          <a:cs typeface="Calibri" pitchFamily="34" charset="-120"/>
                        </a:rPr>
                        <a:t>Beroi</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D3D2A"/>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marL="0" indent="0" algn="l">
                        <a:buNone/>
                      </a:pPr>
                      <a:r>
                        <a:rPr lang="en-US" sz="1250" dirty="0" err="1">
                          <a:solidFill>
                            <a:srgbClr val="2D3D2A"/>
                          </a:solidFill>
                          <a:latin typeface="Calibri" pitchFamily="34" charset="0"/>
                          <a:ea typeface="Calibri" pitchFamily="34" charset="-122"/>
                          <a:cs typeface="Calibri" pitchFamily="34" charset="-120"/>
                        </a:rPr>
                        <a:t>Chinigura</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D3D2A"/>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28" name="Table 27">
            <a:extLst>
              <a:ext uri="{FF2B5EF4-FFF2-40B4-BE49-F238E27FC236}">
                <a16:creationId xmlns:a16="http://schemas.microsoft.com/office/drawing/2014/main" id="{C6E8B9F4-CC8F-412D-A3A2-D939BE52774A}"/>
              </a:ext>
            </a:extLst>
          </p:cNvPr>
          <p:cNvGraphicFramePr>
            <a:graphicFrameLocks noGrp="1"/>
          </p:cNvGraphicFramePr>
          <p:nvPr>
            <p:extLst>
              <p:ext uri="{D42A27DB-BD31-4B8C-83A1-F6EECF244321}">
                <p14:modId xmlns:p14="http://schemas.microsoft.com/office/powerpoint/2010/main" val="3740955499"/>
              </p:ext>
            </p:extLst>
          </p:nvPr>
        </p:nvGraphicFramePr>
        <p:xfrm>
          <a:off x="6596482" y="1453896"/>
          <a:ext cx="2364638" cy="2172614"/>
        </p:xfrm>
        <a:graphic>
          <a:graphicData uri="http://schemas.openxmlformats.org/drawingml/2006/table">
            <a:tbl>
              <a:tblPr/>
              <a:tblGrid>
                <a:gridCol w="1186891">
                  <a:extLst>
                    <a:ext uri="{9D8B030D-6E8A-4147-A177-3AD203B41FA5}">
                      <a16:colId xmlns:a16="http://schemas.microsoft.com/office/drawing/2014/main" val="405677313"/>
                    </a:ext>
                  </a:extLst>
                </a:gridCol>
                <a:gridCol w="1177747">
                  <a:extLst>
                    <a:ext uri="{9D8B030D-6E8A-4147-A177-3AD203B41FA5}">
                      <a16:colId xmlns:a16="http://schemas.microsoft.com/office/drawing/2014/main" val="1272757651"/>
                    </a:ext>
                  </a:extLst>
                </a:gridCol>
              </a:tblGrid>
              <a:tr h="354787">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Class / Variety</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2C5F2D"/>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Index</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2C5F2D"/>
                    </a:solidFill>
                  </a:tcPr>
                </a:tc>
                <a:extLst>
                  <a:ext uri="{0D108BD9-81ED-4DB2-BD59-A6C34878D82A}">
                    <a16:rowId xmlns:a16="http://schemas.microsoft.com/office/drawing/2014/main" val="1075249352"/>
                  </a:ext>
                </a:extLst>
              </a:tr>
              <a:tr h="314554">
                <a:tc>
                  <a:txBody>
                    <a:bodyPr/>
                    <a:lstStyle/>
                    <a:p>
                      <a:pPr marL="0" indent="0" algn="l">
                        <a:buNone/>
                      </a:pPr>
                      <a:r>
                        <a:rPr lang="en-US" sz="1250" dirty="0">
                          <a:solidFill>
                            <a:srgbClr val="2D3D2A"/>
                          </a:solidFill>
                          <a:latin typeface="Calibri" pitchFamily="34" charset="0"/>
                          <a:ea typeface="Calibri" pitchFamily="34" charset="-122"/>
                          <a:cs typeface="Calibri" pitchFamily="34" charset="-120"/>
                        </a:rPr>
                        <a:t>Ghee </a:t>
                      </a:r>
                      <a:r>
                        <a:rPr lang="en-US" sz="1250" dirty="0" err="1">
                          <a:solidFill>
                            <a:srgbClr val="2D3D2A"/>
                          </a:solidFill>
                          <a:latin typeface="Calibri" pitchFamily="34" charset="0"/>
                          <a:ea typeface="Calibri" pitchFamily="34" charset="-122"/>
                          <a:cs typeface="Calibri" pitchFamily="34" charset="-120"/>
                        </a:rPr>
                        <a:t>Bhog</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D3D2A"/>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234959894"/>
                  </a:ext>
                </a:extLst>
              </a:tr>
              <a:tr h="395021">
                <a:tc>
                  <a:txBody>
                    <a:bodyPr/>
                    <a:lstStyle/>
                    <a:p>
                      <a:pPr marL="0" indent="0" algn="l">
                        <a:buNone/>
                      </a:pPr>
                      <a:r>
                        <a:rPr lang="en-US" sz="1250" dirty="0" err="1">
                          <a:solidFill>
                            <a:srgbClr val="2D3D2A"/>
                          </a:solidFill>
                          <a:latin typeface="Calibri" pitchFamily="34" charset="0"/>
                          <a:ea typeface="Calibri" pitchFamily="34" charset="-122"/>
                          <a:cs typeface="Calibri" pitchFamily="34" charset="-120"/>
                        </a:rPr>
                        <a:t>Katari</a:t>
                      </a:r>
                      <a:r>
                        <a:rPr lang="en-US" sz="1250" dirty="0">
                          <a:solidFill>
                            <a:srgbClr val="2D3D2A"/>
                          </a:solidFill>
                          <a:latin typeface="Calibri" pitchFamily="34" charset="0"/>
                          <a:ea typeface="Calibri" pitchFamily="34" charset="-122"/>
                          <a:cs typeface="Calibri" pitchFamily="34" charset="-120"/>
                        </a:rPr>
                        <a:t> </a:t>
                      </a:r>
                      <a:r>
                        <a:rPr lang="en-US" sz="1250" dirty="0" err="1">
                          <a:solidFill>
                            <a:srgbClr val="2D3D2A"/>
                          </a:solidFill>
                          <a:latin typeface="Calibri" pitchFamily="34" charset="0"/>
                          <a:ea typeface="Calibri" pitchFamily="34" charset="-122"/>
                          <a:cs typeface="Calibri" pitchFamily="34" charset="-120"/>
                        </a:rPr>
                        <a:t>Najir</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D3D2A"/>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2366011573"/>
                  </a:ext>
                </a:extLst>
              </a:tr>
              <a:tr h="277977">
                <a:tc>
                  <a:txBody>
                    <a:bodyPr/>
                    <a:lstStyle/>
                    <a:p>
                      <a:pPr marL="0" indent="0" algn="l">
                        <a:buNone/>
                      </a:pPr>
                      <a:r>
                        <a:rPr lang="en-US" sz="1250" dirty="0" err="1">
                          <a:solidFill>
                            <a:srgbClr val="2D3D2A"/>
                          </a:solidFill>
                          <a:latin typeface="Calibri" pitchFamily="34" charset="0"/>
                          <a:ea typeface="Calibri" pitchFamily="34" charset="-122"/>
                          <a:cs typeface="Calibri" pitchFamily="34" charset="-120"/>
                        </a:rPr>
                        <a:t>Katari</a:t>
                      </a:r>
                      <a:r>
                        <a:rPr lang="en-US" sz="1250" dirty="0">
                          <a:solidFill>
                            <a:srgbClr val="2D3D2A"/>
                          </a:solidFill>
                          <a:latin typeface="Calibri" pitchFamily="34" charset="0"/>
                          <a:ea typeface="Calibri" pitchFamily="34" charset="-122"/>
                          <a:cs typeface="Calibri" pitchFamily="34" charset="-120"/>
                        </a:rPr>
                        <a:t> </a:t>
                      </a:r>
                      <a:r>
                        <a:rPr lang="en-US" sz="1250" dirty="0" err="1">
                          <a:solidFill>
                            <a:srgbClr val="2D3D2A"/>
                          </a:solidFill>
                          <a:latin typeface="Calibri" pitchFamily="34" charset="0"/>
                          <a:ea typeface="Calibri" pitchFamily="34" charset="-122"/>
                          <a:cs typeface="Calibri" pitchFamily="34" charset="-120"/>
                        </a:rPr>
                        <a:t>Siddho</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D3D2A"/>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2328991274"/>
                  </a:ext>
                </a:extLst>
              </a:tr>
              <a:tr h="332536">
                <a:tc>
                  <a:txBody>
                    <a:bodyPr/>
                    <a:lstStyle/>
                    <a:p>
                      <a:pPr marL="0" indent="0" algn="l">
                        <a:buNone/>
                      </a:pPr>
                      <a:r>
                        <a:rPr lang="en-US" sz="1250" dirty="0" err="1">
                          <a:solidFill>
                            <a:srgbClr val="2D3D2A"/>
                          </a:solidFill>
                          <a:latin typeface="Calibri" pitchFamily="34" charset="0"/>
                          <a:ea typeface="Calibri" pitchFamily="34" charset="-122"/>
                          <a:cs typeface="Calibri" pitchFamily="34" charset="-120"/>
                        </a:rPr>
                        <a:t>Miniket</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D3D2A"/>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2206875009"/>
                  </a:ext>
                </a:extLst>
              </a:tr>
              <a:tr h="493776">
                <a:tc>
                  <a:txBody>
                    <a:bodyPr/>
                    <a:lstStyle/>
                    <a:p>
                      <a:pPr marL="0" indent="0" algn="l">
                        <a:buNone/>
                      </a:pPr>
                      <a:r>
                        <a:rPr lang="en-US" sz="1250" dirty="0">
                          <a:solidFill>
                            <a:srgbClr val="2D3D2A"/>
                          </a:solidFill>
                          <a:latin typeface="Calibri" pitchFamily="34" charset="0"/>
                          <a:ea typeface="Calibri" pitchFamily="34" charset="-122"/>
                          <a:cs typeface="Calibri" pitchFamily="34" charset="-120"/>
                        </a:rPr>
                        <a:t>Swarna</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D3D2A"/>
                          </a:solidFill>
                          <a:latin typeface="Calibri" pitchFamily="34" charset="0"/>
                          <a:ea typeface="Calibri" pitchFamily="34" charset="-122"/>
                          <a:cs typeface="Calibri" pitchFamily="34" charset="-120"/>
                        </a:rPr>
                        <a:t>9</a:t>
                      </a:r>
                      <a:endParaRPr lang="en-US" sz="125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393195655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1"/>
        </a:solidFill>
        <a:effectLst/>
      </p:bgPr>
    </p:bg>
    <p:spTree>
      <p:nvGrpSpPr>
        <p:cNvPr id="1" name=""/>
        <p:cNvGrpSpPr/>
        <p:nvPr/>
      </p:nvGrpSpPr>
      <p:grpSpPr>
        <a:xfrm>
          <a:off x="0" y="0"/>
          <a:ext cx="0" cy="0"/>
          <a:chOff x="0" y="0"/>
          <a:chExt cx="0" cy="0"/>
        </a:xfrm>
      </p:grpSpPr>
      <p:sp>
        <p:nvSpPr>
          <p:cNvPr id="2" name="Shape 0"/>
          <p:cNvSpPr/>
          <p:nvPr/>
        </p:nvSpPr>
        <p:spPr>
          <a:xfrm>
            <a:off x="347472" y="228600"/>
            <a:ext cx="73152" cy="566928"/>
          </a:xfrm>
          <a:prstGeom prst="rect">
            <a:avLst/>
          </a:prstGeom>
          <a:solidFill>
            <a:srgbClr val="7CB87A"/>
          </a:solidFill>
          <a:ln w="12700">
            <a:solidFill>
              <a:srgbClr val="7CB87A"/>
            </a:solidFill>
            <a:prstDash val="solid"/>
          </a:ln>
        </p:spPr>
      </p:sp>
      <p:sp>
        <p:nvSpPr>
          <p:cNvPr id="3" name="Text 1"/>
          <p:cNvSpPr/>
          <p:nvPr/>
        </p:nvSpPr>
        <p:spPr>
          <a:xfrm>
            <a:off x="521208" y="192024"/>
            <a:ext cx="8275320" cy="676656"/>
          </a:xfrm>
          <a:prstGeom prst="rect">
            <a:avLst/>
          </a:prstGeom>
          <a:noFill/>
          <a:ln/>
        </p:spPr>
        <p:txBody>
          <a:bodyPr wrap="square" lIns="0" tIns="0" rIns="0" bIns="0" rtlCol="0" anchor="ctr"/>
          <a:lstStyle/>
          <a:p>
            <a:pPr marL="0" indent="0">
              <a:buNone/>
            </a:pPr>
            <a:r>
              <a:rPr lang="en-US" sz="2700" b="1" dirty="0">
                <a:solidFill>
                  <a:srgbClr val="1B4D2E"/>
                </a:solidFill>
                <a:latin typeface="Cambria" pitchFamily="34" charset="0"/>
                <a:ea typeface="Cambria" pitchFamily="34" charset="-122"/>
                <a:cs typeface="Cambria" pitchFamily="34" charset="-120"/>
              </a:rPr>
              <a:t>Dataset Sample</a:t>
            </a:r>
            <a:endParaRPr lang="en-US" sz="2700" dirty="0"/>
          </a:p>
        </p:txBody>
      </p:sp>
      <p:sp>
        <p:nvSpPr>
          <p:cNvPr id="4" name="Shape 2"/>
          <p:cNvSpPr/>
          <p:nvPr/>
        </p:nvSpPr>
        <p:spPr>
          <a:xfrm>
            <a:off x="347472" y="969264"/>
            <a:ext cx="8449056" cy="0"/>
          </a:xfrm>
          <a:prstGeom prst="line">
            <a:avLst/>
          </a:prstGeom>
          <a:noFill/>
          <a:ln w="12700">
            <a:solidFill>
              <a:srgbClr val="C2D6B8"/>
            </a:solidFill>
            <a:prstDash val="solid"/>
          </a:ln>
        </p:spPr>
      </p:sp>
      <p:sp>
        <p:nvSpPr>
          <p:cNvPr id="5" name="Text 3"/>
          <p:cNvSpPr/>
          <p:nvPr/>
        </p:nvSpPr>
        <p:spPr>
          <a:xfrm>
            <a:off x="8046720" y="4892040"/>
            <a:ext cx="914400" cy="182880"/>
          </a:xfrm>
          <a:prstGeom prst="rect">
            <a:avLst/>
          </a:prstGeom>
          <a:noFill/>
          <a:ln/>
        </p:spPr>
        <p:txBody>
          <a:bodyPr wrap="square" rtlCol="0" anchor="ctr"/>
          <a:lstStyle/>
          <a:p>
            <a:pPr marL="0" indent="0" algn="r">
              <a:buNone/>
            </a:pPr>
            <a:r>
              <a:rPr lang="en-US" sz="1000" dirty="0">
                <a:solidFill>
                  <a:srgbClr val="607060"/>
                </a:solidFill>
                <a:latin typeface="Calibri" pitchFamily="34" charset="0"/>
                <a:ea typeface="Calibri" pitchFamily="34" charset="-122"/>
                <a:cs typeface="Calibri" pitchFamily="34" charset="-120"/>
              </a:rPr>
              <a:t>4 / 22</a:t>
            </a:r>
            <a:endParaRPr lang="en-US" sz="1000" dirty="0"/>
          </a:p>
        </p:txBody>
      </p:sp>
      <p:pic>
        <p:nvPicPr>
          <p:cNvPr id="24" name="Picture 23">
            <a:extLst>
              <a:ext uri="{FF2B5EF4-FFF2-40B4-BE49-F238E27FC236}">
                <a16:creationId xmlns:a16="http://schemas.microsoft.com/office/drawing/2014/main" id="{2F9C261D-D4BF-4C26-B9D7-98E1BAE0C20E}"/>
              </a:ext>
            </a:extLst>
          </p:cNvPr>
          <p:cNvPicPr>
            <a:picLocks noChangeAspect="1"/>
          </p:cNvPicPr>
          <p:nvPr/>
        </p:nvPicPr>
        <p:blipFill>
          <a:blip r:embed="rId3"/>
          <a:stretch>
            <a:fillRect/>
          </a:stretch>
        </p:blipFill>
        <p:spPr>
          <a:xfrm>
            <a:off x="403058" y="1104369"/>
            <a:ext cx="1444994" cy="1083745"/>
          </a:xfrm>
          <a:prstGeom prst="rect">
            <a:avLst/>
          </a:prstGeom>
        </p:spPr>
      </p:pic>
      <p:sp>
        <p:nvSpPr>
          <p:cNvPr id="25" name="TextBox 24">
            <a:extLst>
              <a:ext uri="{FF2B5EF4-FFF2-40B4-BE49-F238E27FC236}">
                <a16:creationId xmlns:a16="http://schemas.microsoft.com/office/drawing/2014/main" id="{2B974B92-BF7E-4A66-B7E7-181EB04DD8D6}"/>
              </a:ext>
            </a:extLst>
          </p:cNvPr>
          <p:cNvSpPr txBox="1"/>
          <p:nvPr/>
        </p:nvSpPr>
        <p:spPr>
          <a:xfrm>
            <a:off x="384048" y="2138552"/>
            <a:ext cx="1309421" cy="338554"/>
          </a:xfrm>
          <a:prstGeom prst="rect">
            <a:avLst/>
          </a:prstGeom>
          <a:noFill/>
        </p:spPr>
        <p:txBody>
          <a:bodyPr wrap="square" rtlCol="0">
            <a:spAutoFit/>
          </a:bodyPr>
          <a:lstStyle/>
          <a:p>
            <a:pPr algn="ctr"/>
            <a:r>
              <a:rPr lang="en-US" sz="1600" dirty="0" err="1"/>
              <a:t>Aush</a:t>
            </a:r>
            <a:endParaRPr lang="en-US" sz="1600" dirty="0"/>
          </a:p>
        </p:txBody>
      </p:sp>
      <p:pic>
        <p:nvPicPr>
          <p:cNvPr id="27" name="Picture 26">
            <a:extLst>
              <a:ext uri="{FF2B5EF4-FFF2-40B4-BE49-F238E27FC236}">
                <a16:creationId xmlns:a16="http://schemas.microsoft.com/office/drawing/2014/main" id="{8D5C3F8A-9FAF-47C9-BB80-4E08F43509EC}"/>
              </a:ext>
            </a:extLst>
          </p:cNvPr>
          <p:cNvPicPr>
            <a:picLocks noChangeAspect="1"/>
          </p:cNvPicPr>
          <p:nvPr/>
        </p:nvPicPr>
        <p:blipFill>
          <a:blip r:embed="rId4"/>
          <a:stretch>
            <a:fillRect/>
          </a:stretch>
        </p:blipFill>
        <p:spPr>
          <a:xfrm>
            <a:off x="2096537" y="1104369"/>
            <a:ext cx="1444994" cy="1083746"/>
          </a:xfrm>
          <a:prstGeom prst="rect">
            <a:avLst/>
          </a:prstGeom>
        </p:spPr>
      </p:pic>
      <p:pic>
        <p:nvPicPr>
          <p:cNvPr id="31" name="Picture 30">
            <a:extLst>
              <a:ext uri="{FF2B5EF4-FFF2-40B4-BE49-F238E27FC236}">
                <a16:creationId xmlns:a16="http://schemas.microsoft.com/office/drawing/2014/main" id="{2D08F6B1-875F-4930-89E6-DE3F588C89C1}"/>
              </a:ext>
            </a:extLst>
          </p:cNvPr>
          <p:cNvPicPr>
            <a:picLocks noChangeAspect="1"/>
          </p:cNvPicPr>
          <p:nvPr/>
        </p:nvPicPr>
        <p:blipFill>
          <a:blip r:embed="rId5"/>
          <a:stretch>
            <a:fillRect/>
          </a:stretch>
        </p:blipFill>
        <p:spPr>
          <a:xfrm>
            <a:off x="3772085" y="1104370"/>
            <a:ext cx="1444994" cy="1083746"/>
          </a:xfrm>
          <a:prstGeom prst="rect">
            <a:avLst/>
          </a:prstGeom>
        </p:spPr>
      </p:pic>
      <p:pic>
        <p:nvPicPr>
          <p:cNvPr id="33" name="Picture 32">
            <a:extLst>
              <a:ext uri="{FF2B5EF4-FFF2-40B4-BE49-F238E27FC236}">
                <a16:creationId xmlns:a16="http://schemas.microsoft.com/office/drawing/2014/main" id="{AA406C1B-3BB6-4716-B083-8905AAC2E728}"/>
              </a:ext>
            </a:extLst>
          </p:cNvPr>
          <p:cNvPicPr>
            <a:picLocks noChangeAspect="1"/>
          </p:cNvPicPr>
          <p:nvPr/>
        </p:nvPicPr>
        <p:blipFill>
          <a:blip r:embed="rId6"/>
          <a:stretch>
            <a:fillRect/>
          </a:stretch>
        </p:blipFill>
        <p:spPr>
          <a:xfrm>
            <a:off x="5465564" y="1099690"/>
            <a:ext cx="1444995" cy="1083746"/>
          </a:xfrm>
          <a:prstGeom prst="rect">
            <a:avLst/>
          </a:prstGeom>
        </p:spPr>
      </p:pic>
      <p:pic>
        <p:nvPicPr>
          <p:cNvPr id="35" name="Picture 34">
            <a:extLst>
              <a:ext uri="{FF2B5EF4-FFF2-40B4-BE49-F238E27FC236}">
                <a16:creationId xmlns:a16="http://schemas.microsoft.com/office/drawing/2014/main" id="{643FC5CB-6767-417F-B39F-F9F91C5FD28D}"/>
              </a:ext>
            </a:extLst>
          </p:cNvPr>
          <p:cNvPicPr>
            <a:picLocks noChangeAspect="1"/>
          </p:cNvPicPr>
          <p:nvPr/>
        </p:nvPicPr>
        <p:blipFill>
          <a:blip r:embed="rId7"/>
          <a:stretch>
            <a:fillRect/>
          </a:stretch>
        </p:blipFill>
        <p:spPr>
          <a:xfrm>
            <a:off x="7159044" y="1094181"/>
            <a:ext cx="1444994" cy="1083745"/>
          </a:xfrm>
          <a:prstGeom prst="rect">
            <a:avLst/>
          </a:prstGeom>
        </p:spPr>
      </p:pic>
      <p:pic>
        <p:nvPicPr>
          <p:cNvPr id="37" name="Picture 36">
            <a:extLst>
              <a:ext uri="{FF2B5EF4-FFF2-40B4-BE49-F238E27FC236}">
                <a16:creationId xmlns:a16="http://schemas.microsoft.com/office/drawing/2014/main" id="{569B7159-9DDC-4314-B7F3-FA1348E344D2}"/>
              </a:ext>
            </a:extLst>
          </p:cNvPr>
          <p:cNvPicPr>
            <a:picLocks noChangeAspect="1"/>
          </p:cNvPicPr>
          <p:nvPr/>
        </p:nvPicPr>
        <p:blipFill>
          <a:blip r:embed="rId8"/>
          <a:stretch>
            <a:fillRect/>
          </a:stretch>
        </p:blipFill>
        <p:spPr>
          <a:xfrm>
            <a:off x="384048" y="3046106"/>
            <a:ext cx="1444994" cy="1083745"/>
          </a:xfrm>
          <a:prstGeom prst="rect">
            <a:avLst/>
          </a:prstGeom>
        </p:spPr>
      </p:pic>
      <p:pic>
        <p:nvPicPr>
          <p:cNvPr id="39" name="Picture 38">
            <a:extLst>
              <a:ext uri="{FF2B5EF4-FFF2-40B4-BE49-F238E27FC236}">
                <a16:creationId xmlns:a16="http://schemas.microsoft.com/office/drawing/2014/main" id="{5F92EE57-63EF-4BF0-9F90-C3B4810673A5}"/>
              </a:ext>
            </a:extLst>
          </p:cNvPr>
          <p:cNvPicPr>
            <a:picLocks noChangeAspect="1"/>
          </p:cNvPicPr>
          <p:nvPr/>
        </p:nvPicPr>
        <p:blipFill>
          <a:blip r:embed="rId9"/>
          <a:stretch>
            <a:fillRect/>
          </a:stretch>
        </p:blipFill>
        <p:spPr>
          <a:xfrm>
            <a:off x="2067149" y="3046106"/>
            <a:ext cx="1444993" cy="1083745"/>
          </a:xfrm>
          <a:prstGeom prst="rect">
            <a:avLst/>
          </a:prstGeom>
        </p:spPr>
      </p:pic>
      <p:pic>
        <p:nvPicPr>
          <p:cNvPr id="41" name="Picture 40">
            <a:extLst>
              <a:ext uri="{FF2B5EF4-FFF2-40B4-BE49-F238E27FC236}">
                <a16:creationId xmlns:a16="http://schemas.microsoft.com/office/drawing/2014/main" id="{D01C9F71-6CBE-4819-A752-9B1C384DA752}"/>
              </a:ext>
            </a:extLst>
          </p:cNvPr>
          <p:cNvPicPr>
            <a:picLocks noChangeAspect="1"/>
          </p:cNvPicPr>
          <p:nvPr/>
        </p:nvPicPr>
        <p:blipFill>
          <a:blip r:embed="rId10"/>
          <a:stretch>
            <a:fillRect/>
          </a:stretch>
        </p:blipFill>
        <p:spPr>
          <a:xfrm>
            <a:off x="3772085" y="3046106"/>
            <a:ext cx="1444993" cy="1083745"/>
          </a:xfrm>
          <a:prstGeom prst="rect">
            <a:avLst/>
          </a:prstGeom>
        </p:spPr>
      </p:pic>
      <p:pic>
        <p:nvPicPr>
          <p:cNvPr id="43" name="Picture 42">
            <a:extLst>
              <a:ext uri="{FF2B5EF4-FFF2-40B4-BE49-F238E27FC236}">
                <a16:creationId xmlns:a16="http://schemas.microsoft.com/office/drawing/2014/main" id="{DCCEEB8E-EC65-4B22-B006-8C7E03D0AD8E}"/>
              </a:ext>
            </a:extLst>
          </p:cNvPr>
          <p:cNvPicPr>
            <a:picLocks noChangeAspect="1"/>
          </p:cNvPicPr>
          <p:nvPr/>
        </p:nvPicPr>
        <p:blipFill>
          <a:blip r:embed="rId11"/>
          <a:stretch>
            <a:fillRect/>
          </a:stretch>
        </p:blipFill>
        <p:spPr>
          <a:xfrm>
            <a:off x="5465564" y="3046106"/>
            <a:ext cx="1444993" cy="1083745"/>
          </a:xfrm>
          <a:prstGeom prst="rect">
            <a:avLst/>
          </a:prstGeom>
        </p:spPr>
      </p:pic>
      <p:pic>
        <p:nvPicPr>
          <p:cNvPr id="45" name="Picture 44">
            <a:extLst>
              <a:ext uri="{FF2B5EF4-FFF2-40B4-BE49-F238E27FC236}">
                <a16:creationId xmlns:a16="http://schemas.microsoft.com/office/drawing/2014/main" id="{26A6240F-52CD-4C97-B5C1-777097CE77AB}"/>
              </a:ext>
            </a:extLst>
          </p:cNvPr>
          <p:cNvPicPr>
            <a:picLocks noChangeAspect="1"/>
          </p:cNvPicPr>
          <p:nvPr/>
        </p:nvPicPr>
        <p:blipFill>
          <a:blip r:embed="rId12"/>
          <a:stretch>
            <a:fillRect/>
          </a:stretch>
        </p:blipFill>
        <p:spPr>
          <a:xfrm>
            <a:off x="7159043" y="3046105"/>
            <a:ext cx="1504172" cy="1128129"/>
          </a:xfrm>
          <a:prstGeom prst="rect">
            <a:avLst/>
          </a:prstGeom>
        </p:spPr>
      </p:pic>
      <p:sp>
        <p:nvSpPr>
          <p:cNvPr id="47" name="TextBox 46">
            <a:extLst>
              <a:ext uri="{FF2B5EF4-FFF2-40B4-BE49-F238E27FC236}">
                <a16:creationId xmlns:a16="http://schemas.microsoft.com/office/drawing/2014/main" id="{9C25A098-32E8-4B38-B16B-B1CCCD998A1C}"/>
              </a:ext>
            </a:extLst>
          </p:cNvPr>
          <p:cNvSpPr txBox="1"/>
          <p:nvPr/>
        </p:nvSpPr>
        <p:spPr>
          <a:xfrm>
            <a:off x="2340754" y="2138552"/>
            <a:ext cx="647395" cy="338554"/>
          </a:xfrm>
          <a:prstGeom prst="rect">
            <a:avLst/>
          </a:prstGeom>
          <a:noFill/>
        </p:spPr>
        <p:txBody>
          <a:bodyPr wrap="square">
            <a:spAutoFit/>
          </a:bodyPr>
          <a:lstStyle/>
          <a:p>
            <a:pPr algn="ctr"/>
            <a:r>
              <a:rPr lang="en-US" sz="1600" dirty="0" err="1"/>
              <a:t>Beroi</a:t>
            </a:r>
            <a:endParaRPr lang="en-US" sz="1600" dirty="0"/>
          </a:p>
        </p:txBody>
      </p:sp>
      <p:sp>
        <p:nvSpPr>
          <p:cNvPr id="50" name="TextBox 49">
            <a:extLst>
              <a:ext uri="{FF2B5EF4-FFF2-40B4-BE49-F238E27FC236}">
                <a16:creationId xmlns:a16="http://schemas.microsoft.com/office/drawing/2014/main" id="{17917D7B-9626-4D23-B373-4937E4F963D2}"/>
              </a:ext>
            </a:extLst>
          </p:cNvPr>
          <p:cNvSpPr txBox="1"/>
          <p:nvPr/>
        </p:nvSpPr>
        <p:spPr>
          <a:xfrm>
            <a:off x="469708" y="4127528"/>
            <a:ext cx="1191239" cy="338554"/>
          </a:xfrm>
          <a:prstGeom prst="rect">
            <a:avLst/>
          </a:prstGeom>
          <a:noFill/>
        </p:spPr>
        <p:txBody>
          <a:bodyPr wrap="square">
            <a:spAutoFit/>
          </a:bodyPr>
          <a:lstStyle/>
          <a:p>
            <a:pPr algn="ctr"/>
            <a:r>
              <a:rPr lang="en-US" sz="1600" dirty="0"/>
              <a:t>Ghee </a:t>
            </a:r>
            <a:r>
              <a:rPr lang="en-US" sz="1600" dirty="0" err="1"/>
              <a:t>Bhog</a:t>
            </a:r>
            <a:endParaRPr lang="en-US" sz="1600" dirty="0"/>
          </a:p>
        </p:txBody>
      </p:sp>
      <p:sp>
        <p:nvSpPr>
          <p:cNvPr id="51" name="TextBox 50">
            <a:extLst>
              <a:ext uri="{FF2B5EF4-FFF2-40B4-BE49-F238E27FC236}">
                <a16:creationId xmlns:a16="http://schemas.microsoft.com/office/drawing/2014/main" id="{E78EF0D1-F2CD-4FB5-88B1-E92E7D790A99}"/>
              </a:ext>
            </a:extLst>
          </p:cNvPr>
          <p:cNvSpPr txBox="1"/>
          <p:nvPr/>
        </p:nvSpPr>
        <p:spPr>
          <a:xfrm>
            <a:off x="2120950" y="4127528"/>
            <a:ext cx="1282703" cy="338554"/>
          </a:xfrm>
          <a:prstGeom prst="rect">
            <a:avLst/>
          </a:prstGeom>
          <a:noFill/>
        </p:spPr>
        <p:txBody>
          <a:bodyPr wrap="square">
            <a:spAutoFit/>
          </a:bodyPr>
          <a:lstStyle/>
          <a:p>
            <a:pPr algn="ctr"/>
            <a:r>
              <a:rPr lang="en-US" sz="1600" dirty="0" err="1"/>
              <a:t>Katari</a:t>
            </a:r>
            <a:r>
              <a:rPr lang="en-US" sz="1600" dirty="0"/>
              <a:t> </a:t>
            </a:r>
            <a:r>
              <a:rPr lang="en-US" sz="1600" dirty="0" err="1"/>
              <a:t>Najir</a:t>
            </a:r>
            <a:endParaRPr lang="en-US" sz="1600" dirty="0"/>
          </a:p>
        </p:txBody>
      </p:sp>
      <p:sp>
        <p:nvSpPr>
          <p:cNvPr id="52" name="TextBox 51">
            <a:extLst>
              <a:ext uri="{FF2B5EF4-FFF2-40B4-BE49-F238E27FC236}">
                <a16:creationId xmlns:a16="http://schemas.microsoft.com/office/drawing/2014/main" id="{E7C172FE-3B2C-4509-B71E-1FD3AEF23C4F}"/>
              </a:ext>
            </a:extLst>
          </p:cNvPr>
          <p:cNvSpPr txBox="1"/>
          <p:nvPr/>
        </p:nvSpPr>
        <p:spPr>
          <a:xfrm>
            <a:off x="3855336" y="4131606"/>
            <a:ext cx="1328044" cy="338554"/>
          </a:xfrm>
          <a:prstGeom prst="rect">
            <a:avLst/>
          </a:prstGeom>
          <a:noFill/>
        </p:spPr>
        <p:txBody>
          <a:bodyPr wrap="square">
            <a:spAutoFit/>
          </a:bodyPr>
          <a:lstStyle/>
          <a:p>
            <a:pPr algn="ctr"/>
            <a:r>
              <a:rPr lang="en-US" sz="1600" dirty="0" err="1"/>
              <a:t>Katari</a:t>
            </a:r>
            <a:r>
              <a:rPr lang="en-US" sz="1600" dirty="0"/>
              <a:t> </a:t>
            </a:r>
            <a:r>
              <a:rPr lang="en-US" sz="1600" dirty="0" err="1"/>
              <a:t>Siddho</a:t>
            </a:r>
            <a:endParaRPr lang="en-US" sz="1600" dirty="0"/>
          </a:p>
        </p:txBody>
      </p:sp>
      <p:sp>
        <p:nvSpPr>
          <p:cNvPr id="53" name="TextBox 52">
            <a:extLst>
              <a:ext uri="{FF2B5EF4-FFF2-40B4-BE49-F238E27FC236}">
                <a16:creationId xmlns:a16="http://schemas.microsoft.com/office/drawing/2014/main" id="{E4033FCE-2AA1-469D-9EF1-AFD272B318C2}"/>
              </a:ext>
            </a:extLst>
          </p:cNvPr>
          <p:cNvSpPr txBox="1"/>
          <p:nvPr/>
        </p:nvSpPr>
        <p:spPr>
          <a:xfrm>
            <a:off x="5890352" y="2109175"/>
            <a:ext cx="818596" cy="338554"/>
          </a:xfrm>
          <a:prstGeom prst="rect">
            <a:avLst/>
          </a:prstGeom>
          <a:noFill/>
        </p:spPr>
        <p:txBody>
          <a:bodyPr wrap="square">
            <a:spAutoFit/>
          </a:bodyPr>
          <a:lstStyle/>
          <a:p>
            <a:pPr algn="ctr"/>
            <a:r>
              <a:rPr lang="en-US" sz="1600" dirty="0"/>
              <a:t>BR-29</a:t>
            </a:r>
          </a:p>
        </p:txBody>
      </p:sp>
      <p:sp>
        <p:nvSpPr>
          <p:cNvPr id="54" name="TextBox 53">
            <a:extLst>
              <a:ext uri="{FF2B5EF4-FFF2-40B4-BE49-F238E27FC236}">
                <a16:creationId xmlns:a16="http://schemas.microsoft.com/office/drawing/2014/main" id="{4513371C-8AE7-44A5-8B8F-76F597FEAE33}"/>
              </a:ext>
            </a:extLst>
          </p:cNvPr>
          <p:cNvSpPr txBox="1"/>
          <p:nvPr/>
        </p:nvSpPr>
        <p:spPr>
          <a:xfrm>
            <a:off x="7475444" y="2118319"/>
            <a:ext cx="976097" cy="338554"/>
          </a:xfrm>
          <a:prstGeom prst="rect">
            <a:avLst/>
          </a:prstGeom>
          <a:noFill/>
        </p:spPr>
        <p:txBody>
          <a:bodyPr wrap="square">
            <a:spAutoFit/>
          </a:bodyPr>
          <a:lstStyle/>
          <a:p>
            <a:pPr algn="ctr"/>
            <a:r>
              <a:rPr lang="en-US" sz="1600" dirty="0" err="1"/>
              <a:t>Chinigura</a:t>
            </a:r>
            <a:endParaRPr lang="en-US" sz="1600" dirty="0"/>
          </a:p>
        </p:txBody>
      </p:sp>
      <p:sp>
        <p:nvSpPr>
          <p:cNvPr id="55" name="TextBox 54">
            <a:extLst>
              <a:ext uri="{FF2B5EF4-FFF2-40B4-BE49-F238E27FC236}">
                <a16:creationId xmlns:a16="http://schemas.microsoft.com/office/drawing/2014/main" id="{D7CD20B8-706C-4823-98DE-05E0DD7AE3B6}"/>
              </a:ext>
            </a:extLst>
          </p:cNvPr>
          <p:cNvSpPr txBox="1"/>
          <p:nvPr/>
        </p:nvSpPr>
        <p:spPr>
          <a:xfrm>
            <a:off x="4137520" y="2118319"/>
            <a:ext cx="774662" cy="338554"/>
          </a:xfrm>
          <a:prstGeom prst="rect">
            <a:avLst/>
          </a:prstGeom>
          <a:noFill/>
        </p:spPr>
        <p:txBody>
          <a:bodyPr wrap="square">
            <a:spAutoFit/>
          </a:bodyPr>
          <a:lstStyle/>
          <a:p>
            <a:pPr algn="ctr"/>
            <a:r>
              <a:rPr lang="en-US" sz="1600" dirty="0"/>
              <a:t>BR-28</a:t>
            </a:r>
          </a:p>
        </p:txBody>
      </p:sp>
      <p:sp>
        <p:nvSpPr>
          <p:cNvPr id="56" name="TextBox 55">
            <a:extLst>
              <a:ext uri="{FF2B5EF4-FFF2-40B4-BE49-F238E27FC236}">
                <a16:creationId xmlns:a16="http://schemas.microsoft.com/office/drawing/2014/main" id="{B5352003-4DC9-4CA8-809F-E5D3A4BAEB9C}"/>
              </a:ext>
            </a:extLst>
          </p:cNvPr>
          <p:cNvSpPr txBox="1"/>
          <p:nvPr/>
        </p:nvSpPr>
        <p:spPr>
          <a:xfrm>
            <a:off x="7557843" y="4127528"/>
            <a:ext cx="914400" cy="338554"/>
          </a:xfrm>
          <a:prstGeom prst="rect">
            <a:avLst/>
          </a:prstGeom>
          <a:noFill/>
        </p:spPr>
        <p:txBody>
          <a:bodyPr wrap="square">
            <a:spAutoFit/>
          </a:bodyPr>
          <a:lstStyle/>
          <a:p>
            <a:pPr algn="ctr"/>
            <a:r>
              <a:rPr lang="en-US" sz="1600" dirty="0"/>
              <a:t>Swarna</a:t>
            </a:r>
          </a:p>
        </p:txBody>
      </p:sp>
      <p:sp>
        <p:nvSpPr>
          <p:cNvPr id="57" name="TextBox 56">
            <a:extLst>
              <a:ext uri="{FF2B5EF4-FFF2-40B4-BE49-F238E27FC236}">
                <a16:creationId xmlns:a16="http://schemas.microsoft.com/office/drawing/2014/main" id="{A813D238-9EA4-42A7-9C89-8EBD63377D54}"/>
              </a:ext>
            </a:extLst>
          </p:cNvPr>
          <p:cNvSpPr txBox="1"/>
          <p:nvPr/>
        </p:nvSpPr>
        <p:spPr>
          <a:xfrm>
            <a:off x="5727057" y="4117468"/>
            <a:ext cx="922006" cy="338554"/>
          </a:xfrm>
          <a:prstGeom prst="rect">
            <a:avLst/>
          </a:prstGeom>
          <a:noFill/>
        </p:spPr>
        <p:txBody>
          <a:bodyPr wrap="square">
            <a:spAutoFit/>
          </a:bodyPr>
          <a:lstStyle/>
          <a:p>
            <a:pPr algn="ctr"/>
            <a:r>
              <a:rPr lang="en-US" sz="1600" dirty="0" err="1"/>
              <a:t>Miniket</a:t>
            </a:r>
            <a:endParaRPr lang="en-US" sz="1600" dirty="0"/>
          </a:p>
        </p:txBody>
      </p:sp>
    </p:spTree>
    <p:extLst>
      <p:ext uri="{BB962C8B-B14F-4D97-AF65-F5344CB8AC3E}">
        <p14:creationId xmlns:p14="http://schemas.microsoft.com/office/powerpoint/2010/main" val="548310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BF8"/>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Preprocessing Pipeline</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457200" y="896112"/>
            <a:ext cx="8229600" cy="36576"/>
          </a:xfrm>
          <a:prstGeom prst="rect">
            <a:avLst/>
          </a:prstGeom>
          <a:solidFill>
            <a:srgbClr val="74C69D"/>
          </a:solidFill>
          <a:ln w="12700">
            <a:solidFill>
              <a:srgbClr val="74C69D"/>
            </a:solidFill>
            <a:prstDash val="solid"/>
          </a:ln>
        </p:spPr>
      </p:sp>
      <p:sp>
        <p:nvSpPr>
          <p:cNvPr id="5" name="Shape 3"/>
          <p:cNvSpPr/>
          <p:nvPr/>
        </p:nvSpPr>
        <p:spPr>
          <a:xfrm>
            <a:off x="256032" y="1709928"/>
            <a:ext cx="1417320" cy="2377440"/>
          </a:xfrm>
          <a:prstGeom prst="rect">
            <a:avLst/>
          </a:prstGeom>
          <a:solidFill>
            <a:srgbClr val="FFFFFF"/>
          </a:solidFill>
          <a:ln w="6350">
            <a:solidFill>
              <a:srgbClr val="E5E7EB"/>
            </a:solidFill>
            <a:prstDash val="solid"/>
          </a:ln>
          <a:effectLst>
            <a:outerShdw blurRad="101600" dist="25400" dir="8100000" algn="bl" rotWithShape="0">
              <a:srgbClr val="000000">
                <a:alpha val="10000"/>
              </a:srgbClr>
            </a:outerShdw>
          </a:effectLst>
        </p:spPr>
      </p:sp>
      <p:sp>
        <p:nvSpPr>
          <p:cNvPr id="6" name="Shape 4"/>
          <p:cNvSpPr/>
          <p:nvPr/>
        </p:nvSpPr>
        <p:spPr>
          <a:xfrm>
            <a:off x="736092" y="1463040"/>
            <a:ext cx="493776" cy="493776"/>
          </a:xfrm>
          <a:prstGeom prst="ellipse">
            <a:avLst/>
          </a:prstGeom>
          <a:solidFill>
            <a:srgbClr val="1B4332"/>
          </a:solidFill>
          <a:ln w="12700">
            <a:solidFill>
              <a:srgbClr val="1B4332"/>
            </a:solidFill>
            <a:prstDash val="solid"/>
          </a:ln>
        </p:spPr>
      </p:sp>
      <p:sp>
        <p:nvSpPr>
          <p:cNvPr id="7" name="Text 5"/>
          <p:cNvSpPr/>
          <p:nvPr/>
        </p:nvSpPr>
        <p:spPr>
          <a:xfrm>
            <a:off x="736092" y="1463040"/>
            <a:ext cx="493776"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347472" y="2029968"/>
            <a:ext cx="1271016"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Read Image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347472" y="2578608"/>
            <a:ext cx="1271016"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Load raw image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from disk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1700784" y="2514600"/>
            <a:ext cx="91440" cy="0"/>
          </a:xfrm>
          <a:prstGeom prst="line">
            <a:avLst/>
          </a:prstGeom>
          <a:noFill/>
          <a:ln w="25400">
            <a:solidFill>
              <a:srgbClr val="74C69D"/>
            </a:solidFill>
            <a:prstDash val="solid"/>
          </a:ln>
        </p:spPr>
      </p:sp>
      <p:sp>
        <p:nvSpPr>
          <p:cNvPr id="11" name="Shape 9"/>
          <p:cNvSpPr/>
          <p:nvPr/>
        </p:nvSpPr>
        <p:spPr>
          <a:xfrm>
            <a:off x="1746504" y="1709928"/>
            <a:ext cx="1417320" cy="2377440"/>
          </a:xfrm>
          <a:prstGeom prst="rect">
            <a:avLst/>
          </a:prstGeom>
          <a:solidFill>
            <a:srgbClr val="FFFFFF"/>
          </a:solidFill>
          <a:ln w="6350">
            <a:solidFill>
              <a:srgbClr val="E5E7EB"/>
            </a:solidFill>
            <a:prstDash val="solid"/>
          </a:ln>
          <a:effectLst>
            <a:outerShdw blurRad="101600" dist="25400" dir="8100000" algn="bl" rotWithShape="0">
              <a:srgbClr val="000000">
                <a:alpha val="10000"/>
              </a:srgbClr>
            </a:outerShdw>
          </a:effectLst>
        </p:spPr>
      </p:sp>
      <p:sp>
        <p:nvSpPr>
          <p:cNvPr id="12" name="Shape 10"/>
          <p:cNvSpPr/>
          <p:nvPr/>
        </p:nvSpPr>
        <p:spPr>
          <a:xfrm>
            <a:off x="2208276" y="1463040"/>
            <a:ext cx="493776" cy="493776"/>
          </a:xfrm>
          <a:prstGeom prst="ellipse">
            <a:avLst/>
          </a:prstGeom>
          <a:solidFill>
            <a:srgbClr val="1B4332"/>
          </a:solidFill>
          <a:ln w="12700">
            <a:solidFill>
              <a:srgbClr val="1B4332"/>
            </a:solidFill>
            <a:prstDash val="solid"/>
          </a:ln>
        </p:spPr>
      </p:sp>
      <p:sp>
        <p:nvSpPr>
          <p:cNvPr id="13" name="Text 11"/>
          <p:cNvSpPr/>
          <p:nvPr/>
        </p:nvSpPr>
        <p:spPr>
          <a:xfrm>
            <a:off x="2208276" y="1463040"/>
            <a:ext cx="493776"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819656" y="2029968"/>
            <a:ext cx="1271016"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Grayscale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819656" y="2578608"/>
            <a:ext cx="1271016"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Convert BGR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to grayscale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3172968" y="2514600"/>
            <a:ext cx="91440" cy="0"/>
          </a:xfrm>
          <a:prstGeom prst="line">
            <a:avLst/>
          </a:prstGeom>
          <a:noFill/>
          <a:ln w="25400">
            <a:solidFill>
              <a:srgbClr val="74C69D"/>
            </a:solidFill>
            <a:prstDash val="solid"/>
          </a:ln>
        </p:spPr>
      </p:sp>
      <p:sp>
        <p:nvSpPr>
          <p:cNvPr id="17" name="Shape 15"/>
          <p:cNvSpPr/>
          <p:nvPr/>
        </p:nvSpPr>
        <p:spPr>
          <a:xfrm>
            <a:off x="3218688" y="1709928"/>
            <a:ext cx="1417320" cy="2377440"/>
          </a:xfrm>
          <a:prstGeom prst="rect">
            <a:avLst/>
          </a:prstGeom>
          <a:solidFill>
            <a:srgbClr val="FFFFFF"/>
          </a:solidFill>
          <a:ln w="6350">
            <a:solidFill>
              <a:srgbClr val="E5E7EB"/>
            </a:solidFill>
            <a:prstDash val="solid"/>
          </a:ln>
          <a:effectLst>
            <a:outerShdw blurRad="101600" dist="25400" dir="8100000" algn="bl" rotWithShape="0">
              <a:srgbClr val="000000">
                <a:alpha val="10000"/>
              </a:srgbClr>
            </a:outerShdw>
          </a:effectLst>
        </p:spPr>
      </p:sp>
      <p:sp>
        <p:nvSpPr>
          <p:cNvPr id="18" name="Shape 16"/>
          <p:cNvSpPr/>
          <p:nvPr/>
        </p:nvSpPr>
        <p:spPr>
          <a:xfrm>
            <a:off x="3680460" y="1463040"/>
            <a:ext cx="493776" cy="493776"/>
          </a:xfrm>
          <a:prstGeom prst="ellipse">
            <a:avLst/>
          </a:prstGeom>
          <a:solidFill>
            <a:srgbClr val="1B4332"/>
          </a:solidFill>
          <a:ln w="12700">
            <a:solidFill>
              <a:srgbClr val="1B4332"/>
            </a:solidFill>
            <a:prstDash val="solid"/>
          </a:ln>
        </p:spPr>
      </p:sp>
      <p:sp>
        <p:nvSpPr>
          <p:cNvPr id="19" name="Text 17"/>
          <p:cNvSpPr/>
          <p:nvPr/>
        </p:nvSpPr>
        <p:spPr>
          <a:xfrm>
            <a:off x="3680460" y="1463040"/>
            <a:ext cx="493776"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3291840" y="2029968"/>
            <a:ext cx="1271016"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Otsu Binarization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3291840" y="2578608"/>
            <a:ext cx="1271016"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Adaptive threshold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to create mask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645152" y="2514600"/>
            <a:ext cx="91440" cy="0"/>
          </a:xfrm>
          <a:prstGeom prst="line">
            <a:avLst/>
          </a:prstGeom>
          <a:noFill/>
          <a:ln w="25400">
            <a:solidFill>
              <a:srgbClr val="74C69D"/>
            </a:solidFill>
            <a:prstDash val="solid"/>
          </a:ln>
        </p:spPr>
      </p:sp>
      <p:sp>
        <p:nvSpPr>
          <p:cNvPr id="23" name="Shape 21"/>
          <p:cNvSpPr/>
          <p:nvPr/>
        </p:nvSpPr>
        <p:spPr>
          <a:xfrm>
            <a:off x="4661613" y="1709928"/>
            <a:ext cx="1417320" cy="2377440"/>
          </a:xfrm>
          <a:prstGeom prst="rect">
            <a:avLst/>
          </a:prstGeom>
          <a:solidFill>
            <a:srgbClr val="FFFFFF"/>
          </a:solidFill>
          <a:ln w="6350">
            <a:solidFill>
              <a:srgbClr val="E5E7EB"/>
            </a:solidFill>
            <a:prstDash val="solid"/>
          </a:ln>
          <a:effectLst>
            <a:outerShdw blurRad="101600" dist="25400" dir="8100000" algn="bl" rotWithShape="0">
              <a:srgbClr val="000000">
                <a:alpha val="10000"/>
              </a:srgbClr>
            </a:outerShdw>
          </a:effectLst>
        </p:spPr>
      </p:sp>
      <p:sp>
        <p:nvSpPr>
          <p:cNvPr id="24" name="Shape 22"/>
          <p:cNvSpPr/>
          <p:nvPr/>
        </p:nvSpPr>
        <p:spPr>
          <a:xfrm>
            <a:off x="5152644" y="1463040"/>
            <a:ext cx="493776" cy="493776"/>
          </a:xfrm>
          <a:prstGeom prst="ellipse">
            <a:avLst/>
          </a:prstGeom>
          <a:solidFill>
            <a:srgbClr val="1B4332"/>
          </a:solidFill>
          <a:ln w="12700">
            <a:solidFill>
              <a:srgbClr val="1B4332"/>
            </a:solidFill>
            <a:prstDash val="solid"/>
          </a:ln>
        </p:spPr>
      </p:sp>
      <p:sp>
        <p:nvSpPr>
          <p:cNvPr id="25" name="Text 23"/>
          <p:cNvSpPr/>
          <p:nvPr/>
        </p:nvSpPr>
        <p:spPr>
          <a:xfrm>
            <a:off x="5152644" y="1463040"/>
            <a:ext cx="493776"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4764024" y="2029968"/>
            <a:ext cx="1271016"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Morphological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Cleanup</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4764024" y="2578608"/>
            <a:ext cx="1271016"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Close gaps, median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blur noise removal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6117336" y="2514600"/>
            <a:ext cx="91440" cy="0"/>
          </a:xfrm>
          <a:prstGeom prst="line">
            <a:avLst/>
          </a:prstGeom>
          <a:noFill/>
          <a:ln w="25400">
            <a:solidFill>
              <a:srgbClr val="74C69D"/>
            </a:solidFill>
            <a:prstDash val="solid"/>
          </a:ln>
        </p:spPr>
      </p:sp>
      <p:sp>
        <p:nvSpPr>
          <p:cNvPr id="29" name="Shape 27"/>
          <p:cNvSpPr/>
          <p:nvPr/>
        </p:nvSpPr>
        <p:spPr>
          <a:xfrm>
            <a:off x="6170371" y="1709928"/>
            <a:ext cx="1417320" cy="2377440"/>
          </a:xfrm>
          <a:prstGeom prst="rect">
            <a:avLst/>
          </a:prstGeom>
          <a:solidFill>
            <a:srgbClr val="FFFFFF"/>
          </a:solidFill>
          <a:ln w="6350">
            <a:solidFill>
              <a:srgbClr val="E5E7EB"/>
            </a:solidFill>
            <a:prstDash val="solid"/>
          </a:ln>
          <a:effectLst>
            <a:outerShdw blurRad="101600" dist="25400" dir="8100000" algn="bl" rotWithShape="0">
              <a:srgbClr val="000000">
                <a:alpha val="10000"/>
              </a:srgbClr>
            </a:outerShdw>
          </a:effectLst>
        </p:spPr>
      </p:sp>
      <p:sp>
        <p:nvSpPr>
          <p:cNvPr id="30" name="Shape 28"/>
          <p:cNvSpPr/>
          <p:nvPr/>
        </p:nvSpPr>
        <p:spPr>
          <a:xfrm>
            <a:off x="6624828" y="1463040"/>
            <a:ext cx="493776" cy="493776"/>
          </a:xfrm>
          <a:prstGeom prst="ellipse">
            <a:avLst/>
          </a:prstGeom>
          <a:solidFill>
            <a:srgbClr val="1B4332"/>
          </a:solidFill>
          <a:ln w="12700">
            <a:solidFill>
              <a:srgbClr val="1B4332"/>
            </a:solidFill>
            <a:prstDash val="solid"/>
          </a:ln>
        </p:spPr>
      </p:sp>
      <p:sp>
        <p:nvSpPr>
          <p:cNvPr id="31" name="Text 29"/>
          <p:cNvSpPr/>
          <p:nvPr/>
        </p:nvSpPr>
        <p:spPr>
          <a:xfrm>
            <a:off x="6624828" y="1463040"/>
            <a:ext cx="493776"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6236208" y="2029968"/>
            <a:ext cx="1271016"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Apply Mask</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6236208" y="2578608"/>
            <a:ext cx="1271016"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Bitwise AND keeps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only grain pixels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7589520" y="2514600"/>
            <a:ext cx="91440" cy="0"/>
          </a:xfrm>
          <a:prstGeom prst="line">
            <a:avLst/>
          </a:prstGeom>
          <a:noFill/>
          <a:ln w="25400">
            <a:solidFill>
              <a:srgbClr val="74C69D"/>
            </a:solidFill>
            <a:prstDash val="solid"/>
          </a:ln>
        </p:spPr>
      </p:sp>
      <p:sp>
        <p:nvSpPr>
          <p:cNvPr id="35" name="Shape 33"/>
          <p:cNvSpPr/>
          <p:nvPr/>
        </p:nvSpPr>
        <p:spPr>
          <a:xfrm>
            <a:off x="7635240" y="1713586"/>
            <a:ext cx="1417320" cy="2377440"/>
          </a:xfrm>
          <a:prstGeom prst="rect">
            <a:avLst/>
          </a:prstGeom>
          <a:solidFill>
            <a:srgbClr val="1B4332"/>
          </a:solidFill>
          <a:ln w="6350">
            <a:solidFill>
              <a:srgbClr val="1B4332"/>
            </a:solidFill>
            <a:prstDash val="solid"/>
          </a:ln>
          <a:effectLst>
            <a:outerShdw blurRad="101600" dist="25400" dir="8100000" algn="bl" rotWithShape="0">
              <a:srgbClr val="000000">
                <a:alpha val="10000"/>
              </a:srgbClr>
            </a:outerShdw>
          </a:effectLst>
        </p:spPr>
      </p:sp>
      <p:sp>
        <p:nvSpPr>
          <p:cNvPr id="36" name="Shape 34"/>
          <p:cNvSpPr/>
          <p:nvPr/>
        </p:nvSpPr>
        <p:spPr>
          <a:xfrm>
            <a:off x="8097012" y="1463040"/>
            <a:ext cx="493776" cy="493776"/>
          </a:xfrm>
          <a:prstGeom prst="ellipse">
            <a:avLst/>
          </a:prstGeom>
          <a:solidFill>
            <a:srgbClr val="74C69D"/>
          </a:solidFill>
          <a:ln w="12700">
            <a:solidFill>
              <a:srgbClr val="74C69D"/>
            </a:solidFill>
            <a:prstDash val="solid"/>
          </a:ln>
        </p:spPr>
      </p:sp>
      <p:sp>
        <p:nvSpPr>
          <p:cNvPr id="37" name="Text 35"/>
          <p:cNvSpPr/>
          <p:nvPr/>
        </p:nvSpPr>
        <p:spPr>
          <a:xfrm>
            <a:off x="8097012" y="1463040"/>
            <a:ext cx="493776" cy="4937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B4332"/>
                </a:solidFill>
                <a:effectLst/>
                <a:uLnTx/>
                <a:uFillTx/>
                <a:latin typeface="Calibri" pitchFamily="34" charset="0"/>
                <a:ea typeface="Calibri" pitchFamily="34" charset="-122"/>
                <a:cs typeface="Calibri" pitchFamily="34" charset="-120"/>
              </a:rPr>
              <a:t>6</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7708392" y="2029968"/>
            <a:ext cx="1271016"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Resize &amp; Normalize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7708392" y="2578608"/>
            <a:ext cx="1271016"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8F3DC"/>
                </a:solidFill>
                <a:effectLst/>
                <a:uLnTx/>
                <a:uFillTx/>
                <a:latin typeface="Calibri" pitchFamily="34" charset="0"/>
                <a:ea typeface="Calibri" pitchFamily="34" charset="-122"/>
                <a:cs typeface="Calibri" pitchFamily="34" charset="-120"/>
              </a:rPr>
              <a:t>Output: 224×224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D8F3DC"/>
                </a:solidFill>
                <a:effectLst/>
                <a:uLnTx/>
                <a:uFillTx/>
                <a:latin typeface="Calibri" pitchFamily="34" charset="0"/>
                <a:ea typeface="Calibri" pitchFamily="34" charset="-122"/>
                <a:cs typeface="Calibri" pitchFamily="34" charset="-120"/>
              </a:rPr>
              <a:t>RGB float tensor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1"/>
        </a:solidFill>
        <a:effectLst/>
      </p:bgPr>
    </p:bg>
    <p:spTree>
      <p:nvGrpSpPr>
        <p:cNvPr id="1" name=""/>
        <p:cNvGrpSpPr/>
        <p:nvPr/>
      </p:nvGrpSpPr>
      <p:grpSpPr>
        <a:xfrm>
          <a:off x="0" y="0"/>
          <a:ext cx="0" cy="0"/>
          <a:chOff x="0" y="0"/>
          <a:chExt cx="0" cy="0"/>
        </a:xfrm>
      </p:grpSpPr>
      <p:sp>
        <p:nvSpPr>
          <p:cNvPr id="2" name="Shape 0"/>
          <p:cNvSpPr/>
          <p:nvPr/>
        </p:nvSpPr>
        <p:spPr>
          <a:xfrm>
            <a:off x="347472" y="228600"/>
            <a:ext cx="73152" cy="566928"/>
          </a:xfrm>
          <a:prstGeom prst="rect">
            <a:avLst/>
          </a:prstGeom>
          <a:solidFill>
            <a:srgbClr val="7CB87A"/>
          </a:solidFill>
          <a:ln w="12700">
            <a:solidFill>
              <a:srgbClr val="7CB87A"/>
            </a:solidFill>
            <a:prstDash val="solid"/>
          </a:ln>
        </p:spPr>
      </p:sp>
      <p:sp>
        <p:nvSpPr>
          <p:cNvPr id="3" name="Text 1"/>
          <p:cNvSpPr/>
          <p:nvPr/>
        </p:nvSpPr>
        <p:spPr>
          <a:xfrm>
            <a:off x="521208" y="192024"/>
            <a:ext cx="8275320" cy="676656"/>
          </a:xfrm>
          <a:prstGeom prst="rect">
            <a:avLst/>
          </a:prstGeom>
          <a:noFill/>
          <a:ln/>
        </p:spPr>
        <p:txBody>
          <a:bodyPr wrap="square" lIns="0" tIns="0" rIns="0" bIns="0" rtlCol="0" anchor="ctr"/>
          <a:lstStyle/>
          <a:p>
            <a:pPr marL="0" indent="0">
              <a:buNone/>
            </a:pPr>
            <a:r>
              <a:rPr lang="en-US" sz="2700" b="1" dirty="0">
                <a:solidFill>
                  <a:srgbClr val="1B4D2E"/>
                </a:solidFill>
                <a:latin typeface="Cambria" pitchFamily="34" charset="0"/>
                <a:ea typeface="Cambria" pitchFamily="34" charset="-122"/>
                <a:cs typeface="Cambria" pitchFamily="34" charset="-120"/>
              </a:rPr>
              <a:t>Model Architectures Overview</a:t>
            </a:r>
            <a:endParaRPr lang="en-US" sz="2700" dirty="0"/>
          </a:p>
        </p:txBody>
      </p:sp>
      <p:sp>
        <p:nvSpPr>
          <p:cNvPr id="5" name="Shape 3"/>
          <p:cNvSpPr/>
          <p:nvPr/>
        </p:nvSpPr>
        <p:spPr>
          <a:xfrm>
            <a:off x="347472" y="868680"/>
            <a:ext cx="8449056" cy="0"/>
          </a:xfrm>
          <a:prstGeom prst="line">
            <a:avLst/>
          </a:prstGeom>
          <a:noFill/>
          <a:ln w="12700">
            <a:solidFill>
              <a:srgbClr val="C2D6B8"/>
            </a:solidFill>
            <a:prstDash val="solid"/>
          </a:ln>
        </p:spPr>
      </p:sp>
      <p:sp>
        <p:nvSpPr>
          <p:cNvPr id="6" name="Text 4"/>
          <p:cNvSpPr/>
          <p:nvPr/>
        </p:nvSpPr>
        <p:spPr>
          <a:xfrm>
            <a:off x="8046720" y="4892040"/>
            <a:ext cx="914400" cy="182880"/>
          </a:xfrm>
          <a:prstGeom prst="rect">
            <a:avLst/>
          </a:prstGeom>
          <a:noFill/>
          <a:ln/>
        </p:spPr>
        <p:txBody>
          <a:bodyPr wrap="square" rtlCol="0" anchor="ctr"/>
          <a:lstStyle/>
          <a:p>
            <a:pPr marL="0" indent="0" algn="r">
              <a:buNone/>
            </a:pPr>
            <a:r>
              <a:rPr lang="en-US" sz="1000" dirty="0">
                <a:solidFill>
                  <a:srgbClr val="607060"/>
                </a:solidFill>
                <a:latin typeface="Calibri" pitchFamily="34" charset="0"/>
                <a:ea typeface="Calibri" pitchFamily="34" charset="-122"/>
                <a:cs typeface="Calibri" pitchFamily="34" charset="-120"/>
              </a:rPr>
              <a:t>7 / 22</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354629846"/>
              </p:ext>
            </p:extLst>
          </p:nvPr>
        </p:nvGraphicFramePr>
        <p:xfrm>
          <a:off x="347472" y="868680"/>
          <a:ext cx="8449056" cy="3456432"/>
        </p:xfrm>
        <a:graphic>
          <a:graphicData uri="http://schemas.openxmlformats.org/drawingml/2006/table">
            <a:tbl>
              <a:tblPr/>
              <a:tblGrid>
                <a:gridCol w="187452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2322576">
                  <a:extLst>
                    <a:ext uri="{9D8B030D-6E8A-4147-A177-3AD203B41FA5}">
                      <a16:colId xmlns:a16="http://schemas.microsoft.com/office/drawing/2014/main" val="20004"/>
                    </a:ext>
                  </a:extLst>
                </a:gridCol>
              </a:tblGrid>
              <a:tr h="493776">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Library</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Input</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Normalisation</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2C5F2D"/>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Design Focus</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493776">
                <a:tc>
                  <a:txBody>
                    <a:bodyPr/>
                    <a:lstStyle/>
                    <a:p>
                      <a:pPr marL="0" indent="0" algn="l">
                        <a:buNone/>
                      </a:pPr>
                      <a:r>
                        <a:rPr lang="en-US" sz="1200" dirty="0">
                          <a:solidFill>
                            <a:srgbClr val="2D3D2A"/>
                          </a:solidFill>
                          <a:latin typeface="Calibri" pitchFamily="34" charset="0"/>
                          <a:ea typeface="Calibri" pitchFamily="34" charset="-122"/>
                          <a:cs typeface="Calibri" pitchFamily="34" charset="-120"/>
                        </a:rPr>
                        <a:t>EfficientNetB0</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torchvision</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224×224</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Standard ImageNet</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D3D2A"/>
                          </a:solidFill>
                          <a:latin typeface="Calibri" pitchFamily="34" charset="0"/>
                          <a:ea typeface="Calibri" pitchFamily="34" charset="-122"/>
                          <a:cs typeface="Calibri" pitchFamily="34" charset="-120"/>
                        </a:rPr>
                        <a:t>Compound scaling — efficient accuracy</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marL="0" indent="0" algn="l">
                        <a:buNone/>
                      </a:pPr>
                      <a:r>
                        <a:rPr lang="en-US" sz="1200" dirty="0">
                          <a:solidFill>
                            <a:srgbClr val="2D3D2A"/>
                          </a:solidFill>
                          <a:latin typeface="Calibri" pitchFamily="34" charset="0"/>
                          <a:ea typeface="Calibri" pitchFamily="34" charset="-122"/>
                          <a:cs typeface="Calibri" pitchFamily="34" charset="-120"/>
                        </a:rPr>
                        <a:t>MobileNetV2</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torchvision</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224×224</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Standard ImageNet</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D3D2A"/>
                          </a:solidFill>
                          <a:latin typeface="Calibri" pitchFamily="34" charset="0"/>
                          <a:ea typeface="Calibri" pitchFamily="34" charset="-122"/>
                          <a:cs typeface="Calibri" pitchFamily="34" charset="-120"/>
                        </a:rPr>
                        <a:t>Inverted residuals — mobile/edge optimised</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lgn="l">
                        <a:buNone/>
                      </a:pPr>
                      <a:r>
                        <a:rPr lang="en-US" sz="1200" dirty="0">
                          <a:solidFill>
                            <a:srgbClr val="2D3D2A"/>
                          </a:solidFill>
                          <a:latin typeface="Calibri" pitchFamily="34" charset="0"/>
                          <a:ea typeface="Calibri" pitchFamily="34" charset="-122"/>
                          <a:cs typeface="Calibri" pitchFamily="34" charset="-120"/>
                        </a:rPr>
                        <a:t>VGG16</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torchvision</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224×224</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Standard ImageNet</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D3D2A"/>
                          </a:solidFill>
                          <a:latin typeface="Calibri" pitchFamily="34" charset="0"/>
                          <a:ea typeface="Calibri" pitchFamily="34" charset="-122"/>
                          <a:cs typeface="Calibri" pitchFamily="34" charset="-120"/>
                        </a:rPr>
                        <a:t>Deep sequential convolutions</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marL="0" indent="0" algn="l">
                        <a:buNone/>
                      </a:pPr>
                      <a:r>
                        <a:rPr lang="en-US" sz="1200" dirty="0">
                          <a:solidFill>
                            <a:srgbClr val="2D3D2A"/>
                          </a:solidFill>
                          <a:latin typeface="Calibri" pitchFamily="34" charset="0"/>
                          <a:ea typeface="Calibri" pitchFamily="34" charset="-122"/>
                          <a:cs typeface="Calibri" pitchFamily="34" charset="-120"/>
                        </a:rPr>
                        <a:t>InceptionV3</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torchvision</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299×299</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Inception (μ=0.5)</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D3D2A"/>
                          </a:solidFill>
                          <a:latin typeface="Calibri" pitchFamily="34" charset="0"/>
                          <a:ea typeface="Calibri" pitchFamily="34" charset="-122"/>
                          <a:cs typeface="Calibri" pitchFamily="34" charset="-120"/>
                        </a:rPr>
                        <a:t>Multi-scale parallel branches</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marL="0" indent="0" algn="l">
                        <a:buNone/>
                      </a:pPr>
                      <a:r>
                        <a:rPr lang="en-US" sz="1200" dirty="0">
                          <a:solidFill>
                            <a:srgbClr val="2D3D2A"/>
                          </a:solidFill>
                          <a:latin typeface="Calibri" pitchFamily="34" charset="0"/>
                          <a:ea typeface="Calibri" pitchFamily="34" charset="-122"/>
                          <a:cs typeface="Calibri" pitchFamily="34" charset="-120"/>
                        </a:rPr>
                        <a:t>Xception</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timm</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299×299</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Inception (μ=0.5)</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D3D2A"/>
                          </a:solidFill>
                          <a:latin typeface="Calibri" pitchFamily="34" charset="0"/>
                          <a:ea typeface="Calibri" pitchFamily="34" charset="-122"/>
                          <a:cs typeface="Calibri" pitchFamily="34" charset="-120"/>
                        </a:rPr>
                        <a:t>Depthwise separable convolutions</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marL="0" indent="0" algn="l">
                        <a:buNone/>
                      </a:pPr>
                      <a:r>
                        <a:rPr lang="en-US" sz="1200" dirty="0">
                          <a:solidFill>
                            <a:srgbClr val="2D3D2A"/>
                          </a:solidFill>
                          <a:latin typeface="Calibri" pitchFamily="34" charset="0"/>
                          <a:ea typeface="Calibri" pitchFamily="34" charset="-122"/>
                          <a:cs typeface="Calibri" pitchFamily="34" charset="-120"/>
                        </a:rPr>
                        <a:t>InceptionResNetV2</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timm</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299×299</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Inception (μ=0.5)</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D3D2A"/>
                          </a:solidFill>
                          <a:latin typeface="Calibri" pitchFamily="34" charset="0"/>
                          <a:ea typeface="Calibri" pitchFamily="34" charset="-122"/>
                          <a:cs typeface="Calibri" pitchFamily="34" charset="-120"/>
                        </a:rPr>
                        <a:t>Residual connections + inception modules</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1"/>
        </a:solidFill>
        <a:effectLst/>
      </p:bgPr>
    </p:bg>
    <p:spTree>
      <p:nvGrpSpPr>
        <p:cNvPr id="1" name=""/>
        <p:cNvGrpSpPr/>
        <p:nvPr/>
      </p:nvGrpSpPr>
      <p:grpSpPr>
        <a:xfrm>
          <a:off x="0" y="0"/>
          <a:ext cx="0" cy="0"/>
          <a:chOff x="0" y="0"/>
          <a:chExt cx="0" cy="0"/>
        </a:xfrm>
      </p:grpSpPr>
      <p:sp>
        <p:nvSpPr>
          <p:cNvPr id="2" name="Shape 0"/>
          <p:cNvSpPr/>
          <p:nvPr/>
        </p:nvSpPr>
        <p:spPr>
          <a:xfrm>
            <a:off x="347472" y="228600"/>
            <a:ext cx="73152" cy="566928"/>
          </a:xfrm>
          <a:prstGeom prst="rect">
            <a:avLst/>
          </a:prstGeom>
          <a:solidFill>
            <a:srgbClr val="7CB87A"/>
          </a:solidFill>
          <a:ln w="12700">
            <a:solidFill>
              <a:srgbClr val="7CB87A"/>
            </a:solidFill>
            <a:prstDash val="solid"/>
          </a:ln>
        </p:spPr>
      </p:sp>
      <p:sp>
        <p:nvSpPr>
          <p:cNvPr id="3" name="Text 1"/>
          <p:cNvSpPr/>
          <p:nvPr/>
        </p:nvSpPr>
        <p:spPr>
          <a:xfrm>
            <a:off x="521208" y="192024"/>
            <a:ext cx="8275320" cy="676656"/>
          </a:xfrm>
          <a:prstGeom prst="rect">
            <a:avLst/>
          </a:prstGeom>
          <a:noFill/>
          <a:ln/>
        </p:spPr>
        <p:txBody>
          <a:bodyPr wrap="square" lIns="0" tIns="0" rIns="0" bIns="0" rtlCol="0" anchor="ctr"/>
          <a:lstStyle/>
          <a:p>
            <a:pPr marL="0" indent="0">
              <a:buNone/>
            </a:pPr>
            <a:r>
              <a:rPr lang="en-US" sz="2700" b="1" dirty="0">
                <a:solidFill>
                  <a:srgbClr val="1B4D2E"/>
                </a:solidFill>
                <a:latin typeface="Cambria" pitchFamily="34" charset="0"/>
                <a:ea typeface="Cambria" pitchFamily="34" charset="-122"/>
                <a:cs typeface="Cambria" pitchFamily="34" charset="-120"/>
              </a:rPr>
              <a:t>Custom Classifier Head Design</a:t>
            </a:r>
            <a:endParaRPr lang="en-US" sz="2700" dirty="0"/>
          </a:p>
        </p:txBody>
      </p:sp>
      <p:sp>
        <p:nvSpPr>
          <p:cNvPr id="6" name="Text 4"/>
          <p:cNvSpPr/>
          <p:nvPr/>
        </p:nvSpPr>
        <p:spPr>
          <a:xfrm>
            <a:off x="8046720" y="4892040"/>
            <a:ext cx="914400" cy="182880"/>
          </a:xfrm>
          <a:prstGeom prst="rect">
            <a:avLst/>
          </a:prstGeom>
          <a:noFill/>
          <a:ln/>
        </p:spPr>
        <p:txBody>
          <a:bodyPr wrap="square" rtlCol="0" anchor="ctr"/>
          <a:lstStyle/>
          <a:p>
            <a:pPr marL="0" indent="0" algn="r">
              <a:buNone/>
            </a:pPr>
            <a:r>
              <a:rPr lang="en-US" sz="1000" dirty="0">
                <a:solidFill>
                  <a:srgbClr val="607060"/>
                </a:solidFill>
                <a:latin typeface="Calibri" pitchFamily="34" charset="0"/>
                <a:ea typeface="Calibri" pitchFamily="34" charset="-122"/>
                <a:cs typeface="Calibri" pitchFamily="34" charset="-120"/>
              </a:rPr>
              <a:t>8 / 22</a:t>
            </a:r>
            <a:endParaRPr lang="en-US" sz="1000" dirty="0"/>
          </a:p>
        </p:txBody>
      </p:sp>
      <p:sp>
        <p:nvSpPr>
          <p:cNvPr id="7" name="Shape 5"/>
          <p:cNvSpPr/>
          <p:nvPr/>
        </p:nvSpPr>
        <p:spPr>
          <a:xfrm>
            <a:off x="425196" y="1051560"/>
            <a:ext cx="3017520" cy="3657600"/>
          </a:xfrm>
          <a:prstGeom prst="rect">
            <a:avLst/>
          </a:prstGeom>
          <a:solidFill>
            <a:srgbClr val="1B4D2E"/>
          </a:solidFill>
          <a:ln w="12700">
            <a:solidFill>
              <a:srgbClr val="1B4D2E"/>
            </a:solidFill>
            <a:prstDash val="solid"/>
          </a:ln>
          <a:effectLst>
            <a:outerShdw blurRad="63500" dist="25400" dir="8100000" algn="bl" rotWithShape="0">
              <a:srgbClr val="000000">
                <a:alpha val="9000"/>
              </a:srgbClr>
            </a:outerShdw>
          </a:effectLst>
        </p:spPr>
      </p:sp>
      <p:sp>
        <p:nvSpPr>
          <p:cNvPr id="8" name="Text 6"/>
          <p:cNvSpPr/>
          <p:nvPr/>
        </p:nvSpPr>
        <p:spPr>
          <a:xfrm>
            <a:off x="438912" y="1188720"/>
            <a:ext cx="2834640" cy="731520"/>
          </a:xfrm>
          <a:prstGeom prst="rect">
            <a:avLst/>
          </a:prstGeom>
          <a:noFill/>
          <a:ln/>
        </p:spPr>
        <p:txBody>
          <a:bodyPr wrap="square" rtlCol="0" anchor="ctr"/>
          <a:lstStyle/>
          <a:p>
            <a:pPr marL="0" indent="0" algn="ctr">
              <a:buNone/>
            </a:pPr>
            <a:r>
              <a:rPr lang="en-US" sz="1700" b="1" dirty="0">
                <a:solidFill>
                  <a:srgbClr val="7CB87A"/>
                </a:solidFill>
                <a:latin typeface="Cambria" pitchFamily="34" charset="0"/>
                <a:ea typeface="Cambria" pitchFamily="34" charset="-122"/>
                <a:cs typeface="Cambria" pitchFamily="34" charset="-120"/>
              </a:rPr>
              <a:t>Pre-trained</a:t>
            </a:r>
            <a:endParaRPr lang="en-US" sz="1700" dirty="0"/>
          </a:p>
          <a:p>
            <a:pPr marL="0" indent="0" algn="ctr">
              <a:buNone/>
            </a:pPr>
            <a:r>
              <a:rPr lang="en-US" sz="1700" b="1" dirty="0">
                <a:solidFill>
                  <a:srgbClr val="7CB87A"/>
                </a:solidFill>
                <a:latin typeface="Cambria" pitchFamily="34" charset="0"/>
                <a:ea typeface="Cambria" pitchFamily="34" charset="-122"/>
                <a:cs typeface="Cambria" pitchFamily="34" charset="-120"/>
              </a:rPr>
              <a:t>Backbone</a:t>
            </a:r>
            <a:endParaRPr lang="en-US" sz="1700" dirty="0"/>
          </a:p>
        </p:txBody>
      </p:sp>
      <p:sp>
        <p:nvSpPr>
          <p:cNvPr id="9" name="Shape 7"/>
          <p:cNvSpPr/>
          <p:nvPr/>
        </p:nvSpPr>
        <p:spPr>
          <a:xfrm>
            <a:off x="502920" y="1965960"/>
            <a:ext cx="2651760" cy="0"/>
          </a:xfrm>
          <a:prstGeom prst="line">
            <a:avLst/>
          </a:prstGeom>
          <a:noFill/>
          <a:ln w="12700">
            <a:solidFill>
              <a:srgbClr val="4A8C3F"/>
            </a:solidFill>
            <a:prstDash val="solid"/>
          </a:ln>
        </p:spPr>
      </p:sp>
      <p:sp>
        <p:nvSpPr>
          <p:cNvPr id="10" name="Text 8"/>
          <p:cNvSpPr/>
          <p:nvPr/>
        </p:nvSpPr>
        <p:spPr>
          <a:xfrm>
            <a:off x="475488" y="2029968"/>
            <a:ext cx="2788920" cy="2423160"/>
          </a:xfrm>
          <a:prstGeom prst="rect">
            <a:avLst/>
          </a:prstGeom>
          <a:noFill/>
          <a:ln/>
        </p:spPr>
        <p:txBody>
          <a:bodyPr wrap="square" rtlCol="0" anchor="ctr"/>
          <a:lstStyle/>
          <a:p>
            <a:pPr marL="342900" indent="-342900">
              <a:spcAft>
                <a:spcPts val="300"/>
              </a:spcAft>
              <a:buSzPct val="100000"/>
              <a:buChar char="•"/>
            </a:pPr>
            <a:r>
              <a:rPr lang="en-US" sz="1200" dirty="0">
                <a:solidFill>
                  <a:srgbClr val="C8DFA0"/>
                </a:solidFill>
                <a:latin typeface="Calibri" pitchFamily="34" charset="0"/>
                <a:ea typeface="Calibri" pitchFamily="34" charset="-122"/>
                <a:cs typeface="Calibri" pitchFamily="34" charset="-120"/>
              </a:rPr>
              <a:t>ImageNet pre-trained weights</a:t>
            </a:r>
            <a:endParaRPr lang="en-US" sz="1200" dirty="0"/>
          </a:p>
          <a:p>
            <a:pPr marL="342900" indent="-342900">
              <a:spcAft>
                <a:spcPts val="300"/>
              </a:spcAft>
              <a:buSzPct val="100000"/>
              <a:buChar char="•"/>
            </a:pPr>
            <a:r>
              <a:rPr lang="en-US" sz="1200" dirty="0">
                <a:solidFill>
                  <a:srgbClr val="C8DFA0"/>
                </a:solidFill>
                <a:latin typeface="Calibri" pitchFamily="34" charset="0"/>
                <a:ea typeface="Calibri" pitchFamily="34" charset="-122"/>
                <a:cs typeface="Calibri" pitchFamily="34" charset="-120"/>
              </a:rPr>
              <a:t>Convolutional feature extractor</a:t>
            </a:r>
            <a:endParaRPr lang="en-US" sz="1200" dirty="0"/>
          </a:p>
          <a:p>
            <a:pPr marL="342900" indent="-342900">
              <a:spcAft>
                <a:spcPts val="300"/>
              </a:spcAft>
              <a:buSzPct val="100000"/>
              <a:buChar char="•"/>
            </a:pPr>
            <a:r>
              <a:rPr lang="en-US" sz="1200" dirty="0">
                <a:solidFill>
                  <a:srgbClr val="C8DFA0"/>
                </a:solidFill>
                <a:latin typeface="Calibri" pitchFamily="34" charset="0"/>
                <a:ea typeface="Calibri" pitchFamily="34" charset="-122"/>
                <a:cs typeface="Calibri" pitchFamily="34" charset="-120"/>
              </a:rPr>
              <a:t>Global average pooling</a:t>
            </a:r>
            <a:endParaRPr lang="en-US" sz="1200" dirty="0"/>
          </a:p>
          <a:p>
            <a:pPr marL="342900" indent="-342900">
              <a:spcAft>
                <a:spcPts val="300"/>
              </a:spcAft>
              <a:buSzPct val="100000"/>
              <a:buChar char="•"/>
            </a:pPr>
            <a:r>
              <a:rPr lang="en-US" sz="1200" dirty="0">
                <a:solidFill>
                  <a:srgbClr val="C8DFA0"/>
                </a:solidFill>
                <a:latin typeface="Calibri" pitchFamily="34" charset="0"/>
                <a:ea typeface="Calibri" pitchFamily="34" charset="-122"/>
                <a:cs typeface="Calibri" pitchFamily="34" charset="-120"/>
              </a:rPr>
              <a:t>BatchNorm stats FROZEN</a:t>
            </a:r>
            <a:endParaRPr lang="en-US" sz="1200" dirty="0"/>
          </a:p>
          <a:p>
            <a:pPr marL="342900" indent="-342900">
              <a:spcAft>
                <a:spcPts val="300"/>
              </a:spcAft>
              <a:buSzPct val="100000"/>
              <a:buChar char="•"/>
            </a:pPr>
            <a:r>
              <a:rPr lang="en-US" sz="1200" dirty="0">
                <a:solidFill>
                  <a:srgbClr val="C8DFA0"/>
                </a:solidFill>
                <a:latin typeface="Calibri" pitchFamily="34" charset="0"/>
                <a:ea typeface="Calibri" pitchFamily="34" charset="-122"/>
                <a:cs typeface="Calibri" pitchFamily="34" charset="-120"/>
              </a:rPr>
              <a:t>Gradients still flow through</a:t>
            </a:r>
            <a:endParaRPr lang="en-US" sz="1200" dirty="0"/>
          </a:p>
        </p:txBody>
      </p:sp>
      <p:sp>
        <p:nvSpPr>
          <p:cNvPr id="12" name="Shape 10"/>
          <p:cNvSpPr/>
          <p:nvPr/>
        </p:nvSpPr>
        <p:spPr>
          <a:xfrm>
            <a:off x="3913632" y="1042416"/>
            <a:ext cx="4882896" cy="374904"/>
          </a:xfrm>
          <a:prstGeom prst="rect">
            <a:avLst/>
          </a:prstGeom>
          <a:solidFill>
            <a:srgbClr val="4A8C3F"/>
          </a:solidFill>
          <a:ln w="9525">
            <a:solidFill>
              <a:srgbClr val="C2D6B8"/>
            </a:solidFill>
            <a:prstDash val="solid"/>
          </a:ln>
          <a:effectLst>
            <a:outerShdw blurRad="63500" dist="25400" dir="8100000" algn="bl" rotWithShape="0">
              <a:srgbClr val="000000">
                <a:alpha val="9000"/>
              </a:srgbClr>
            </a:outerShdw>
          </a:effectLst>
        </p:spPr>
      </p:sp>
      <p:sp>
        <p:nvSpPr>
          <p:cNvPr id="13" name="Text 11"/>
          <p:cNvSpPr/>
          <p:nvPr/>
        </p:nvSpPr>
        <p:spPr>
          <a:xfrm>
            <a:off x="4023360" y="1042416"/>
            <a:ext cx="2539106" cy="37490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BatchNorm1d  (in_features)</a:t>
            </a:r>
            <a:endParaRPr lang="en-US" sz="1200" dirty="0"/>
          </a:p>
        </p:txBody>
      </p:sp>
      <p:sp>
        <p:nvSpPr>
          <p:cNvPr id="14" name="Text 12"/>
          <p:cNvSpPr/>
          <p:nvPr/>
        </p:nvSpPr>
        <p:spPr>
          <a:xfrm>
            <a:off x="6498458" y="1042416"/>
            <a:ext cx="2246132" cy="374904"/>
          </a:xfrm>
          <a:prstGeom prst="rect">
            <a:avLst/>
          </a:prstGeom>
          <a:noFill/>
          <a:ln/>
        </p:spPr>
        <p:txBody>
          <a:bodyPr wrap="square" rtlCol="0" anchor="ctr"/>
          <a:lstStyle/>
          <a:p>
            <a:pPr marL="0" indent="0">
              <a:buNone/>
            </a:pPr>
            <a:r>
              <a:rPr lang="en-US" sz="1050" i="1" dirty="0">
                <a:solidFill>
                  <a:srgbClr val="607060"/>
                </a:solidFill>
                <a:latin typeface="Calibri" pitchFamily="34" charset="0"/>
                <a:ea typeface="Calibri" pitchFamily="34" charset="-122"/>
                <a:cs typeface="Calibri" pitchFamily="34" charset="-120"/>
              </a:rPr>
              <a:t>Normalise backbone features</a:t>
            </a:r>
            <a:endParaRPr lang="en-US" sz="1050" dirty="0"/>
          </a:p>
        </p:txBody>
      </p:sp>
      <p:sp>
        <p:nvSpPr>
          <p:cNvPr id="15" name="Text 13"/>
          <p:cNvSpPr/>
          <p:nvPr/>
        </p:nvSpPr>
        <p:spPr>
          <a:xfrm>
            <a:off x="6172200" y="1417320"/>
            <a:ext cx="365760" cy="73152"/>
          </a:xfrm>
          <a:prstGeom prst="rect">
            <a:avLst/>
          </a:prstGeom>
          <a:noFill/>
          <a:ln/>
        </p:spPr>
        <p:txBody>
          <a:bodyPr wrap="square" rtlCol="0" anchor="ctr"/>
          <a:lstStyle/>
          <a:p>
            <a:pPr marL="0" indent="0" algn="ctr">
              <a:buNone/>
            </a:pPr>
            <a:r>
              <a:rPr lang="en-US" sz="900" dirty="0">
                <a:solidFill>
                  <a:srgbClr val="C2D6B8"/>
                </a:solidFill>
                <a:latin typeface="Calibri" pitchFamily="34" charset="0"/>
                <a:ea typeface="Calibri" pitchFamily="34" charset="-122"/>
                <a:cs typeface="Calibri" pitchFamily="34" charset="-120"/>
              </a:rPr>
              <a:t>↓</a:t>
            </a:r>
            <a:endParaRPr lang="en-US" sz="900" dirty="0"/>
          </a:p>
        </p:txBody>
      </p:sp>
      <p:sp>
        <p:nvSpPr>
          <p:cNvPr id="16" name="Shape 14"/>
          <p:cNvSpPr/>
          <p:nvPr/>
        </p:nvSpPr>
        <p:spPr>
          <a:xfrm>
            <a:off x="3913632" y="1490472"/>
            <a:ext cx="4882896" cy="374904"/>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17" name="Text 15"/>
          <p:cNvSpPr/>
          <p:nvPr/>
        </p:nvSpPr>
        <p:spPr>
          <a:xfrm>
            <a:off x="4023360" y="1490472"/>
            <a:ext cx="2539106" cy="374904"/>
          </a:xfrm>
          <a:prstGeom prst="rect">
            <a:avLst/>
          </a:prstGeom>
          <a:noFill/>
          <a:ln/>
        </p:spPr>
        <p:txBody>
          <a:bodyPr wrap="square" rtlCol="0" anchor="ctr"/>
          <a:lstStyle/>
          <a:p>
            <a:pPr marL="0" indent="0">
              <a:buNone/>
            </a:pPr>
            <a:r>
              <a:rPr lang="en-US" sz="1200" b="1" dirty="0">
                <a:solidFill>
                  <a:srgbClr val="1B4D2E"/>
                </a:solidFill>
                <a:latin typeface="Calibri" pitchFamily="34" charset="0"/>
                <a:ea typeface="Calibri" pitchFamily="34" charset="-122"/>
                <a:cs typeface="Calibri" pitchFamily="34" charset="-120"/>
              </a:rPr>
              <a:t>Linear  →  512</a:t>
            </a:r>
            <a:endParaRPr lang="en-US" sz="1200" dirty="0"/>
          </a:p>
        </p:txBody>
      </p:sp>
      <p:sp>
        <p:nvSpPr>
          <p:cNvPr id="18" name="Text 16"/>
          <p:cNvSpPr/>
          <p:nvPr/>
        </p:nvSpPr>
        <p:spPr>
          <a:xfrm>
            <a:off x="6498458" y="1490472"/>
            <a:ext cx="2246132" cy="374904"/>
          </a:xfrm>
          <a:prstGeom prst="rect">
            <a:avLst/>
          </a:prstGeom>
          <a:noFill/>
          <a:ln/>
        </p:spPr>
        <p:txBody>
          <a:bodyPr wrap="square" rtlCol="0" anchor="ctr"/>
          <a:lstStyle/>
          <a:p>
            <a:pPr marL="0" indent="0">
              <a:buNone/>
            </a:pPr>
            <a:r>
              <a:rPr lang="en-US" sz="1050" i="1" dirty="0">
                <a:solidFill>
                  <a:srgbClr val="607060"/>
                </a:solidFill>
                <a:latin typeface="Calibri" pitchFamily="34" charset="0"/>
                <a:ea typeface="Calibri" pitchFamily="34" charset="-122"/>
                <a:cs typeface="Calibri" pitchFamily="34" charset="-120"/>
              </a:rPr>
              <a:t>Project to hidden space</a:t>
            </a:r>
            <a:endParaRPr lang="en-US" sz="1050" dirty="0"/>
          </a:p>
        </p:txBody>
      </p:sp>
      <p:sp>
        <p:nvSpPr>
          <p:cNvPr id="19" name="Text 17"/>
          <p:cNvSpPr/>
          <p:nvPr/>
        </p:nvSpPr>
        <p:spPr>
          <a:xfrm>
            <a:off x="6172200" y="1865376"/>
            <a:ext cx="365760" cy="73152"/>
          </a:xfrm>
          <a:prstGeom prst="rect">
            <a:avLst/>
          </a:prstGeom>
          <a:noFill/>
          <a:ln/>
        </p:spPr>
        <p:txBody>
          <a:bodyPr wrap="square" rtlCol="0" anchor="ctr"/>
          <a:lstStyle/>
          <a:p>
            <a:pPr marL="0" indent="0" algn="ctr">
              <a:buNone/>
            </a:pPr>
            <a:r>
              <a:rPr lang="en-US" sz="900" dirty="0">
                <a:solidFill>
                  <a:srgbClr val="C2D6B8"/>
                </a:solidFill>
                <a:latin typeface="Calibri" pitchFamily="34" charset="0"/>
                <a:ea typeface="Calibri" pitchFamily="34" charset="-122"/>
                <a:cs typeface="Calibri" pitchFamily="34" charset="-120"/>
              </a:rPr>
              <a:t>↓</a:t>
            </a:r>
            <a:endParaRPr lang="en-US" sz="900" dirty="0"/>
          </a:p>
        </p:txBody>
      </p:sp>
      <p:sp>
        <p:nvSpPr>
          <p:cNvPr id="20" name="Shape 18"/>
          <p:cNvSpPr/>
          <p:nvPr/>
        </p:nvSpPr>
        <p:spPr>
          <a:xfrm>
            <a:off x="3913632" y="1938528"/>
            <a:ext cx="4882896" cy="374904"/>
          </a:xfrm>
          <a:prstGeom prst="rect">
            <a:avLst/>
          </a:prstGeom>
          <a:solidFill>
            <a:srgbClr val="E8F5E2"/>
          </a:solidFill>
          <a:ln w="9525">
            <a:solidFill>
              <a:srgbClr val="C2D6B8"/>
            </a:solidFill>
            <a:prstDash val="solid"/>
          </a:ln>
          <a:effectLst>
            <a:outerShdw blurRad="63500" dist="25400" dir="8100000" algn="bl" rotWithShape="0">
              <a:srgbClr val="000000">
                <a:alpha val="9000"/>
              </a:srgbClr>
            </a:outerShdw>
          </a:effectLst>
        </p:spPr>
      </p:sp>
      <p:sp>
        <p:nvSpPr>
          <p:cNvPr id="21" name="Text 19"/>
          <p:cNvSpPr/>
          <p:nvPr/>
        </p:nvSpPr>
        <p:spPr>
          <a:xfrm>
            <a:off x="4023360" y="1938528"/>
            <a:ext cx="2539106" cy="374904"/>
          </a:xfrm>
          <a:prstGeom prst="rect">
            <a:avLst/>
          </a:prstGeom>
          <a:noFill/>
          <a:ln/>
        </p:spPr>
        <p:txBody>
          <a:bodyPr wrap="square" rtlCol="0" anchor="ctr"/>
          <a:lstStyle/>
          <a:p>
            <a:pPr marL="0" indent="0">
              <a:buNone/>
            </a:pPr>
            <a:r>
              <a:rPr lang="en-US" sz="1200" b="1" dirty="0">
                <a:solidFill>
                  <a:srgbClr val="1B4D2E"/>
                </a:solidFill>
                <a:latin typeface="Calibri" pitchFamily="34" charset="0"/>
                <a:ea typeface="Calibri" pitchFamily="34" charset="-122"/>
                <a:cs typeface="Calibri" pitchFamily="34" charset="-120"/>
              </a:rPr>
              <a:t>ReLU</a:t>
            </a:r>
            <a:endParaRPr lang="en-US" sz="1200" dirty="0"/>
          </a:p>
        </p:txBody>
      </p:sp>
      <p:sp>
        <p:nvSpPr>
          <p:cNvPr id="22" name="Text 20"/>
          <p:cNvSpPr/>
          <p:nvPr/>
        </p:nvSpPr>
        <p:spPr>
          <a:xfrm>
            <a:off x="6498458" y="1938528"/>
            <a:ext cx="2246132" cy="374904"/>
          </a:xfrm>
          <a:prstGeom prst="rect">
            <a:avLst/>
          </a:prstGeom>
          <a:noFill/>
          <a:ln/>
        </p:spPr>
        <p:txBody>
          <a:bodyPr wrap="square" rtlCol="0" anchor="ctr"/>
          <a:lstStyle/>
          <a:p>
            <a:pPr marL="0" indent="0">
              <a:buNone/>
            </a:pPr>
            <a:r>
              <a:rPr lang="en-US" sz="1050" i="1" dirty="0">
                <a:solidFill>
                  <a:srgbClr val="607060"/>
                </a:solidFill>
                <a:latin typeface="Calibri" pitchFamily="34" charset="0"/>
                <a:ea typeface="Calibri" pitchFamily="34" charset="-122"/>
                <a:cs typeface="Calibri" pitchFamily="34" charset="-120"/>
              </a:rPr>
              <a:t>Non-linear activation</a:t>
            </a:r>
            <a:endParaRPr lang="en-US" sz="1050" dirty="0"/>
          </a:p>
        </p:txBody>
      </p:sp>
      <p:sp>
        <p:nvSpPr>
          <p:cNvPr id="23" name="Text 21"/>
          <p:cNvSpPr/>
          <p:nvPr/>
        </p:nvSpPr>
        <p:spPr>
          <a:xfrm>
            <a:off x="6172200" y="2313432"/>
            <a:ext cx="365760" cy="73152"/>
          </a:xfrm>
          <a:prstGeom prst="rect">
            <a:avLst/>
          </a:prstGeom>
          <a:noFill/>
          <a:ln/>
        </p:spPr>
        <p:txBody>
          <a:bodyPr wrap="square" rtlCol="0" anchor="ctr"/>
          <a:lstStyle/>
          <a:p>
            <a:pPr marL="0" indent="0" algn="ctr">
              <a:buNone/>
            </a:pPr>
            <a:r>
              <a:rPr lang="en-US" sz="900" dirty="0">
                <a:solidFill>
                  <a:srgbClr val="C2D6B8"/>
                </a:solidFill>
                <a:latin typeface="Calibri" pitchFamily="34" charset="0"/>
                <a:ea typeface="Calibri" pitchFamily="34" charset="-122"/>
                <a:cs typeface="Calibri" pitchFamily="34" charset="-120"/>
              </a:rPr>
              <a:t>↓</a:t>
            </a:r>
            <a:endParaRPr lang="en-US" sz="900" dirty="0"/>
          </a:p>
        </p:txBody>
      </p:sp>
      <p:sp>
        <p:nvSpPr>
          <p:cNvPr id="24" name="Shape 22"/>
          <p:cNvSpPr/>
          <p:nvPr/>
        </p:nvSpPr>
        <p:spPr>
          <a:xfrm>
            <a:off x="3913632" y="2386584"/>
            <a:ext cx="4882896" cy="374904"/>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25" name="Text 23"/>
          <p:cNvSpPr/>
          <p:nvPr/>
        </p:nvSpPr>
        <p:spPr>
          <a:xfrm>
            <a:off x="4023360" y="2386584"/>
            <a:ext cx="2539106" cy="374904"/>
          </a:xfrm>
          <a:prstGeom prst="rect">
            <a:avLst/>
          </a:prstGeom>
          <a:noFill/>
          <a:ln/>
        </p:spPr>
        <p:txBody>
          <a:bodyPr wrap="square" rtlCol="0" anchor="ctr"/>
          <a:lstStyle/>
          <a:p>
            <a:pPr marL="0" indent="0">
              <a:buNone/>
            </a:pPr>
            <a:r>
              <a:rPr lang="en-US" sz="1200" b="1" dirty="0">
                <a:solidFill>
                  <a:srgbClr val="1B4D2E"/>
                </a:solidFill>
                <a:latin typeface="Calibri" pitchFamily="34" charset="0"/>
                <a:ea typeface="Calibri" pitchFamily="34" charset="-122"/>
                <a:cs typeface="Calibri" pitchFamily="34" charset="-120"/>
              </a:rPr>
              <a:t>Dropout  (p = 0.4)</a:t>
            </a:r>
            <a:endParaRPr lang="en-US" sz="1200" dirty="0"/>
          </a:p>
        </p:txBody>
      </p:sp>
      <p:sp>
        <p:nvSpPr>
          <p:cNvPr id="26" name="Text 24"/>
          <p:cNvSpPr/>
          <p:nvPr/>
        </p:nvSpPr>
        <p:spPr>
          <a:xfrm>
            <a:off x="6498458" y="2386584"/>
            <a:ext cx="2246132" cy="374904"/>
          </a:xfrm>
          <a:prstGeom prst="rect">
            <a:avLst/>
          </a:prstGeom>
          <a:noFill/>
          <a:ln/>
        </p:spPr>
        <p:txBody>
          <a:bodyPr wrap="square" rtlCol="0" anchor="ctr"/>
          <a:lstStyle/>
          <a:p>
            <a:pPr marL="0" indent="0">
              <a:buNone/>
            </a:pPr>
            <a:r>
              <a:rPr lang="en-US" sz="1050" i="1" dirty="0">
                <a:solidFill>
                  <a:srgbClr val="607060"/>
                </a:solidFill>
                <a:latin typeface="Calibri" pitchFamily="34" charset="0"/>
                <a:ea typeface="Calibri" pitchFamily="34" charset="-122"/>
                <a:cs typeface="Calibri" pitchFamily="34" charset="-120"/>
              </a:rPr>
              <a:t>Regularisation</a:t>
            </a:r>
            <a:endParaRPr lang="en-US" sz="1050" dirty="0"/>
          </a:p>
        </p:txBody>
      </p:sp>
      <p:sp>
        <p:nvSpPr>
          <p:cNvPr id="27" name="Text 25"/>
          <p:cNvSpPr/>
          <p:nvPr/>
        </p:nvSpPr>
        <p:spPr>
          <a:xfrm>
            <a:off x="6172200" y="2761488"/>
            <a:ext cx="365760" cy="73152"/>
          </a:xfrm>
          <a:prstGeom prst="rect">
            <a:avLst/>
          </a:prstGeom>
          <a:noFill/>
          <a:ln/>
        </p:spPr>
        <p:txBody>
          <a:bodyPr wrap="square" rtlCol="0" anchor="ctr"/>
          <a:lstStyle/>
          <a:p>
            <a:pPr marL="0" indent="0" algn="ctr">
              <a:buNone/>
            </a:pPr>
            <a:r>
              <a:rPr lang="en-US" sz="900" dirty="0">
                <a:solidFill>
                  <a:srgbClr val="C2D6B8"/>
                </a:solidFill>
                <a:latin typeface="Calibri" pitchFamily="34" charset="0"/>
                <a:ea typeface="Calibri" pitchFamily="34" charset="-122"/>
                <a:cs typeface="Calibri" pitchFamily="34" charset="-120"/>
              </a:rPr>
              <a:t>↓</a:t>
            </a:r>
            <a:endParaRPr lang="en-US" sz="900" dirty="0"/>
          </a:p>
        </p:txBody>
      </p:sp>
      <p:sp>
        <p:nvSpPr>
          <p:cNvPr id="28" name="Shape 26"/>
          <p:cNvSpPr/>
          <p:nvPr/>
        </p:nvSpPr>
        <p:spPr>
          <a:xfrm>
            <a:off x="3913632" y="2834640"/>
            <a:ext cx="4882896" cy="374904"/>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29" name="Text 27"/>
          <p:cNvSpPr/>
          <p:nvPr/>
        </p:nvSpPr>
        <p:spPr>
          <a:xfrm>
            <a:off x="4023360" y="2834640"/>
            <a:ext cx="2539106" cy="374904"/>
          </a:xfrm>
          <a:prstGeom prst="rect">
            <a:avLst/>
          </a:prstGeom>
          <a:noFill/>
          <a:ln/>
        </p:spPr>
        <p:txBody>
          <a:bodyPr wrap="square" rtlCol="0" anchor="ctr"/>
          <a:lstStyle/>
          <a:p>
            <a:pPr marL="0" indent="0">
              <a:buNone/>
            </a:pPr>
            <a:r>
              <a:rPr lang="en-US" sz="1200" b="1" dirty="0">
                <a:solidFill>
                  <a:srgbClr val="1B4D2E"/>
                </a:solidFill>
                <a:latin typeface="Calibri" pitchFamily="34" charset="0"/>
                <a:ea typeface="Calibri" pitchFamily="34" charset="-122"/>
                <a:cs typeface="Calibri" pitchFamily="34" charset="-120"/>
              </a:rPr>
              <a:t>Linear  512  →  256</a:t>
            </a:r>
            <a:endParaRPr lang="en-US" sz="1200" dirty="0"/>
          </a:p>
        </p:txBody>
      </p:sp>
      <p:sp>
        <p:nvSpPr>
          <p:cNvPr id="30" name="Text 28"/>
          <p:cNvSpPr/>
          <p:nvPr/>
        </p:nvSpPr>
        <p:spPr>
          <a:xfrm>
            <a:off x="6498458" y="2834640"/>
            <a:ext cx="2246132" cy="374904"/>
          </a:xfrm>
          <a:prstGeom prst="rect">
            <a:avLst/>
          </a:prstGeom>
          <a:noFill/>
          <a:ln/>
        </p:spPr>
        <p:txBody>
          <a:bodyPr wrap="square" rtlCol="0" anchor="ctr"/>
          <a:lstStyle/>
          <a:p>
            <a:pPr marL="0" indent="0">
              <a:buNone/>
            </a:pPr>
            <a:r>
              <a:rPr lang="en-US" sz="1050" i="1" dirty="0">
                <a:solidFill>
                  <a:srgbClr val="607060"/>
                </a:solidFill>
                <a:latin typeface="Calibri" pitchFamily="34" charset="0"/>
                <a:ea typeface="Calibri" pitchFamily="34" charset="-122"/>
                <a:cs typeface="Calibri" pitchFamily="34" charset="-120"/>
              </a:rPr>
              <a:t>Second projection</a:t>
            </a:r>
            <a:endParaRPr lang="en-US" sz="1050" dirty="0"/>
          </a:p>
        </p:txBody>
      </p:sp>
      <p:sp>
        <p:nvSpPr>
          <p:cNvPr id="31" name="Text 29"/>
          <p:cNvSpPr/>
          <p:nvPr/>
        </p:nvSpPr>
        <p:spPr>
          <a:xfrm>
            <a:off x="6172200" y="3209544"/>
            <a:ext cx="365760" cy="73152"/>
          </a:xfrm>
          <a:prstGeom prst="rect">
            <a:avLst/>
          </a:prstGeom>
          <a:noFill/>
          <a:ln/>
        </p:spPr>
        <p:txBody>
          <a:bodyPr wrap="square" rtlCol="0" anchor="ctr"/>
          <a:lstStyle/>
          <a:p>
            <a:pPr marL="0" indent="0" algn="ctr">
              <a:buNone/>
            </a:pPr>
            <a:r>
              <a:rPr lang="en-US" sz="900" dirty="0">
                <a:solidFill>
                  <a:srgbClr val="C2D6B8"/>
                </a:solidFill>
                <a:latin typeface="Calibri" pitchFamily="34" charset="0"/>
                <a:ea typeface="Calibri" pitchFamily="34" charset="-122"/>
                <a:cs typeface="Calibri" pitchFamily="34" charset="-120"/>
              </a:rPr>
              <a:t>↓</a:t>
            </a:r>
            <a:endParaRPr lang="en-US" sz="900" dirty="0"/>
          </a:p>
        </p:txBody>
      </p:sp>
      <p:sp>
        <p:nvSpPr>
          <p:cNvPr id="32" name="Shape 30"/>
          <p:cNvSpPr/>
          <p:nvPr/>
        </p:nvSpPr>
        <p:spPr>
          <a:xfrm>
            <a:off x="3913632" y="3282696"/>
            <a:ext cx="4882896" cy="374904"/>
          </a:xfrm>
          <a:prstGeom prst="rect">
            <a:avLst/>
          </a:prstGeom>
          <a:solidFill>
            <a:srgbClr val="E8F5E2"/>
          </a:solidFill>
          <a:ln w="9525">
            <a:solidFill>
              <a:srgbClr val="C2D6B8"/>
            </a:solidFill>
            <a:prstDash val="solid"/>
          </a:ln>
          <a:effectLst>
            <a:outerShdw blurRad="63500" dist="25400" dir="8100000" algn="bl" rotWithShape="0">
              <a:srgbClr val="000000">
                <a:alpha val="9000"/>
              </a:srgbClr>
            </a:outerShdw>
          </a:effectLst>
        </p:spPr>
      </p:sp>
      <p:sp>
        <p:nvSpPr>
          <p:cNvPr id="33" name="Text 31"/>
          <p:cNvSpPr/>
          <p:nvPr/>
        </p:nvSpPr>
        <p:spPr>
          <a:xfrm>
            <a:off x="4023360" y="3282696"/>
            <a:ext cx="2539106" cy="374904"/>
          </a:xfrm>
          <a:prstGeom prst="rect">
            <a:avLst/>
          </a:prstGeom>
          <a:noFill/>
          <a:ln/>
        </p:spPr>
        <p:txBody>
          <a:bodyPr wrap="square" rtlCol="0" anchor="ctr"/>
          <a:lstStyle/>
          <a:p>
            <a:pPr marL="0" indent="0">
              <a:buNone/>
            </a:pPr>
            <a:r>
              <a:rPr lang="en-US" sz="1200" b="1" dirty="0">
                <a:solidFill>
                  <a:srgbClr val="1B4D2E"/>
                </a:solidFill>
                <a:latin typeface="Calibri" pitchFamily="34" charset="0"/>
                <a:ea typeface="Calibri" pitchFamily="34" charset="-122"/>
                <a:cs typeface="Calibri" pitchFamily="34" charset="-120"/>
              </a:rPr>
              <a:t>ReLU</a:t>
            </a:r>
            <a:endParaRPr lang="en-US" sz="1200" dirty="0"/>
          </a:p>
        </p:txBody>
      </p:sp>
      <p:sp>
        <p:nvSpPr>
          <p:cNvPr id="34" name="Text 32"/>
          <p:cNvSpPr/>
          <p:nvPr/>
        </p:nvSpPr>
        <p:spPr>
          <a:xfrm>
            <a:off x="6498458" y="3282696"/>
            <a:ext cx="2246132" cy="374904"/>
          </a:xfrm>
          <a:prstGeom prst="rect">
            <a:avLst/>
          </a:prstGeom>
          <a:noFill/>
          <a:ln/>
        </p:spPr>
        <p:txBody>
          <a:bodyPr wrap="square" rtlCol="0" anchor="ctr"/>
          <a:lstStyle/>
          <a:p>
            <a:pPr marL="0" indent="0">
              <a:buNone/>
            </a:pPr>
            <a:r>
              <a:rPr lang="en-US" sz="1050" i="1" dirty="0">
                <a:solidFill>
                  <a:srgbClr val="607060"/>
                </a:solidFill>
                <a:latin typeface="Calibri" pitchFamily="34" charset="0"/>
                <a:ea typeface="Calibri" pitchFamily="34" charset="-122"/>
                <a:cs typeface="Calibri" pitchFamily="34" charset="-120"/>
              </a:rPr>
              <a:t>Non-linear activation</a:t>
            </a:r>
            <a:endParaRPr lang="en-US" sz="1050" dirty="0"/>
          </a:p>
        </p:txBody>
      </p:sp>
      <p:sp>
        <p:nvSpPr>
          <p:cNvPr id="35" name="Text 33"/>
          <p:cNvSpPr/>
          <p:nvPr/>
        </p:nvSpPr>
        <p:spPr>
          <a:xfrm>
            <a:off x="6172200" y="3657600"/>
            <a:ext cx="365760" cy="73152"/>
          </a:xfrm>
          <a:prstGeom prst="rect">
            <a:avLst/>
          </a:prstGeom>
          <a:noFill/>
          <a:ln/>
        </p:spPr>
        <p:txBody>
          <a:bodyPr wrap="square" rtlCol="0" anchor="ctr"/>
          <a:lstStyle/>
          <a:p>
            <a:pPr marL="0" indent="0" algn="ctr">
              <a:buNone/>
            </a:pPr>
            <a:r>
              <a:rPr lang="en-US" sz="900" dirty="0">
                <a:solidFill>
                  <a:srgbClr val="C2D6B8"/>
                </a:solidFill>
                <a:latin typeface="Calibri" pitchFamily="34" charset="0"/>
                <a:ea typeface="Calibri" pitchFamily="34" charset="-122"/>
                <a:cs typeface="Calibri" pitchFamily="34" charset="-120"/>
              </a:rPr>
              <a:t>↓</a:t>
            </a:r>
            <a:endParaRPr lang="en-US" sz="900" dirty="0"/>
          </a:p>
        </p:txBody>
      </p:sp>
      <p:sp>
        <p:nvSpPr>
          <p:cNvPr id="36" name="Shape 34"/>
          <p:cNvSpPr/>
          <p:nvPr/>
        </p:nvSpPr>
        <p:spPr>
          <a:xfrm>
            <a:off x="3913632" y="3730752"/>
            <a:ext cx="4882896" cy="374904"/>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37" name="Text 35"/>
          <p:cNvSpPr/>
          <p:nvPr/>
        </p:nvSpPr>
        <p:spPr>
          <a:xfrm>
            <a:off x="4023360" y="3730752"/>
            <a:ext cx="2539106" cy="374904"/>
          </a:xfrm>
          <a:prstGeom prst="rect">
            <a:avLst/>
          </a:prstGeom>
          <a:noFill/>
          <a:ln/>
        </p:spPr>
        <p:txBody>
          <a:bodyPr wrap="square" rtlCol="0" anchor="ctr"/>
          <a:lstStyle/>
          <a:p>
            <a:pPr marL="0" indent="0">
              <a:buNone/>
            </a:pPr>
            <a:r>
              <a:rPr lang="en-US" sz="1200" b="1" dirty="0">
                <a:solidFill>
                  <a:srgbClr val="1B4D2E"/>
                </a:solidFill>
                <a:latin typeface="Calibri" pitchFamily="34" charset="0"/>
                <a:ea typeface="Calibri" pitchFamily="34" charset="-122"/>
                <a:cs typeface="Calibri" pitchFamily="34" charset="-120"/>
              </a:rPr>
              <a:t>Dropout  (p = 0.3)</a:t>
            </a:r>
            <a:endParaRPr lang="en-US" sz="1200" dirty="0"/>
          </a:p>
        </p:txBody>
      </p:sp>
      <p:sp>
        <p:nvSpPr>
          <p:cNvPr id="38" name="Text 36"/>
          <p:cNvSpPr/>
          <p:nvPr/>
        </p:nvSpPr>
        <p:spPr>
          <a:xfrm>
            <a:off x="6498458" y="3730752"/>
            <a:ext cx="2246132" cy="374904"/>
          </a:xfrm>
          <a:prstGeom prst="rect">
            <a:avLst/>
          </a:prstGeom>
          <a:noFill/>
          <a:ln/>
        </p:spPr>
        <p:txBody>
          <a:bodyPr wrap="square" rtlCol="0" anchor="ctr"/>
          <a:lstStyle/>
          <a:p>
            <a:pPr marL="0" indent="0">
              <a:buNone/>
            </a:pPr>
            <a:r>
              <a:rPr lang="en-US" sz="1050" i="1" dirty="0">
                <a:solidFill>
                  <a:srgbClr val="607060"/>
                </a:solidFill>
                <a:latin typeface="Calibri" pitchFamily="34" charset="0"/>
                <a:ea typeface="Calibri" pitchFamily="34" charset="-122"/>
                <a:cs typeface="Calibri" pitchFamily="34" charset="-120"/>
              </a:rPr>
              <a:t>Regularisation</a:t>
            </a:r>
            <a:endParaRPr lang="en-US" sz="1050" dirty="0"/>
          </a:p>
        </p:txBody>
      </p:sp>
      <p:sp>
        <p:nvSpPr>
          <p:cNvPr id="39" name="Text 37"/>
          <p:cNvSpPr/>
          <p:nvPr/>
        </p:nvSpPr>
        <p:spPr>
          <a:xfrm>
            <a:off x="6172200" y="4105656"/>
            <a:ext cx="365760" cy="73152"/>
          </a:xfrm>
          <a:prstGeom prst="rect">
            <a:avLst/>
          </a:prstGeom>
          <a:noFill/>
          <a:ln/>
        </p:spPr>
        <p:txBody>
          <a:bodyPr wrap="square" rtlCol="0" anchor="ctr"/>
          <a:lstStyle/>
          <a:p>
            <a:pPr marL="0" indent="0" algn="ctr">
              <a:buNone/>
            </a:pPr>
            <a:r>
              <a:rPr lang="en-US" sz="900" dirty="0">
                <a:solidFill>
                  <a:srgbClr val="C2D6B8"/>
                </a:solidFill>
                <a:latin typeface="Calibri" pitchFamily="34" charset="0"/>
                <a:ea typeface="Calibri" pitchFamily="34" charset="-122"/>
                <a:cs typeface="Calibri" pitchFamily="34" charset="-120"/>
              </a:rPr>
              <a:t>↓</a:t>
            </a:r>
            <a:endParaRPr lang="en-US" sz="900" dirty="0"/>
          </a:p>
        </p:txBody>
      </p:sp>
      <p:sp>
        <p:nvSpPr>
          <p:cNvPr id="40" name="Shape 38"/>
          <p:cNvSpPr/>
          <p:nvPr/>
        </p:nvSpPr>
        <p:spPr>
          <a:xfrm>
            <a:off x="3913632" y="4178808"/>
            <a:ext cx="4882896" cy="374904"/>
          </a:xfrm>
          <a:prstGeom prst="rect">
            <a:avLst/>
          </a:prstGeom>
          <a:solidFill>
            <a:srgbClr val="1B4D2E"/>
          </a:solidFill>
          <a:ln w="9525">
            <a:solidFill>
              <a:srgbClr val="C2D6B8"/>
            </a:solidFill>
            <a:prstDash val="solid"/>
          </a:ln>
          <a:effectLst>
            <a:outerShdw blurRad="63500" dist="25400" dir="8100000" algn="bl" rotWithShape="0">
              <a:srgbClr val="000000">
                <a:alpha val="9000"/>
              </a:srgbClr>
            </a:outerShdw>
          </a:effectLst>
        </p:spPr>
      </p:sp>
      <p:sp>
        <p:nvSpPr>
          <p:cNvPr id="41" name="Text 39"/>
          <p:cNvSpPr/>
          <p:nvPr/>
        </p:nvSpPr>
        <p:spPr>
          <a:xfrm>
            <a:off x="4023360" y="4178808"/>
            <a:ext cx="2539106" cy="374904"/>
          </a:xfrm>
          <a:prstGeom prst="rect">
            <a:avLst/>
          </a:prstGeom>
          <a:noFill/>
          <a:ln/>
        </p:spPr>
        <p:txBody>
          <a:bodyPr wrap="square" rtlCol="0" anchor="ctr"/>
          <a:lstStyle/>
          <a:p>
            <a:pPr marL="0" indent="0">
              <a:buNone/>
            </a:pPr>
            <a:r>
              <a:rPr lang="en-US" sz="1200" b="1" dirty="0">
                <a:solidFill>
                  <a:srgbClr val="7CB87A"/>
                </a:solidFill>
                <a:latin typeface="Calibri" pitchFamily="34" charset="0"/>
                <a:ea typeface="Calibri" pitchFamily="34" charset="-122"/>
                <a:cs typeface="Calibri" pitchFamily="34" charset="-120"/>
              </a:rPr>
              <a:t>Linear  256  →  K classes</a:t>
            </a:r>
            <a:endParaRPr lang="en-US" sz="1200" dirty="0"/>
          </a:p>
        </p:txBody>
      </p:sp>
      <p:sp>
        <p:nvSpPr>
          <p:cNvPr id="42" name="Text 40"/>
          <p:cNvSpPr/>
          <p:nvPr/>
        </p:nvSpPr>
        <p:spPr>
          <a:xfrm>
            <a:off x="6498458" y="4178808"/>
            <a:ext cx="2246132" cy="374904"/>
          </a:xfrm>
          <a:prstGeom prst="rect">
            <a:avLst/>
          </a:prstGeom>
          <a:noFill/>
          <a:ln/>
        </p:spPr>
        <p:txBody>
          <a:bodyPr wrap="square" rtlCol="0" anchor="ctr"/>
          <a:lstStyle/>
          <a:p>
            <a:pPr marL="0" indent="0">
              <a:buNone/>
            </a:pPr>
            <a:r>
              <a:rPr lang="en-US" sz="1050" i="1" dirty="0">
                <a:solidFill>
                  <a:srgbClr val="607060"/>
                </a:solidFill>
                <a:latin typeface="Calibri" pitchFamily="34" charset="0"/>
                <a:ea typeface="Calibri" pitchFamily="34" charset="-122"/>
                <a:cs typeface="Calibri" pitchFamily="34" charset="-120"/>
              </a:rPr>
              <a:t>Output logits (K = num classes)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1"/>
        </a:solidFill>
        <a:effectLst/>
      </p:bgPr>
    </p:bg>
    <p:spTree>
      <p:nvGrpSpPr>
        <p:cNvPr id="1" name=""/>
        <p:cNvGrpSpPr/>
        <p:nvPr/>
      </p:nvGrpSpPr>
      <p:grpSpPr>
        <a:xfrm>
          <a:off x="0" y="0"/>
          <a:ext cx="0" cy="0"/>
          <a:chOff x="0" y="0"/>
          <a:chExt cx="0" cy="0"/>
        </a:xfrm>
      </p:grpSpPr>
      <p:sp>
        <p:nvSpPr>
          <p:cNvPr id="2" name="Shape 0"/>
          <p:cNvSpPr/>
          <p:nvPr/>
        </p:nvSpPr>
        <p:spPr>
          <a:xfrm>
            <a:off x="347472" y="228600"/>
            <a:ext cx="73152" cy="566928"/>
          </a:xfrm>
          <a:prstGeom prst="rect">
            <a:avLst/>
          </a:prstGeom>
          <a:solidFill>
            <a:srgbClr val="7CB87A"/>
          </a:solidFill>
          <a:ln w="12700">
            <a:solidFill>
              <a:srgbClr val="7CB87A"/>
            </a:solidFill>
            <a:prstDash val="solid"/>
          </a:ln>
        </p:spPr>
      </p:sp>
      <p:sp>
        <p:nvSpPr>
          <p:cNvPr id="3" name="Text 1"/>
          <p:cNvSpPr/>
          <p:nvPr/>
        </p:nvSpPr>
        <p:spPr>
          <a:xfrm>
            <a:off x="521208" y="192024"/>
            <a:ext cx="8275320" cy="676656"/>
          </a:xfrm>
          <a:prstGeom prst="rect">
            <a:avLst/>
          </a:prstGeom>
          <a:noFill/>
          <a:ln/>
        </p:spPr>
        <p:txBody>
          <a:bodyPr wrap="square" lIns="0" tIns="0" rIns="0" bIns="0" rtlCol="0" anchor="ctr"/>
          <a:lstStyle/>
          <a:p>
            <a:pPr marL="0" indent="0">
              <a:buNone/>
            </a:pPr>
            <a:r>
              <a:rPr lang="en-US" sz="2700" b="1" dirty="0">
                <a:solidFill>
                  <a:srgbClr val="1B4D2E"/>
                </a:solidFill>
                <a:latin typeface="Cambria" pitchFamily="34" charset="0"/>
                <a:ea typeface="Cambria" pitchFamily="34" charset="-122"/>
                <a:cs typeface="Cambria" pitchFamily="34" charset="-120"/>
              </a:rPr>
              <a:t>Training Strategy</a:t>
            </a:r>
            <a:endParaRPr lang="en-US" sz="2700" dirty="0"/>
          </a:p>
        </p:txBody>
      </p:sp>
      <p:sp>
        <p:nvSpPr>
          <p:cNvPr id="4" name="Shape 2"/>
          <p:cNvSpPr/>
          <p:nvPr/>
        </p:nvSpPr>
        <p:spPr>
          <a:xfrm>
            <a:off x="347472" y="969264"/>
            <a:ext cx="8449056" cy="0"/>
          </a:xfrm>
          <a:prstGeom prst="line">
            <a:avLst/>
          </a:prstGeom>
          <a:noFill/>
          <a:ln w="12700">
            <a:solidFill>
              <a:srgbClr val="C2D6B8"/>
            </a:solidFill>
            <a:prstDash val="solid"/>
          </a:ln>
        </p:spPr>
      </p:sp>
      <p:sp>
        <p:nvSpPr>
          <p:cNvPr id="5" name="Text 3"/>
          <p:cNvSpPr/>
          <p:nvPr/>
        </p:nvSpPr>
        <p:spPr>
          <a:xfrm>
            <a:off x="8046720" y="4892040"/>
            <a:ext cx="914400" cy="182880"/>
          </a:xfrm>
          <a:prstGeom prst="rect">
            <a:avLst/>
          </a:prstGeom>
          <a:noFill/>
          <a:ln/>
        </p:spPr>
        <p:txBody>
          <a:bodyPr wrap="square" rtlCol="0" anchor="ctr"/>
          <a:lstStyle/>
          <a:p>
            <a:pPr marL="0" indent="0" algn="r">
              <a:buNone/>
            </a:pPr>
            <a:r>
              <a:rPr lang="en-US" sz="1000" dirty="0">
                <a:solidFill>
                  <a:srgbClr val="607060"/>
                </a:solidFill>
                <a:latin typeface="Calibri" pitchFamily="34" charset="0"/>
                <a:ea typeface="Calibri" pitchFamily="34" charset="-122"/>
                <a:cs typeface="Calibri" pitchFamily="34" charset="-120"/>
              </a:rPr>
              <a:t>9 / 22</a:t>
            </a:r>
            <a:endParaRPr lang="en-US" sz="1000" dirty="0"/>
          </a:p>
        </p:txBody>
      </p:sp>
      <p:sp>
        <p:nvSpPr>
          <p:cNvPr id="6" name="Shape 4"/>
          <p:cNvSpPr/>
          <p:nvPr/>
        </p:nvSpPr>
        <p:spPr>
          <a:xfrm>
            <a:off x="347472" y="1042416"/>
            <a:ext cx="2679192" cy="1783080"/>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7" name="Shape 5"/>
          <p:cNvSpPr/>
          <p:nvPr/>
        </p:nvSpPr>
        <p:spPr>
          <a:xfrm>
            <a:off x="347472" y="1042416"/>
            <a:ext cx="2679192" cy="457200"/>
          </a:xfrm>
          <a:prstGeom prst="rect">
            <a:avLst/>
          </a:prstGeom>
          <a:solidFill>
            <a:srgbClr val="1B4D2E"/>
          </a:solidFill>
          <a:ln w="12700">
            <a:solidFill>
              <a:srgbClr val="1B4D2E"/>
            </a:solidFill>
            <a:prstDash val="solid"/>
          </a:ln>
        </p:spPr>
      </p:sp>
      <p:sp>
        <p:nvSpPr>
          <p:cNvPr id="8" name="Text 6"/>
          <p:cNvSpPr/>
          <p:nvPr/>
        </p:nvSpPr>
        <p:spPr>
          <a:xfrm>
            <a:off x="457200" y="1042416"/>
            <a:ext cx="2496312" cy="457200"/>
          </a:xfrm>
          <a:prstGeom prst="rect">
            <a:avLst/>
          </a:prstGeom>
          <a:noFill/>
          <a:ln/>
        </p:spPr>
        <p:txBody>
          <a:bodyPr wrap="square" rtlCol="0" anchor="ctr"/>
          <a:lstStyle/>
          <a:p>
            <a:pPr marL="0" indent="0">
              <a:buNone/>
            </a:pPr>
            <a:r>
              <a:rPr lang="en-US" sz="1300" b="1" dirty="0">
                <a:solidFill>
                  <a:srgbClr val="7CB87A"/>
                </a:solidFill>
                <a:latin typeface="Cambria" pitchFamily="34" charset="0"/>
                <a:ea typeface="Cambria" pitchFamily="34" charset="-122"/>
                <a:cs typeface="Cambria" pitchFamily="34" charset="-120"/>
              </a:rPr>
              <a:t>Adam Optimizer</a:t>
            </a:r>
            <a:endParaRPr lang="en-US" sz="1300" dirty="0"/>
          </a:p>
        </p:txBody>
      </p:sp>
      <p:sp>
        <p:nvSpPr>
          <p:cNvPr id="9" name="Text 7"/>
          <p:cNvSpPr/>
          <p:nvPr/>
        </p:nvSpPr>
        <p:spPr>
          <a:xfrm>
            <a:off x="457200" y="1554480"/>
            <a:ext cx="2496312" cy="1216152"/>
          </a:xfrm>
          <a:prstGeom prst="rect">
            <a:avLst/>
          </a:prstGeom>
          <a:noFill/>
          <a:ln/>
        </p:spPr>
        <p:txBody>
          <a:bodyPr wrap="square" rtlCol="0" anchor="ctr"/>
          <a:lstStyle/>
          <a:p>
            <a:pPr marL="342900" indent="-342900">
              <a:spcAft>
                <a:spcPts val="200"/>
              </a:spcAft>
              <a:buSzPct val="100000"/>
              <a:buChar char="•"/>
            </a:pPr>
            <a:r>
              <a:rPr lang="en-US" sz="1150" dirty="0">
                <a:solidFill>
                  <a:srgbClr val="2D3D2A"/>
                </a:solidFill>
                <a:latin typeface="Calibri" pitchFamily="34" charset="0"/>
                <a:ea typeface="Calibri" pitchFamily="34" charset="-122"/>
                <a:cs typeface="Calibri" pitchFamily="34" charset="-120"/>
              </a:rPr>
              <a:t>Learning rate: 1e-4</a:t>
            </a:r>
            <a:endParaRPr lang="en-US" sz="1150" dirty="0"/>
          </a:p>
          <a:p>
            <a:pPr marL="342900" indent="-342900">
              <a:spcAft>
                <a:spcPts val="200"/>
              </a:spcAft>
              <a:buSzPct val="100000"/>
              <a:buChar char="•"/>
            </a:pPr>
            <a:r>
              <a:rPr lang="en-US" sz="1150" dirty="0">
                <a:solidFill>
                  <a:srgbClr val="2D3D2A"/>
                </a:solidFill>
                <a:latin typeface="Calibri" pitchFamily="34" charset="0"/>
                <a:ea typeface="Calibri" pitchFamily="34" charset="-122"/>
                <a:cs typeface="Calibri" pitchFamily="34" charset="-120"/>
              </a:rPr>
              <a:t>Weight decay: 1e-4</a:t>
            </a:r>
            <a:endParaRPr lang="en-US" sz="1150" dirty="0"/>
          </a:p>
          <a:p>
            <a:pPr marL="342900" indent="-342900">
              <a:spcAft>
                <a:spcPts val="200"/>
              </a:spcAft>
              <a:buSzPct val="100000"/>
              <a:buChar char="•"/>
            </a:pPr>
            <a:r>
              <a:rPr lang="en-US" sz="1150" dirty="0">
                <a:solidFill>
                  <a:srgbClr val="2D3D2A"/>
                </a:solidFill>
                <a:latin typeface="Calibri" pitchFamily="34" charset="0"/>
                <a:ea typeface="Calibri" pitchFamily="34" charset="-122"/>
                <a:cs typeface="Calibri" pitchFamily="34" charset="-120"/>
              </a:rPr>
              <a:t>Gradient clipping: norm ≤ 1.0</a:t>
            </a:r>
            <a:endParaRPr lang="en-US" sz="1150" dirty="0"/>
          </a:p>
          <a:p>
            <a:pPr marL="342900" indent="-342900">
              <a:spcAft>
                <a:spcPts val="200"/>
              </a:spcAft>
              <a:buSzPct val="100000"/>
              <a:buChar char="•"/>
            </a:pPr>
            <a:r>
              <a:rPr lang="en-US" sz="1150" dirty="0">
                <a:solidFill>
                  <a:srgbClr val="2D3D2A"/>
                </a:solidFill>
                <a:latin typeface="Calibri" pitchFamily="34" charset="0"/>
                <a:ea typeface="Calibri" pitchFamily="34" charset="-122"/>
                <a:cs typeface="Calibri" pitchFamily="34" charset="-120"/>
              </a:rPr>
              <a:t>Mirrors Keras clipnorm=1.0</a:t>
            </a:r>
            <a:endParaRPr lang="en-US" sz="1150" dirty="0"/>
          </a:p>
        </p:txBody>
      </p:sp>
      <p:sp>
        <p:nvSpPr>
          <p:cNvPr id="10" name="Shape 8"/>
          <p:cNvSpPr/>
          <p:nvPr/>
        </p:nvSpPr>
        <p:spPr>
          <a:xfrm>
            <a:off x="3246120" y="1042416"/>
            <a:ext cx="2679192" cy="1783080"/>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11" name="Shape 9"/>
          <p:cNvSpPr/>
          <p:nvPr/>
        </p:nvSpPr>
        <p:spPr>
          <a:xfrm>
            <a:off x="3246120" y="1042416"/>
            <a:ext cx="2679192" cy="457200"/>
          </a:xfrm>
          <a:prstGeom prst="rect">
            <a:avLst/>
          </a:prstGeom>
          <a:solidFill>
            <a:srgbClr val="1B4D2E"/>
          </a:solidFill>
          <a:ln w="12700">
            <a:solidFill>
              <a:srgbClr val="1B4D2E"/>
            </a:solidFill>
            <a:prstDash val="solid"/>
          </a:ln>
        </p:spPr>
      </p:sp>
      <p:sp>
        <p:nvSpPr>
          <p:cNvPr id="12" name="Text 10"/>
          <p:cNvSpPr/>
          <p:nvPr/>
        </p:nvSpPr>
        <p:spPr>
          <a:xfrm>
            <a:off x="3355848" y="1042416"/>
            <a:ext cx="2496312" cy="457200"/>
          </a:xfrm>
          <a:prstGeom prst="rect">
            <a:avLst/>
          </a:prstGeom>
          <a:noFill/>
          <a:ln/>
        </p:spPr>
        <p:txBody>
          <a:bodyPr wrap="square" rtlCol="0" anchor="ctr"/>
          <a:lstStyle/>
          <a:p>
            <a:pPr marL="0" indent="0">
              <a:buNone/>
            </a:pPr>
            <a:r>
              <a:rPr lang="en-US" sz="1300" b="1" dirty="0">
                <a:solidFill>
                  <a:srgbClr val="7CB87A"/>
                </a:solidFill>
                <a:latin typeface="Cambria" pitchFamily="34" charset="0"/>
                <a:ea typeface="Cambria" pitchFamily="34" charset="-122"/>
                <a:cs typeface="Cambria" pitchFamily="34" charset="-120"/>
              </a:rPr>
              <a:t>LR Scheduler</a:t>
            </a:r>
            <a:endParaRPr lang="en-US" sz="1300" dirty="0"/>
          </a:p>
        </p:txBody>
      </p:sp>
      <p:sp>
        <p:nvSpPr>
          <p:cNvPr id="13" name="Text 11"/>
          <p:cNvSpPr/>
          <p:nvPr/>
        </p:nvSpPr>
        <p:spPr>
          <a:xfrm>
            <a:off x="3355848" y="1554480"/>
            <a:ext cx="2496312" cy="1216152"/>
          </a:xfrm>
          <a:prstGeom prst="rect">
            <a:avLst/>
          </a:prstGeom>
          <a:noFill/>
          <a:ln/>
        </p:spPr>
        <p:txBody>
          <a:bodyPr wrap="square" rtlCol="0" anchor="ctr"/>
          <a:lstStyle/>
          <a:p>
            <a:pPr marL="342900" indent="-342900">
              <a:spcAft>
                <a:spcPts val="200"/>
              </a:spcAft>
              <a:buSzPct val="100000"/>
              <a:buChar char="•"/>
            </a:pPr>
            <a:r>
              <a:rPr lang="en-US" sz="1150" dirty="0">
                <a:solidFill>
                  <a:srgbClr val="2D3D2A"/>
                </a:solidFill>
                <a:latin typeface="Calibri" pitchFamily="34" charset="0"/>
                <a:ea typeface="Calibri" pitchFamily="34" charset="-122"/>
                <a:cs typeface="Calibri" pitchFamily="34" charset="-120"/>
              </a:rPr>
              <a:t>ReduceLROnPlateau</a:t>
            </a:r>
            <a:endParaRPr lang="en-US" sz="1150" dirty="0"/>
          </a:p>
          <a:p>
            <a:pPr marL="342900" indent="-342900">
              <a:spcAft>
                <a:spcPts val="200"/>
              </a:spcAft>
              <a:buSzPct val="100000"/>
              <a:buChar char="•"/>
            </a:pPr>
            <a:r>
              <a:rPr lang="en-US" sz="1150" dirty="0">
                <a:solidFill>
                  <a:srgbClr val="2D3D2A"/>
                </a:solidFill>
                <a:latin typeface="Calibri" pitchFamily="34" charset="0"/>
                <a:ea typeface="Calibri" pitchFamily="34" charset="-122"/>
                <a:cs typeface="Calibri" pitchFamily="34" charset="-120"/>
              </a:rPr>
              <a:t>Monitor: val accuracy</a:t>
            </a:r>
            <a:endParaRPr lang="en-US" sz="1150" dirty="0"/>
          </a:p>
          <a:p>
            <a:pPr marL="342900" indent="-342900">
              <a:spcAft>
                <a:spcPts val="200"/>
              </a:spcAft>
              <a:buSzPct val="100000"/>
              <a:buChar char="•"/>
            </a:pPr>
            <a:r>
              <a:rPr lang="en-US" sz="1150" dirty="0">
                <a:solidFill>
                  <a:srgbClr val="2D3D2A"/>
                </a:solidFill>
                <a:latin typeface="Calibri" pitchFamily="34" charset="0"/>
                <a:ea typeface="Calibri" pitchFamily="34" charset="-122"/>
                <a:cs typeface="Calibri" pitchFamily="34" charset="-120"/>
              </a:rPr>
              <a:t>Factor: 0.5 (halves LR)</a:t>
            </a:r>
            <a:endParaRPr lang="en-US" sz="1150" dirty="0"/>
          </a:p>
          <a:p>
            <a:pPr marL="342900" indent="-342900">
              <a:spcAft>
                <a:spcPts val="200"/>
              </a:spcAft>
              <a:buSzPct val="100000"/>
              <a:buChar char="•"/>
            </a:pPr>
            <a:r>
              <a:rPr lang="en-US" sz="1150" dirty="0">
                <a:solidFill>
                  <a:srgbClr val="2D3D2A"/>
                </a:solidFill>
                <a:latin typeface="Calibri" pitchFamily="34" charset="0"/>
                <a:ea typeface="Calibri" pitchFamily="34" charset="-122"/>
                <a:cs typeface="Calibri" pitchFamily="34" charset="-120"/>
              </a:rPr>
              <a:t>Patience: 5 | min_lr: 1e-7</a:t>
            </a:r>
            <a:endParaRPr lang="en-US" sz="1150" dirty="0"/>
          </a:p>
        </p:txBody>
      </p:sp>
      <p:sp>
        <p:nvSpPr>
          <p:cNvPr id="14" name="Shape 12"/>
          <p:cNvSpPr/>
          <p:nvPr/>
        </p:nvSpPr>
        <p:spPr>
          <a:xfrm>
            <a:off x="6144768" y="1042416"/>
            <a:ext cx="2679192" cy="1783080"/>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15" name="Shape 13"/>
          <p:cNvSpPr/>
          <p:nvPr/>
        </p:nvSpPr>
        <p:spPr>
          <a:xfrm>
            <a:off x="6144768" y="1042416"/>
            <a:ext cx="2679192" cy="457200"/>
          </a:xfrm>
          <a:prstGeom prst="rect">
            <a:avLst/>
          </a:prstGeom>
          <a:solidFill>
            <a:srgbClr val="1B4D2E"/>
          </a:solidFill>
          <a:ln w="12700">
            <a:solidFill>
              <a:srgbClr val="1B4D2E"/>
            </a:solidFill>
            <a:prstDash val="solid"/>
          </a:ln>
        </p:spPr>
      </p:sp>
      <p:sp>
        <p:nvSpPr>
          <p:cNvPr id="16" name="Text 14"/>
          <p:cNvSpPr/>
          <p:nvPr/>
        </p:nvSpPr>
        <p:spPr>
          <a:xfrm>
            <a:off x="6254496" y="1042416"/>
            <a:ext cx="2496312" cy="457200"/>
          </a:xfrm>
          <a:prstGeom prst="rect">
            <a:avLst/>
          </a:prstGeom>
          <a:noFill/>
          <a:ln/>
        </p:spPr>
        <p:txBody>
          <a:bodyPr wrap="square" rtlCol="0" anchor="ctr"/>
          <a:lstStyle/>
          <a:p>
            <a:pPr marL="0" indent="0">
              <a:buNone/>
            </a:pPr>
            <a:r>
              <a:rPr lang="en-US" sz="1300" b="1" dirty="0">
                <a:solidFill>
                  <a:srgbClr val="7CB87A"/>
                </a:solidFill>
                <a:latin typeface="Cambria" pitchFamily="34" charset="0"/>
                <a:ea typeface="Cambria" pitchFamily="34" charset="-122"/>
                <a:cs typeface="Cambria" pitchFamily="34" charset="-120"/>
              </a:rPr>
              <a:t>Early Stopping</a:t>
            </a:r>
            <a:endParaRPr lang="en-US" sz="1300" dirty="0"/>
          </a:p>
        </p:txBody>
      </p:sp>
      <p:sp>
        <p:nvSpPr>
          <p:cNvPr id="17" name="Text 15"/>
          <p:cNvSpPr/>
          <p:nvPr/>
        </p:nvSpPr>
        <p:spPr>
          <a:xfrm>
            <a:off x="6254496" y="1554480"/>
            <a:ext cx="2496312" cy="1216152"/>
          </a:xfrm>
          <a:prstGeom prst="rect">
            <a:avLst/>
          </a:prstGeom>
          <a:noFill/>
          <a:ln/>
        </p:spPr>
        <p:txBody>
          <a:bodyPr wrap="square" rtlCol="0" anchor="ctr"/>
          <a:lstStyle/>
          <a:p>
            <a:pPr marL="342900" indent="-342900">
              <a:spcAft>
                <a:spcPts val="200"/>
              </a:spcAft>
              <a:buSzPct val="100000"/>
              <a:buChar char="•"/>
            </a:pPr>
            <a:r>
              <a:rPr lang="en-US" sz="1150" dirty="0">
                <a:solidFill>
                  <a:srgbClr val="2D3D2A"/>
                </a:solidFill>
                <a:latin typeface="Calibri" pitchFamily="34" charset="0"/>
                <a:ea typeface="Calibri" pitchFamily="34" charset="-122"/>
                <a:cs typeface="Calibri" pitchFamily="34" charset="-120"/>
              </a:rPr>
              <a:t>Patience: 12 epochs</a:t>
            </a:r>
            <a:endParaRPr lang="en-US" sz="1150" dirty="0"/>
          </a:p>
          <a:p>
            <a:pPr marL="342900" indent="-342900">
              <a:spcAft>
                <a:spcPts val="200"/>
              </a:spcAft>
              <a:buSzPct val="100000"/>
              <a:buChar char="•"/>
            </a:pPr>
            <a:r>
              <a:rPr lang="en-US" sz="1150" dirty="0">
                <a:solidFill>
                  <a:srgbClr val="2D3D2A"/>
                </a:solidFill>
                <a:latin typeface="Calibri" pitchFamily="34" charset="0"/>
                <a:ea typeface="Calibri" pitchFamily="34" charset="-122"/>
                <a:cs typeface="Calibri" pitchFamily="34" charset="-120"/>
              </a:rPr>
              <a:t>Best checkpoint saved</a:t>
            </a:r>
            <a:endParaRPr lang="en-US" sz="1150" dirty="0"/>
          </a:p>
          <a:p>
            <a:pPr marL="342900" indent="-342900">
              <a:spcAft>
                <a:spcPts val="200"/>
              </a:spcAft>
              <a:buSzPct val="100000"/>
              <a:buChar char="•"/>
            </a:pPr>
            <a:r>
              <a:rPr lang="en-US" sz="1150" dirty="0">
                <a:solidFill>
                  <a:srgbClr val="2D3D2A"/>
                </a:solidFill>
                <a:latin typeface="Calibri" pitchFamily="34" charset="0"/>
                <a:ea typeface="Calibri" pitchFamily="34" charset="-122"/>
                <a:cs typeface="Calibri" pitchFamily="34" charset="-120"/>
              </a:rPr>
              <a:t>Weights restored on stop</a:t>
            </a:r>
            <a:endParaRPr lang="en-US" sz="1150" dirty="0"/>
          </a:p>
          <a:p>
            <a:pPr marL="342900" indent="-342900">
              <a:spcAft>
                <a:spcPts val="200"/>
              </a:spcAft>
              <a:buSzPct val="100000"/>
              <a:buChar char="•"/>
            </a:pPr>
            <a:r>
              <a:rPr lang="en-US" sz="1150" dirty="0">
                <a:solidFill>
                  <a:srgbClr val="2D3D2A"/>
                </a:solidFill>
                <a:latin typeface="Calibri" pitchFamily="34" charset="0"/>
                <a:ea typeface="Calibri" pitchFamily="34" charset="-122"/>
                <a:cs typeface="Calibri" pitchFamily="34" charset="-120"/>
              </a:rPr>
              <a:t>Up to 20 epochs max</a:t>
            </a:r>
            <a:endParaRPr lang="en-US" sz="1150" dirty="0"/>
          </a:p>
        </p:txBody>
      </p:sp>
      <p:sp>
        <p:nvSpPr>
          <p:cNvPr id="18" name="Shape 16"/>
          <p:cNvSpPr/>
          <p:nvPr/>
        </p:nvSpPr>
        <p:spPr>
          <a:xfrm>
            <a:off x="347472" y="2962656"/>
            <a:ext cx="4041648" cy="1828800"/>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19" name="Shape 17"/>
          <p:cNvSpPr/>
          <p:nvPr/>
        </p:nvSpPr>
        <p:spPr>
          <a:xfrm>
            <a:off x="347472" y="2962656"/>
            <a:ext cx="4041648" cy="457200"/>
          </a:xfrm>
          <a:prstGeom prst="rect">
            <a:avLst/>
          </a:prstGeom>
          <a:solidFill>
            <a:srgbClr val="4A8C3F"/>
          </a:solidFill>
          <a:ln w="12700">
            <a:solidFill>
              <a:srgbClr val="4A8C3F"/>
            </a:solidFill>
            <a:prstDash val="solid"/>
          </a:ln>
        </p:spPr>
      </p:sp>
      <p:sp>
        <p:nvSpPr>
          <p:cNvPr id="20" name="Text 18"/>
          <p:cNvSpPr/>
          <p:nvPr/>
        </p:nvSpPr>
        <p:spPr>
          <a:xfrm>
            <a:off x="475488" y="2962656"/>
            <a:ext cx="3785616" cy="45720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Training Configuration</a:t>
            </a:r>
            <a:endParaRPr lang="en-US" sz="1300" dirty="0"/>
          </a:p>
        </p:txBody>
      </p:sp>
      <p:sp>
        <p:nvSpPr>
          <p:cNvPr id="21" name="Text 19"/>
          <p:cNvSpPr/>
          <p:nvPr/>
        </p:nvSpPr>
        <p:spPr>
          <a:xfrm>
            <a:off x="475488" y="3474720"/>
            <a:ext cx="3785616" cy="1261872"/>
          </a:xfrm>
          <a:prstGeom prst="rect">
            <a:avLst/>
          </a:prstGeom>
          <a:noFill/>
          <a:ln/>
        </p:spPr>
        <p:txBody>
          <a:bodyPr wrap="square" rtlCol="0" anchor="ctr"/>
          <a:lstStyle/>
          <a:p>
            <a:pPr marL="342900" indent="-342900">
              <a:spcAft>
                <a:spcPts val="300"/>
              </a:spcAft>
              <a:buSzPct val="100000"/>
              <a:buChar char="•"/>
            </a:pPr>
            <a:r>
              <a:rPr lang="en-US" sz="1200" dirty="0">
                <a:solidFill>
                  <a:srgbClr val="2D3D2A"/>
                </a:solidFill>
                <a:latin typeface="Calibri" pitchFamily="34" charset="0"/>
                <a:ea typeface="Calibri" pitchFamily="34" charset="-122"/>
                <a:cs typeface="Calibri" pitchFamily="34" charset="-120"/>
              </a:rPr>
              <a:t>Epochs: 20 (max) | Batch size: 32 | Workers: 4</a:t>
            </a:r>
            <a:endParaRPr lang="en-US" sz="1200" dirty="0"/>
          </a:p>
          <a:p>
            <a:pPr marL="342900" indent="-342900">
              <a:spcAft>
                <a:spcPts val="300"/>
              </a:spcAft>
              <a:buSzPct val="100000"/>
              <a:buChar char="•"/>
            </a:pPr>
            <a:r>
              <a:rPr lang="en-US" sz="1200" dirty="0">
                <a:solidFill>
                  <a:srgbClr val="2D3D2A"/>
                </a:solidFill>
                <a:latin typeface="Calibri" pitchFamily="34" charset="0"/>
                <a:ea typeface="Calibri" pitchFamily="34" charset="-122"/>
                <a:cs typeface="Calibri" pitchFamily="34" charset="-120"/>
              </a:rPr>
              <a:t>Mixed-precision AMP (FP16) on GPU — faster + less memory</a:t>
            </a:r>
            <a:endParaRPr lang="en-US" sz="1200" dirty="0"/>
          </a:p>
          <a:p>
            <a:pPr marL="342900" indent="-342900">
              <a:spcAft>
                <a:spcPts val="300"/>
              </a:spcAft>
              <a:buSzPct val="100000"/>
              <a:buChar char="•"/>
            </a:pPr>
            <a:r>
              <a:rPr lang="en-US" sz="1200" dirty="0">
                <a:solidFill>
                  <a:srgbClr val="2D3D2A"/>
                </a:solidFill>
                <a:latin typeface="Calibri" pitchFamily="34" charset="0"/>
                <a:ea typeface="Calibri" pitchFamily="34" charset="-122"/>
                <a:cs typeface="Calibri" pitchFamily="34" charset="-120"/>
              </a:rPr>
              <a:t>Loss: CrossEntropyLoss | InceptionV3: main + 0.4 × aux loss</a:t>
            </a:r>
            <a:endParaRPr lang="en-US" sz="1200" dirty="0"/>
          </a:p>
          <a:p>
            <a:pPr marL="342900" indent="-342900">
              <a:spcAft>
                <a:spcPts val="300"/>
              </a:spcAft>
              <a:buSzPct val="100000"/>
              <a:buChar char="•"/>
            </a:pPr>
            <a:r>
              <a:rPr lang="en-US" sz="1200" dirty="0">
                <a:solidFill>
                  <a:srgbClr val="2D3D2A"/>
                </a:solidFill>
                <a:latin typeface="Calibri" pitchFamily="34" charset="0"/>
                <a:ea typeface="Calibri" pitchFamily="34" charset="-122"/>
                <a:cs typeface="Calibri" pitchFamily="34" charset="-120"/>
              </a:rPr>
              <a:t>Per-model normalisation applied in DataLoader transforms</a:t>
            </a:r>
            <a:endParaRPr lang="en-US" sz="1200" dirty="0"/>
          </a:p>
        </p:txBody>
      </p:sp>
      <p:sp>
        <p:nvSpPr>
          <p:cNvPr id="22" name="Shape 20"/>
          <p:cNvSpPr/>
          <p:nvPr/>
        </p:nvSpPr>
        <p:spPr>
          <a:xfrm>
            <a:off x="4608576" y="2962656"/>
            <a:ext cx="4187952" cy="1828800"/>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23" name="Shape 21"/>
          <p:cNvSpPr/>
          <p:nvPr/>
        </p:nvSpPr>
        <p:spPr>
          <a:xfrm>
            <a:off x="4608576" y="2962656"/>
            <a:ext cx="4187952" cy="457200"/>
          </a:xfrm>
          <a:prstGeom prst="rect">
            <a:avLst/>
          </a:prstGeom>
          <a:solidFill>
            <a:srgbClr val="4A8C3F"/>
          </a:solidFill>
          <a:ln w="12700">
            <a:solidFill>
              <a:srgbClr val="4A8C3F"/>
            </a:solidFill>
            <a:prstDash val="solid"/>
          </a:ln>
        </p:spPr>
      </p:sp>
      <p:sp>
        <p:nvSpPr>
          <p:cNvPr id="24" name="Text 22"/>
          <p:cNvSpPr/>
          <p:nvPr/>
        </p:nvSpPr>
        <p:spPr>
          <a:xfrm>
            <a:off x="4736592" y="2962656"/>
            <a:ext cx="3931920" cy="457200"/>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BatchNorm Freezing Strategy</a:t>
            </a:r>
            <a:endParaRPr lang="en-US" sz="1300" dirty="0"/>
          </a:p>
        </p:txBody>
      </p:sp>
      <p:sp>
        <p:nvSpPr>
          <p:cNvPr id="25" name="Text 23"/>
          <p:cNvSpPr/>
          <p:nvPr/>
        </p:nvSpPr>
        <p:spPr>
          <a:xfrm>
            <a:off x="4736592" y="3474720"/>
            <a:ext cx="3931920" cy="1261872"/>
          </a:xfrm>
          <a:prstGeom prst="rect">
            <a:avLst/>
          </a:prstGeom>
          <a:noFill/>
          <a:ln/>
        </p:spPr>
        <p:txBody>
          <a:bodyPr wrap="square" rtlCol="0" anchor="ctr"/>
          <a:lstStyle/>
          <a:p>
            <a:pPr marL="342900" indent="-342900">
              <a:spcAft>
                <a:spcPts val="300"/>
              </a:spcAft>
              <a:buSzPct val="100000"/>
              <a:buChar char="•"/>
            </a:pPr>
            <a:r>
              <a:rPr lang="en-US" sz="1200" dirty="0">
                <a:solidFill>
                  <a:srgbClr val="2D3D2A"/>
                </a:solidFill>
                <a:latin typeface="Calibri" pitchFamily="34" charset="0"/>
                <a:ea typeface="Calibri" pitchFamily="34" charset="-122"/>
                <a:cs typeface="Calibri" pitchFamily="34" charset="-120"/>
              </a:rPr>
              <a:t>All backbone BN2d layers: set to eval() + freeze parameters</a:t>
            </a:r>
            <a:endParaRPr lang="en-US" sz="1200" dirty="0"/>
          </a:p>
          <a:p>
            <a:pPr marL="342900" indent="-342900">
              <a:spcAft>
                <a:spcPts val="300"/>
              </a:spcAft>
              <a:buSzPct val="100000"/>
              <a:buChar char="•"/>
            </a:pPr>
            <a:r>
              <a:rPr lang="en-US" sz="1200" dirty="0">
                <a:solidFill>
                  <a:srgbClr val="2D3D2A"/>
                </a:solidFill>
                <a:latin typeface="Calibri" pitchFamily="34" charset="0"/>
                <a:ea typeface="Calibri" pitchFamily="34" charset="-122"/>
                <a:cs typeface="Calibri" pitchFamily="34" charset="-120"/>
              </a:rPr>
              <a:t>Custom head BN1d layers: kept trainable (no pretrained stats)</a:t>
            </a:r>
            <a:endParaRPr lang="en-US" sz="1200" dirty="0"/>
          </a:p>
          <a:p>
            <a:pPr marL="342900" indent="-342900">
              <a:spcAft>
                <a:spcPts val="300"/>
              </a:spcAft>
              <a:buSzPct val="100000"/>
              <a:buChar char="•"/>
            </a:pPr>
            <a:r>
              <a:rPr lang="en-US" sz="1200" dirty="0">
                <a:solidFill>
                  <a:srgbClr val="2D3D2A"/>
                </a:solidFill>
                <a:latin typeface="Calibri" pitchFamily="34" charset="0"/>
                <a:ea typeface="Calibri" pitchFamily="34" charset="-122"/>
                <a:cs typeface="Calibri" pitchFamily="34" charset="-120"/>
              </a:rPr>
              <a:t>Rationale: preserves ImageNet-trained running mean/var</a:t>
            </a:r>
            <a:endParaRPr lang="en-US" sz="1200" dirty="0"/>
          </a:p>
          <a:p>
            <a:pPr marL="342900" indent="-342900">
              <a:spcAft>
                <a:spcPts val="300"/>
              </a:spcAft>
              <a:buSzPct val="100000"/>
              <a:buChar char="•"/>
            </a:pPr>
            <a:r>
              <a:rPr lang="en-US" sz="1200" dirty="0">
                <a:solidFill>
                  <a:srgbClr val="2D3D2A"/>
                </a:solidFill>
                <a:latin typeface="Calibri" pitchFamily="34" charset="0"/>
                <a:ea typeface="Calibri" pitchFamily="34" charset="-122"/>
                <a:cs typeface="Calibri" pitchFamily="34" charset="-120"/>
              </a:rPr>
              <a:t>Prevents distribution shift on smaller rice dataset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4F7F1"/>
        </a:solidFill>
        <a:effectLst/>
      </p:bgPr>
    </p:bg>
    <p:spTree>
      <p:nvGrpSpPr>
        <p:cNvPr id="1" name=""/>
        <p:cNvGrpSpPr/>
        <p:nvPr/>
      </p:nvGrpSpPr>
      <p:grpSpPr>
        <a:xfrm>
          <a:off x="0" y="0"/>
          <a:ext cx="0" cy="0"/>
          <a:chOff x="0" y="0"/>
          <a:chExt cx="0" cy="0"/>
        </a:xfrm>
      </p:grpSpPr>
      <p:sp>
        <p:nvSpPr>
          <p:cNvPr id="2" name="Shape 0"/>
          <p:cNvSpPr/>
          <p:nvPr/>
        </p:nvSpPr>
        <p:spPr>
          <a:xfrm>
            <a:off x="347472" y="228600"/>
            <a:ext cx="73152" cy="566928"/>
          </a:xfrm>
          <a:prstGeom prst="rect">
            <a:avLst/>
          </a:prstGeom>
          <a:solidFill>
            <a:srgbClr val="7CB87A"/>
          </a:solidFill>
          <a:ln w="12700">
            <a:solidFill>
              <a:srgbClr val="7CB87A"/>
            </a:solidFill>
            <a:prstDash val="solid"/>
          </a:ln>
        </p:spPr>
      </p:sp>
      <p:sp>
        <p:nvSpPr>
          <p:cNvPr id="3" name="Text 1"/>
          <p:cNvSpPr/>
          <p:nvPr/>
        </p:nvSpPr>
        <p:spPr>
          <a:xfrm>
            <a:off x="521208" y="192024"/>
            <a:ext cx="8275320" cy="676656"/>
          </a:xfrm>
          <a:prstGeom prst="rect">
            <a:avLst/>
          </a:prstGeom>
          <a:noFill/>
          <a:ln/>
        </p:spPr>
        <p:txBody>
          <a:bodyPr wrap="square" lIns="0" tIns="0" rIns="0" bIns="0" rtlCol="0" anchor="ctr"/>
          <a:lstStyle/>
          <a:p>
            <a:pPr marL="0" indent="0">
              <a:buNone/>
            </a:pPr>
            <a:r>
              <a:rPr lang="en-US" sz="2700" b="1" dirty="0">
                <a:solidFill>
                  <a:srgbClr val="1B4D2E"/>
                </a:solidFill>
                <a:latin typeface="Cambria" pitchFamily="34" charset="0"/>
                <a:ea typeface="Cambria" pitchFamily="34" charset="-122"/>
                <a:cs typeface="Cambria" pitchFamily="34" charset="-120"/>
              </a:rPr>
              <a:t>Ensemble Methods</a:t>
            </a:r>
            <a:endParaRPr lang="en-US" sz="2700" dirty="0"/>
          </a:p>
        </p:txBody>
      </p:sp>
      <p:sp>
        <p:nvSpPr>
          <p:cNvPr id="6" name="Text 4"/>
          <p:cNvSpPr/>
          <p:nvPr/>
        </p:nvSpPr>
        <p:spPr>
          <a:xfrm>
            <a:off x="8046720" y="4892040"/>
            <a:ext cx="914400" cy="182880"/>
          </a:xfrm>
          <a:prstGeom prst="rect">
            <a:avLst/>
          </a:prstGeom>
          <a:noFill/>
          <a:ln/>
        </p:spPr>
        <p:txBody>
          <a:bodyPr wrap="square" rtlCol="0" anchor="ctr"/>
          <a:lstStyle/>
          <a:p>
            <a:pPr marL="0" indent="0" algn="r">
              <a:buNone/>
            </a:pPr>
            <a:r>
              <a:rPr lang="en-US" sz="1000" dirty="0">
                <a:solidFill>
                  <a:srgbClr val="607060"/>
                </a:solidFill>
                <a:latin typeface="Calibri" pitchFamily="34" charset="0"/>
                <a:ea typeface="Calibri" pitchFamily="34" charset="-122"/>
                <a:cs typeface="Calibri" pitchFamily="34" charset="-120"/>
              </a:rPr>
              <a:t>12 / 22</a:t>
            </a:r>
            <a:endParaRPr lang="en-US" sz="1000" dirty="0"/>
          </a:p>
        </p:txBody>
      </p:sp>
      <p:sp>
        <p:nvSpPr>
          <p:cNvPr id="7" name="Shape 5"/>
          <p:cNvSpPr/>
          <p:nvPr/>
        </p:nvSpPr>
        <p:spPr>
          <a:xfrm>
            <a:off x="347472" y="1042416"/>
            <a:ext cx="2926080" cy="3675888"/>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8" name="Shape 6"/>
          <p:cNvSpPr/>
          <p:nvPr/>
        </p:nvSpPr>
        <p:spPr>
          <a:xfrm>
            <a:off x="347472" y="1042416"/>
            <a:ext cx="2926080" cy="457200"/>
          </a:xfrm>
          <a:prstGeom prst="rect">
            <a:avLst/>
          </a:prstGeom>
          <a:solidFill>
            <a:srgbClr val="1B4D2E"/>
          </a:solidFill>
          <a:ln w="12700">
            <a:solidFill>
              <a:srgbClr val="1B4D2E"/>
            </a:solidFill>
            <a:prstDash val="solid"/>
          </a:ln>
        </p:spPr>
      </p:sp>
      <p:sp>
        <p:nvSpPr>
          <p:cNvPr id="9" name="Text 7"/>
          <p:cNvSpPr/>
          <p:nvPr/>
        </p:nvSpPr>
        <p:spPr>
          <a:xfrm>
            <a:off x="457200" y="1042416"/>
            <a:ext cx="2706624" cy="457200"/>
          </a:xfrm>
          <a:prstGeom prst="rect">
            <a:avLst/>
          </a:prstGeom>
          <a:noFill/>
          <a:ln/>
        </p:spPr>
        <p:txBody>
          <a:bodyPr wrap="square" rtlCol="0" anchor="ctr"/>
          <a:lstStyle/>
          <a:p>
            <a:pPr marL="0" indent="0">
              <a:buNone/>
            </a:pPr>
            <a:r>
              <a:rPr lang="en-US" sz="1300" b="1" dirty="0">
                <a:solidFill>
                  <a:srgbClr val="7CB87A"/>
                </a:solidFill>
                <a:latin typeface="Cambria" pitchFamily="34" charset="0"/>
                <a:ea typeface="Cambria" pitchFamily="34" charset="-122"/>
                <a:cs typeface="Cambria" pitchFamily="34" charset="-120"/>
              </a:rPr>
              <a:t>Individual CNN Models</a:t>
            </a:r>
            <a:endParaRPr lang="en-US" sz="1300" dirty="0"/>
          </a:p>
        </p:txBody>
      </p:sp>
      <p:sp>
        <p:nvSpPr>
          <p:cNvPr id="10" name="Shape 8"/>
          <p:cNvSpPr/>
          <p:nvPr/>
        </p:nvSpPr>
        <p:spPr>
          <a:xfrm>
            <a:off x="475488" y="1627632"/>
            <a:ext cx="2670048" cy="402336"/>
          </a:xfrm>
          <a:prstGeom prst="rect">
            <a:avLst/>
          </a:prstGeom>
          <a:solidFill>
            <a:srgbClr val="E8F5E2"/>
          </a:solidFill>
          <a:ln w="9525">
            <a:solidFill>
              <a:srgbClr val="C2D6B8"/>
            </a:solidFill>
            <a:prstDash val="solid"/>
          </a:ln>
        </p:spPr>
      </p:sp>
      <p:sp>
        <p:nvSpPr>
          <p:cNvPr id="11" name="Shape 9"/>
          <p:cNvSpPr/>
          <p:nvPr/>
        </p:nvSpPr>
        <p:spPr>
          <a:xfrm>
            <a:off x="475488" y="1627632"/>
            <a:ext cx="54864" cy="402336"/>
          </a:xfrm>
          <a:prstGeom prst="rect">
            <a:avLst/>
          </a:prstGeom>
          <a:solidFill>
            <a:srgbClr val="7CB87A"/>
          </a:solidFill>
          <a:ln w="12700">
            <a:solidFill>
              <a:srgbClr val="7CB87A"/>
            </a:solidFill>
            <a:prstDash val="solid"/>
          </a:ln>
        </p:spPr>
      </p:sp>
      <p:sp>
        <p:nvSpPr>
          <p:cNvPr id="12" name="Text 10"/>
          <p:cNvSpPr/>
          <p:nvPr/>
        </p:nvSpPr>
        <p:spPr>
          <a:xfrm>
            <a:off x="621792" y="1627632"/>
            <a:ext cx="2468880" cy="402336"/>
          </a:xfrm>
          <a:prstGeom prst="rect">
            <a:avLst/>
          </a:prstGeom>
          <a:noFill/>
          <a:ln/>
        </p:spPr>
        <p:txBody>
          <a:bodyPr wrap="square" rtlCol="0" anchor="ctr"/>
          <a:lstStyle/>
          <a:p>
            <a:pPr marL="0" indent="0">
              <a:buNone/>
            </a:pPr>
            <a:r>
              <a:rPr lang="en-US" sz="1150" b="1" dirty="0">
                <a:solidFill>
                  <a:srgbClr val="1B4D2E"/>
                </a:solidFill>
                <a:latin typeface="Calibri" pitchFamily="34" charset="0"/>
                <a:ea typeface="Calibri" pitchFamily="34" charset="-122"/>
                <a:cs typeface="Calibri" pitchFamily="34" charset="-120"/>
              </a:rPr>
              <a:t>EfficientNetB0</a:t>
            </a:r>
            <a:endParaRPr lang="en-US" sz="1150" dirty="0"/>
          </a:p>
        </p:txBody>
      </p:sp>
      <p:sp>
        <p:nvSpPr>
          <p:cNvPr id="13" name="Shape 11"/>
          <p:cNvSpPr/>
          <p:nvPr/>
        </p:nvSpPr>
        <p:spPr>
          <a:xfrm>
            <a:off x="475488" y="2130552"/>
            <a:ext cx="2670048" cy="402336"/>
          </a:xfrm>
          <a:prstGeom prst="rect">
            <a:avLst/>
          </a:prstGeom>
          <a:solidFill>
            <a:srgbClr val="E8F5E2"/>
          </a:solidFill>
          <a:ln w="9525">
            <a:solidFill>
              <a:srgbClr val="C2D6B8"/>
            </a:solidFill>
            <a:prstDash val="solid"/>
          </a:ln>
        </p:spPr>
      </p:sp>
      <p:sp>
        <p:nvSpPr>
          <p:cNvPr id="14" name="Shape 12"/>
          <p:cNvSpPr/>
          <p:nvPr/>
        </p:nvSpPr>
        <p:spPr>
          <a:xfrm>
            <a:off x="475488" y="2130552"/>
            <a:ext cx="54864" cy="402336"/>
          </a:xfrm>
          <a:prstGeom prst="rect">
            <a:avLst/>
          </a:prstGeom>
          <a:solidFill>
            <a:srgbClr val="7CB87A"/>
          </a:solidFill>
          <a:ln w="12700">
            <a:solidFill>
              <a:srgbClr val="7CB87A"/>
            </a:solidFill>
            <a:prstDash val="solid"/>
          </a:ln>
        </p:spPr>
      </p:sp>
      <p:sp>
        <p:nvSpPr>
          <p:cNvPr id="15" name="Text 13"/>
          <p:cNvSpPr/>
          <p:nvPr/>
        </p:nvSpPr>
        <p:spPr>
          <a:xfrm>
            <a:off x="621792" y="2130552"/>
            <a:ext cx="2468880" cy="402336"/>
          </a:xfrm>
          <a:prstGeom prst="rect">
            <a:avLst/>
          </a:prstGeom>
          <a:noFill/>
          <a:ln/>
        </p:spPr>
        <p:txBody>
          <a:bodyPr wrap="square" rtlCol="0" anchor="ctr"/>
          <a:lstStyle/>
          <a:p>
            <a:pPr marL="0" indent="0">
              <a:buNone/>
            </a:pPr>
            <a:r>
              <a:rPr lang="en-US" sz="1150" b="1" dirty="0">
                <a:solidFill>
                  <a:srgbClr val="1B4D2E"/>
                </a:solidFill>
                <a:latin typeface="Calibri" pitchFamily="34" charset="0"/>
                <a:ea typeface="Calibri" pitchFamily="34" charset="-122"/>
                <a:cs typeface="Calibri" pitchFamily="34" charset="-120"/>
              </a:rPr>
              <a:t>MobileNetV2</a:t>
            </a:r>
            <a:endParaRPr lang="en-US" sz="1150" dirty="0"/>
          </a:p>
        </p:txBody>
      </p:sp>
      <p:sp>
        <p:nvSpPr>
          <p:cNvPr id="16" name="Shape 14"/>
          <p:cNvSpPr/>
          <p:nvPr/>
        </p:nvSpPr>
        <p:spPr>
          <a:xfrm>
            <a:off x="475488" y="2633472"/>
            <a:ext cx="2670048" cy="402336"/>
          </a:xfrm>
          <a:prstGeom prst="rect">
            <a:avLst/>
          </a:prstGeom>
          <a:solidFill>
            <a:srgbClr val="E8F5E2"/>
          </a:solidFill>
          <a:ln w="9525">
            <a:solidFill>
              <a:srgbClr val="C2D6B8"/>
            </a:solidFill>
            <a:prstDash val="solid"/>
          </a:ln>
        </p:spPr>
      </p:sp>
      <p:sp>
        <p:nvSpPr>
          <p:cNvPr id="17" name="Shape 15"/>
          <p:cNvSpPr/>
          <p:nvPr/>
        </p:nvSpPr>
        <p:spPr>
          <a:xfrm>
            <a:off x="475488" y="2633472"/>
            <a:ext cx="54864" cy="402336"/>
          </a:xfrm>
          <a:prstGeom prst="rect">
            <a:avLst/>
          </a:prstGeom>
          <a:solidFill>
            <a:srgbClr val="7CB87A"/>
          </a:solidFill>
          <a:ln w="12700">
            <a:solidFill>
              <a:srgbClr val="7CB87A"/>
            </a:solidFill>
            <a:prstDash val="solid"/>
          </a:ln>
        </p:spPr>
      </p:sp>
      <p:sp>
        <p:nvSpPr>
          <p:cNvPr id="18" name="Text 16"/>
          <p:cNvSpPr/>
          <p:nvPr/>
        </p:nvSpPr>
        <p:spPr>
          <a:xfrm>
            <a:off x="621792" y="2633472"/>
            <a:ext cx="2468880" cy="402336"/>
          </a:xfrm>
          <a:prstGeom prst="rect">
            <a:avLst/>
          </a:prstGeom>
          <a:noFill/>
          <a:ln/>
        </p:spPr>
        <p:txBody>
          <a:bodyPr wrap="square" rtlCol="0" anchor="ctr"/>
          <a:lstStyle/>
          <a:p>
            <a:pPr marL="0" indent="0">
              <a:buNone/>
            </a:pPr>
            <a:r>
              <a:rPr lang="en-US" sz="1150" b="1" dirty="0">
                <a:solidFill>
                  <a:srgbClr val="1B4D2E"/>
                </a:solidFill>
                <a:latin typeface="Calibri" pitchFamily="34" charset="0"/>
                <a:ea typeface="Calibri" pitchFamily="34" charset="-122"/>
                <a:cs typeface="Calibri" pitchFamily="34" charset="-120"/>
              </a:rPr>
              <a:t>VGG16</a:t>
            </a:r>
            <a:endParaRPr lang="en-US" sz="1150" dirty="0"/>
          </a:p>
        </p:txBody>
      </p:sp>
      <p:sp>
        <p:nvSpPr>
          <p:cNvPr id="19" name="Shape 17"/>
          <p:cNvSpPr/>
          <p:nvPr/>
        </p:nvSpPr>
        <p:spPr>
          <a:xfrm>
            <a:off x="475488" y="3136392"/>
            <a:ext cx="2670048" cy="402336"/>
          </a:xfrm>
          <a:prstGeom prst="rect">
            <a:avLst/>
          </a:prstGeom>
          <a:solidFill>
            <a:srgbClr val="E8F5E2"/>
          </a:solidFill>
          <a:ln w="9525">
            <a:solidFill>
              <a:srgbClr val="C2D6B8"/>
            </a:solidFill>
            <a:prstDash val="solid"/>
          </a:ln>
        </p:spPr>
      </p:sp>
      <p:sp>
        <p:nvSpPr>
          <p:cNvPr id="20" name="Shape 18"/>
          <p:cNvSpPr/>
          <p:nvPr/>
        </p:nvSpPr>
        <p:spPr>
          <a:xfrm>
            <a:off x="475488" y="3136392"/>
            <a:ext cx="54864" cy="402336"/>
          </a:xfrm>
          <a:prstGeom prst="rect">
            <a:avLst/>
          </a:prstGeom>
          <a:solidFill>
            <a:srgbClr val="7CB87A"/>
          </a:solidFill>
          <a:ln w="12700">
            <a:solidFill>
              <a:srgbClr val="7CB87A"/>
            </a:solidFill>
            <a:prstDash val="solid"/>
          </a:ln>
        </p:spPr>
      </p:sp>
      <p:sp>
        <p:nvSpPr>
          <p:cNvPr id="21" name="Text 19"/>
          <p:cNvSpPr/>
          <p:nvPr/>
        </p:nvSpPr>
        <p:spPr>
          <a:xfrm>
            <a:off x="621792" y="3136392"/>
            <a:ext cx="2468880" cy="402336"/>
          </a:xfrm>
          <a:prstGeom prst="rect">
            <a:avLst/>
          </a:prstGeom>
          <a:noFill/>
          <a:ln/>
        </p:spPr>
        <p:txBody>
          <a:bodyPr wrap="square" rtlCol="0" anchor="ctr"/>
          <a:lstStyle/>
          <a:p>
            <a:pPr marL="0" indent="0">
              <a:buNone/>
            </a:pPr>
            <a:r>
              <a:rPr lang="en-US" sz="1150" b="1" dirty="0">
                <a:solidFill>
                  <a:srgbClr val="1B4D2E"/>
                </a:solidFill>
                <a:latin typeface="Calibri" pitchFamily="34" charset="0"/>
                <a:ea typeface="Calibri" pitchFamily="34" charset="-122"/>
                <a:cs typeface="Calibri" pitchFamily="34" charset="-120"/>
              </a:rPr>
              <a:t>InceptionV3</a:t>
            </a:r>
            <a:endParaRPr lang="en-US" sz="1150" dirty="0"/>
          </a:p>
        </p:txBody>
      </p:sp>
      <p:sp>
        <p:nvSpPr>
          <p:cNvPr id="22" name="Shape 20"/>
          <p:cNvSpPr/>
          <p:nvPr/>
        </p:nvSpPr>
        <p:spPr>
          <a:xfrm>
            <a:off x="475488" y="3639312"/>
            <a:ext cx="2670048" cy="402336"/>
          </a:xfrm>
          <a:prstGeom prst="rect">
            <a:avLst/>
          </a:prstGeom>
          <a:solidFill>
            <a:srgbClr val="E8F5E2"/>
          </a:solidFill>
          <a:ln w="9525">
            <a:solidFill>
              <a:srgbClr val="C2D6B8"/>
            </a:solidFill>
            <a:prstDash val="solid"/>
          </a:ln>
        </p:spPr>
      </p:sp>
      <p:sp>
        <p:nvSpPr>
          <p:cNvPr id="23" name="Shape 21"/>
          <p:cNvSpPr/>
          <p:nvPr/>
        </p:nvSpPr>
        <p:spPr>
          <a:xfrm>
            <a:off x="475488" y="3639312"/>
            <a:ext cx="54864" cy="402336"/>
          </a:xfrm>
          <a:prstGeom prst="rect">
            <a:avLst/>
          </a:prstGeom>
          <a:solidFill>
            <a:srgbClr val="7CB87A"/>
          </a:solidFill>
          <a:ln w="12700">
            <a:solidFill>
              <a:srgbClr val="7CB87A"/>
            </a:solidFill>
            <a:prstDash val="solid"/>
          </a:ln>
        </p:spPr>
      </p:sp>
      <p:sp>
        <p:nvSpPr>
          <p:cNvPr id="24" name="Text 22"/>
          <p:cNvSpPr/>
          <p:nvPr/>
        </p:nvSpPr>
        <p:spPr>
          <a:xfrm>
            <a:off x="621792" y="3639312"/>
            <a:ext cx="2468880" cy="402336"/>
          </a:xfrm>
          <a:prstGeom prst="rect">
            <a:avLst/>
          </a:prstGeom>
          <a:noFill/>
          <a:ln/>
        </p:spPr>
        <p:txBody>
          <a:bodyPr wrap="square" rtlCol="0" anchor="ctr"/>
          <a:lstStyle/>
          <a:p>
            <a:pPr marL="0" indent="0">
              <a:buNone/>
            </a:pPr>
            <a:r>
              <a:rPr lang="en-US" sz="1150" b="1" dirty="0">
                <a:solidFill>
                  <a:srgbClr val="1B4D2E"/>
                </a:solidFill>
                <a:latin typeface="Calibri" pitchFamily="34" charset="0"/>
                <a:ea typeface="Calibri" pitchFamily="34" charset="-122"/>
                <a:cs typeface="Calibri" pitchFamily="34" charset="-120"/>
              </a:rPr>
              <a:t>Xception</a:t>
            </a:r>
            <a:endParaRPr lang="en-US" sz="1150" dirty="0"/>
          </a:p>
        </p:txBody>
      </p:sp>
      <p:sp>
        <p:nvSpPr>
          <p:cNvPr id="25" name="Shape 23"/>
          <p:cNvSpPr/>
          <p:nvPr/>
        </p:nvSpPr>
        <p:spPr>
          <a:xfrm>
            <a:off x="475488" y="4142232"/>
            <a:ext cx="2670048" cy="402336"/>
          </a:xfrm>
          <a:prstGeom prst="rect">
            <a:avLst/>
          </a:prstGeom>
          <a:solidFill>
            <a:srgbClr val="E8F5E2"/>
          </a:solidFill>
          <a:ln w="9525">
            <a:solidFill>
              <a:srgbClr val="C2D6B8"/>
            </a:solidFill>
            <a:prstDash val="solid"/>
          </a:ln>
        </p:spPr>
      </p:sp>
      <p:sp>
        <p:nvSpPr>
          <p:cNvPr id="26" name="Shape 24"/>
          <p:cNvSpPr/>
          <p:nvPr/>
        </p:nvSpPr>
        <p:spPr>
          <a:xfrm>
            <a:off x="475488" y="4142232"/>
            <a:ext cx="54864" cy="402336"/>
          </a:xfrm>
          <a:prstGeom prst="rect">
            <a:avLst/>
          </a:prstGeom>
          <a:solidFill>
            <a:srgbClr val="7CB87A"/>
          </a:solidFill>
          <a:ln w="12700">
            <a:solidFill>
              <a:srgbClr val="7CB87A"/>
            </a:solidFill>
            <a:prstDash val="solid"/>
          </a:ln>
        </p:spPr>
      </p:sp>
      <p:sp>
        <p:nvSpPr>
          <p:cNvPr id="27" name="Text 25"/>
          <p:cNvSpPr/>
          <p:nvPr/>
        </p:nvSpPr>
        <p:spPr>
          <a:xfrm>
            <a:off x="621792" y="4142232"/>
            <a:ext cx="2468880" cy="402336"/>
          </a:xfrm>
          <a:prstGeom prst="rect">
            <a:avLst/>
          </a:prstGeom>
          <a:noFill/>
          <a:ln/>
        </p:spPr>
        <p:txBody>
          <a:bodyPr wrap="square" rtlCol="0" anchor="ctr"/>
          <a:lstStyle/>
          <a:p>
            <a:pPr marL="0" indent="0">
              <a:buNone/>
            </a:pPr>
            <a:r>
              <a:rPr lang="en-US" sz="1150" b="1" dirty="0">
                <a:solidFill>
                  <a:srgbClr val="1B4D2E"/>
                </a:solidFill>
                <a:latin typeface="Calibri" pitchFamily="34" charset="0"/>
                <a:ea typeface="Calibri" pitchFamily="34" charset="-122"/>
                <a:cs typeface="Calibri" pitchFamily="34" charset="-120"/>
              </a:rPr>
              <a:t>InceptionResNetV2</a:t>
            </a:r>
            <a:endParaRPr lang="en-US" sz="1150" dirty="0"/>
          </a:p>
        </p:txBody>
      </p:sp>
      <p:sp>
        <p:nvSpPr>
          <p:cNvPr id="28" name="Text 26"/>
          <p:cNvSpPr/>
          <p:nvPr/>
        </p:nvSpPr>
        <p:spPr>
          <a:xfrm>
            <a:off x="3383280" y="2697480"/>
            <a:ext cx="502920" cy="457200"/>
          </a:xfrm>
          <a:prstGeom prst="rect">
            <a:avLst/>
          </a:prstGeom>
          <a:noFill/>
          <a:ln/>
        </p:spPr>
        <p:txBody>
          <a:bodyPr wrap="square" rtlCol="0" anchor="ctr"/>
          <a:lstStyle/>
          <a:p>
            <a:pPr marL="0" indent="0" algn="ctr">
              <a:buNone/>
            </a:pPr>
            <a:r>
              <a:rPr lang="en-US" sz="2400" dirty="0">
                <a:solidFill>
                  <a:srgbClr val="7CB87A"/>
                </a:solidFill>
                <a:latin typeface="Calibri" pitchFamily="34" charset="0"/>
                <a:ea typeface="Calibri" pitchFamily="34" charset="-122"/>
                <a:cs typeface="Calibri" pitchFamily="34" charset="-120"/>
              </a:rPr>
              <a:t>►</a:t>
            </a:r>
            <a:endParaRPr lang="en-US" sz="2400" dirty="0"/>
          </a:p>
        </p:txBody>
      </p:sp>
      <p:sp>
        <p:nvSpPr>
          <p:cNvPr id="29" name="Shape 27"/>
          <p:cNvSpPr/>
          <p:nvPr/>
        </p:nvSpPr>
        <p:spPr>
          <a:xfrm>
            <a:off x="4023360" y="1042416"/>
            <a:ext cx="4773168" cy="969264"/>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30" name="Shape 28"/>
          <p:cNvSpPr/>
          <p:nvPr/>
        </p:nvSpPr>
        <p:spPr>
          <a:xfrm>
            <a:off x="4023360" y="1042416"/>
            <a:ext cx="502920" cy="969264"/>
          </a:xfrm>
          <a:prstGeom prst="rect">
            <a:avLst/>
          </a:prstGeom>
          <a:solidFill>
            <a:srgbClr val="4A8C3F"/>
          </a:solidFill>
          <a:ln w="12700">
            <a:solidFill>
              <a:srgbClr val="4A8C3F"/>
            </a:solidFill>
            <a:prstDash val="solid"/>
          </a:ln>
        </p:spPr>
      </p:sp>
      <p:sp>
        <p:nvSpPr>
          <p:cNvPr id="31" name="Text 29"/>
          <p:cNvSpPr/>
          <p:nvPr/>
        </p:nvSpPr>
        <p:spPr>
          <a:xfrm>
            <a:off x="4023360" y="1042416"/>
            <a:ext cx="502920" cy="969264"/>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01</a:t>
            </a:r>
            <a:endParaRPr lang="en-US" sz="1700" dirty="0"/>
          </a:p>
        </p:txBody>
      </p:sp>
      <p:sp>
        <p:nvSpPr>
          <p:cNvPr id="32" name="Text 30"/>
          <p:cNvSpPr/>
          <p:nvPr/>
        </p:nvSpPr>
        <p:spPr>
          <a:xfrm>
            <a:off x="4617720" y="1115568"/>
            <a:ext cx="4087368" cy="310896"/>
          </a:xfrm>
          <a:prstGeom prst="rect">
            <a:avLst/>
          </a:prstGeom>
          <a:noFill/>
          <a:ln/>
        </p:spPr>
        <p:txBody>
          <a:bodyPr wrap="square" rtlCol="0" anchor="ctr"/>
          <a:lstStyle/>
          <a:p>
            <a:pPr marL="0" indent="0">
              <a:buNone/>
            </a:pPr>
            <a:r>
              <a:rPr lang="en-US" sz="1300" b="1" dirty="0">
                <a:solidFill>
                  <a:srgbClr val="1B4D2E"/>
                </a:solidFill>
                <a:latin typeface="Cambria" pitchFamily="34" charset="0"/>
                <a:ea typeface="Cambria" pitchFamily="34" charset="-122"/>
                <a:cs typeface="Cambria" pitchFamily="34" charset="-120"/>
              </a:rPr>
              <a:t>Hard Voting</a:t>
            </a:r>
            <a:endParaRPr lang="en-US" sz="1300" dirty="0"/>
          </a:p>
        </p:txBody>
      </p:sp>
      <p:sp>
        <p:nvSpPr>
          <p:cNvPr id="33" name="Text 31"/>
          <p:cNvSpPr/>
          <p:nvPr/>
        </p:nvSpPr>
        <p:spPr>
          <a:xfrm>
            <a:off x="4617720" y="1426464"/>
            <a:ext cx="4087368" cy="512064"/>
          </a:xfrm>
          <a:prstGeom prst="rect">
            <a:avLst/>
          </a:prstGeom>
          <a:noFill/>
          <a:ln/>
        </p:spPr>
        <p:txBody>
          <a:bodyPr wrap="square" rtlCol="0" anchor="ctr"/>
          <a:lstStyle/>
          <a:p>
            <a:pPr marL="0" indent="0">
              <a:buNone/>
            </a:pPr>
            <a:r>
              <a:rPr lang="en-US" sz="1200" dirty="0">
                <a:solidFill>
                  <a:srgbClr val="2D3D2A"/>
                </a:solidFill>
                <a:latin typeface="Calibri" pitchFamily="34" charset="0"/>
                <a:ea typeface="Calibri" pitchFamily="34" charset="-122"/>
                <a:cs typeface="Calibri" pitchFamily="34" charset="-120"/>
              </a:rPr>
              <a:t>Each model votes for its top-1 predicted class. Majority vote wins. Treats all models equally — simple and robust.</a:t>
            </a:r>
            <a:endParaRPr lang="en-US" sz="1200" dirty="0"/>
          </a:p>
        </p:txBody>
      </p:sp>
      <p:sp>
        <p:nvSpPr>
          <p:cNvPr id="34" name="Shape 32"/>
          <p:cNvSpPr/>
          <p:nvPr/>
        </p:nvSpPr>
        <p:spPr>
          <a:xfrm>
            <a:off x="4023360" y="2157984"/>
            <a:ext cx="4773168" cy="969264"/>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35" name="Shape 33"/>
          <p:cNvSpPr/>
          <p:nvPr/>
        </p:nvSpPr>
        <p:spPr>
          <a:xfrm>
            <a:off x="4023360" y="2157984"/>
            <a:ext cx="502920" cy="969264"/>
          </a:xfrm>
          <a:prstGeom prst="rect">
            <a:avLst/>
          </a:prstGeom>
          <a:solidFill>
            <a:srgbClr val="2E7D45"/>
          </a:solidFill>
          <a:ln w="12700">
            <a:solidFill>
              <a:srgbClr val="2E7D45"/>
            </a:solidFill>
            <a:prstDash val="solid"/>
          </a:ln>
        </p:spPr>
      </p:sp>
      <p:sp>
        <p:nvSpPr>
          <p:cNvPr id="36" name="Text 34"/>
          <p:cNvSpPr/>
          <p:nvPr/>
        </p:nvSpPr>
        <p:spPr>
          <a:xfrm>
            <a:off x="4023360" y="2157984"/>
            <a:ext cx="502920" cy="969264"/>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02</a:t>
            </a:r>
            <a:endParaRPr lang="en-US" sz="1700" dirty="0"/>
          </a:p>
        </p:txBody>
      </p:sp>
      <p:sp>
        <p:nvSpPr>
          <p:cNvPr id="37" name="Text 35"/>
          <p:cNvSpPr/>
          <p:nvPr/>
        </p:nvSpPr>
        <p:spPr>
          <a:xfrm>
            <a:off x="4617720" y="2231136"/>
            <a:ext cx="4087368" cy="310896"/>
          </a:xfrm>
          <a:prstGeom prst="rect">
            <a:avLst/>
          </a:prstGeom>
          <a:noFill/>
          <a:ln/>
        </p:spPr>
        <p:txBody>
          <a:bodyPr wrap="square" rtlCol="0" anchor="ctr"/>
          <a:lstStyle/>
          <a:p>
            <a:pPr marL="0" indent="0">
              <a:buNone/>
            </a:pPr>
            <a:r>
              <a:rPr lang="en-US" sz="1300" b="1" dirty="0">
                <a:solidFill>
                  <a:srgbClr val="1B4D2E"/>
                </a:solidFill>
                <a:latin typeface="Cambria" pitchFamily="34" charset="0"/>
                <a:ea typeface="Cambria" pitchFamily="34" charset="-122"/>
                <a:cs typeface="Cambria" pitchFamily="34" charset="-120"/>
              </a:rPr>
              <a:t>Soft Voting</a:t>
            </a:r>
            <a:endParaRPr lang="en-US" sz="1300" dirty="0"/>
          </a:p>
        </p:txBody>
      </p:sp>
      <p:sp>
        <p:nvSpPr>
          <p:cNvPr id="38" name="Text 36"/>
          <p:cNvSpPr/>
          <p:nvPr/>
        </p:nvSpPr>
        <p:spPr>
          <a:xfrm>
            <a:off x="4617720" y="2542032"/>
            <a:ext cx="4087368" cy="512064"/>
          </a:xfrm>
          <a:prstGeom prst="rect">
            <a:avLst/>
          </a:prstGeom>
          <a:noFill/>
          <a:ln/>
        </p:spPr>
        <p:txBody>
          <a:bodyPr wrap="square" rtlCol="0" anchor="ctr"/>
          <a:lstStyle/>
          <a:p>
            <a:pPr marL="0" indent="0">
              <a:buNone/>
            </a:pPr>
            <a:r>
              <a:rPr lang="en-US" sz="1200" dirty="0">
                <a:solidFill>
                  <a:srgbClr val="2D3D2A"/>
                </a:solidFill>
                <a:latin typeface="Calibri" pitchFamily="34" charset="0"/>
                <a:ea typeface="Calibri" pitchFamily="34" charset="-122"/>
                <a:cs typeface="Calibri" pitchFamily="34" charset="-120"/>
              </a:rPr>
              <a:t>Average the predicted probability vectors across all models. Softer decision boundary than hard voting, reduces over-confidence.</a:t>
            </a:r>
            <a:endParaRPr lang="en-US" sz="1200" dirty="0"/>
          </a:p>
        </p:txBody>
      </p:sp>
      <p:sp>
        <p:nvSpPr>
          <p:cNvPr id="39" name="Shape 37"/>
          <p:cNvSpPr/>
          <p:nvPr/>
        </p:nvSpPr>
        <p:spPr>
          <a:xfrm>
            <a:off x="4023360" y="3273552"/>
            <a:ext cx="4773168" cy="969264"/>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40" name="Shape 38"/>
          <p:cNvSpPr/>
          <p:nvPr/>
        </p:nvSpPr>
        <p:spPr>
          <a:xfrm>
            <a:off x="4023360" y="3273552"/>
            <a:ext cx="502920" cy="969264"/>
          </a:xfrm>
          <a:prstGeom prst="rect">
            <a:avLst/>
          </a:prstGeom>
          <a:solidFill>
            <a:srgbClr val="1B4D2E"/>
          </a:solidFill>
          <a:ln w="12700">
            <a:solidFill>
              <a:srgbClr val="1B4D2E"/>
            </a:solidFill>
            <a:prstDash val="solid"/>
          </a:ln>
        </p:spPr>
      </p:sp>
      <p:sp>
        <p:nvSpPr>
          <p:cNvPr id="41" name="Text 39"/>
          <p:cNvSpPr/>
          <p:nvPr/>
        </p:nvSpPr>
        <p:spPr>
          <a:xfrm>
            <a:off x="4023360" y="3273552"/>
            <a:ext cx="502920" cy="969264"/>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03</a:t>
            </a:r>
            <a:endParaRPr lang="en-US" sz="1700" dirty="0"/>
          </a:p>
        </p:txBody>
      </p:sp>
      <p:sp>
        <p:nvSpPr>
          <p:cNvPr id="42" name="Text 40"/>
          <p:cNvSpPr/>
          <p:nvPr/>
        </p:nvSpPr>
        <p:spPr>
          <a:xfrm>
            <a:off x="4617720" y="3346704"/>
            <a:ext cx="4087368" cy="310896"/>
          </a:xfrm>
          <a:prstGeom prst="rect">
            <a:avLst/>
          </a:prstGeom>
          <a:noFill/>
          <a:ln/>
        </p:spPr>
        <p:txBody>
          <a:bodyPr wrap="square" rtlCol="0" anchor="ctr"/>
          <a:lstStyle/>
          <a:p>
            <a:pPr marL="0" indent="0">
              <a:buNone/>
            </a:pPr>
            <a:r>
              <a:rPr lang="en-US" sz="1300" b="1" dirty="0">
                <a:solidFill>
                  <a:srgbClr val="1B4D2E"/>
                </a:solidFill>
                <a:latin typeface="Cambria" pitchFamily="34" charset="0"/>
                <a:ea typeface="Cambria" pitchFamily="34" charset="-122"/>
                <a:cs typeface="Cambria" pitchFamily="34" charset="-120"/>
              </a:rPr>
              <a:t>Weighted Voting</a:t>
            </a:r>
            <a:endParaRPr lang="en-US" sz="1300" dirty="0"/>
          </a:p>
        </p:txBody>
      </p:sp>
      <p:sp>
        <p:nvSpPr>
          <p:cNvPr id="43" name="Text 41"/>
          <p:cNvSpPr/>
          <p:nvPr/>
        </p:nvSpPr>
        <p:spPr>
          <a:xfrm>
            <a:off x="4617720" y="3657600"/>
            <a:ext cx="4087368" cy="512064"/>
          </a:xfrm>
          <a:prstGeom prst="rect">
            <a:avLst/>
          </a:prstGeom>
          <a:noFill/>
          <a:ln/>
        </p:spPr>
        <p:txBody>
          <a:bodyPr wrap="square" rtlCol="0" anchor="ctr"/>
          <a:lstStyle/>
          <a:p>
            <a:pPr marL="0" indent="0">
              <a:buNone/>
            </a:pPr>
            <a:r>
              <a:rPr lang="en-US" sz="1200" dirty="0">
                <a:solidFill>
                  <a:srgbClr val="2D3D2A"/>
                </a:solidFill>
                <a:latin typeface="Calibri" pitchFamily="34" charset="0"/>
                <a:ea typeface="Calibri" pitchFamily="34" charset="-122"/>
                <a:cs typeface="Calibri" pitchFamily="34" charset="-120"/>
              </a:rPr>
              <a:t>Probability vectors are weighted by each model's validation accuracy. Higher-performing models contribute more to the final decision.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4F7F1"/>
        </a:solidFill>
        <a:effectLst/>
      </p:bgPr>
    </p:bg>
    <p:spTree>
      <p:nvGrpSpPr>
        <p:cNvPr id="1" name=""/>
        <p:cNvGrpSpPr/>
        <p:nvPr/>
      </p:nvGrpSpPr>
      <p:grpSpPr>
        <a:xfrm>
          <a:off x="0" y="0"/>
          <a:ext cx="0" cy="0"/>
          <a:chOff x="0" y="0"/>
          <a:chExt cx="0" cy="0"/>
        </a:xfrm>
      </p:grpSpPr>
      <p:sp>
        <p:nvSpPr>
          <p:cNvPr id="2" name="Shape 0"/>
          <p:cNvSpPr/>
          <p:nvPr/>
        </p:nvSpPr>
        <p:spPr>
          <a:xfrm>
            <a:off x="347472" y="228600"/>
            <a:ext cx="73152" cy="566928"/>
          </a:xfrm>
          <a:prstGeom prst="rect">
            <a:avLst/>
          </a:prstGeom>
          <a:solidFill>
            <a:srgbClr val="7CB87A"/>
          </a:solidFill>
          <a:ln w="12700">
            <a:solidFill>
              <a:srgbClr val="7CB87A"/>
            </a:solidFill>
            <a:prstDash val="solid"/>
          </a:ln>
        </p:spPr>
      </p:sp>
      <p:sp>
        <p:nvSpPr>
          <p:cNvPr id="3" name="Text 1"/>
          <p:cNvSpPr/>
          <p:nvPr/>
        </p:nvSpPr>
        <p:spPr>
          <a:xfrm>
            <a:off x="521208" y="192024"/>
            <a:ext cx="8275320" cy="676656"/>
          </a:xfrm>
          <a:prstGeom prst="rect">
            <a:avLst/>
          </a:prstGeom>
          <a:noFill/>
          <a:ln/>
        </p:spPr>
        <p:txBody>
          <a:bodyPr wrap="square" lIns="0" tIns="0" rIns="0" bIns="0" rtlCol="0" anchor="ctr"/>
          <a:lstStyle/>
          <a:p>
            <a:pPr marL="0" indent="0">
              <a:buNone/>
            </a:pPr>
            <a:r>
              <a:rPr lang="en-US" sz="2700" b="1" dirty="0">
                <a:solidFill>
                  <a:srgbClr val="1B4D2E"/>
                </a:solidFill>
                <a:latin typeface="Cambria" pitchFamily="34" charset="0"/>
                <a:ea typeface="Cambria" pitchFamily="34" charset="-122"/>
                <a:cs typeface="Cambria" pitchFamily="34" charset="-120"/>
              </a:rPr>
              <a:t>Ensemble Performance Comparison</a:t>
            </a:r>
            <a:endParaRPr lang="en-US" sz="2700" dirty="0"/>
          </a:p>
        </p:txBody>
      </p:sp>
      <p:sp>
        <p:nvSpPr>
          <p:cNvPr id="4" name="Shape 2"/>
          <p:cNvSpPr/>
          <p:nvPr/>
        </p:nvSpPr>
        <p:spPr>
          <a:xfrm>
            <a:off x="347472" y="969264"/>
            <a:ext cx="8449056" cy="0"/>
          </a:xfrm>
          <a:prstGeom prst="line">
            <a:avLst/>
          </a:prstGeom>
          <a:noFill/>
          <a:ln w="12700">
            <a:solidFill>
              <a:srgbClr val="C2D6B8"/>
            </a:solidFill>
            <a:prstDash val="solid"/>
          </a:ln>
        </p:spPr>
      </p:sp>
      <p:sp>
        <p:nvSpPr>
          <p:cNvPr id="5" name="Text 3"/>
          <p:cNvSpPr/>
          <p:nvPr/>
        </p:nvSpPr>
        <p:spPr>
          <a:xfrm>
            <a:off x="8046720" y="4892040"/>
            <a:ext cx="914400" cy="182880"/>
          </a:xfrm>
          <a:prstGeom prst="rect">
            <a:avLst/>
          </a:prstGeom>
          <a:noFill/>
          <a:ln/>
        </p:spPr>
        <p:txBody>
          <a:bodyPr wrap="square" rtlCol="0" anchor="ctr"/>
          <a:lstStyle/>
          <a:p>
            <a:pPr marL="0" indent="0" algn="r">
              <a:buNone/>
            </a:pPr>
            <a:r>
              <a:rPr lang="en-US" sz="1000" dirty="0">
                <a:solidFill>
                  <a:srgbClr val="607060"/>
                </a:solidFill>
                <a:latin typeface="Calibri" pitchFamily="34" charset="0"/>
                <a:ea typeface="Calibri" pitchFamily="34" charset="-122"/>
                <a:cs typeface="Calibri" pitchFamily="34" charset="-120"/>
              </a:rPr>
              <a:t>13 / 22</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2759133794"/>
              </p:ext>
            </p:extLst>
          </p:nvPr>
        </p:nvGraphicFramePr>
        <p:xfrm>
          <a:off x="822960" y="1069849"/>
          <a:ext cx="7223760" cy="3749040"/>
        </p:xfrm>
        <a:graphic>
          <a:graphicData uri="http://schemas.openxmlformats.org/drawingml/2006/table">
            <a:tbl>
              <a:tblPr/>
              <a:tblGrid>
                <a:gridCol w="21945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374904">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F1-Score</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AUC</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374904">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EfficientNetB0</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0.914</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0.919</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0.914</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0.913</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0.996</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4904">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MobileNetV2</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0.870</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0.897</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0.870</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0.863</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0.993</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4904">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VGG16</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0.925</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0.930</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0.925</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0.924</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0.997</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4904">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InceptionV3</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0.846</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0.882</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0.846</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0.847</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0.991</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4904">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Xception</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0.930</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0.940</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0.930</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0.931</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0.998</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74904">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InceptionResNetV2</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0.877</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0.904</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0.877</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0.877</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D3D2A"/>
                          </a:solidFill>
                          <a:latin typeface="Calibri" pitchFamily="34" charset="0"/>
                          <a:ea typeface="Calibri" pitchFamily="34" charset="-122"/>
                          <a:cs typeface="Calibri" pitchFamily="34" charset="-120"/>
                        </a:rPr>
                        <a:t>0.996</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74904">
                <a:tc>
                  <a:txBody>
                    <a:bodyPr/>
                    <a:lstStyle/>
                    <a:p>
                      <a:pPr marL="0" indent="0" algn="ctr">
                        <a:buNone/>
                      </a:pPr>
                      <a:r>
                        <a:rPr lang="en-US" sz="1200" b="1" dirty="0">
                          <a:solidFill>
                            <a:srgbClr val="4A8C3F"/>
                          </a:solidFill>
                          <a:latin typeface="Calibri" pitchFamily="34" charset="0"/>
                          <a:ea typeface="Calibri" pitchFamily="34" charset="-122"/>
                          <a:cs typeface="Calibri" pitchFamily="34" charset="-120"/>
                        </a:rPr>
                        <a:t>Hard Voting</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E8F5E2"/>
                    </a:solidFill>
                  </a:tcPr>
                </a:tc>
                <a:tc>
                  <a:txBody>
                    <a:bodyPr/>
                    <a:lstStyle/>
                    <a:p>
                      <a:pPr marL="0" indent="0" algn="ctr">
                        <a:buNone/>
                      </a:pPr>
                      <a:r>
                        <a:rPr lang="en-US" sz="1200" b="1" dirty="0">
                          <a:solidFill>
                            <a:srgbClr val="4A8C3F"/>
                          </a:solidFill>
                          <a:latin typeface="Calibri" pitchFamily="34" charset="0"/>
                          <a:ea typeface="Calibri" pitchFamily="34" charset="-122"/>
                          <a:cs typeface="Calibri" pitchFamily="34" charset="-120"/>
                        </a:rPr>
                        <a:t>0.954</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E8F5E2"/>
                    </a:solidFill>
                  </a:tcPr>
                </a:tc>
                <a:tc>
                  <a:txBody>
                    <a:bodyPr/>
                    <a:lstStyle/>
                    <a:p>
                      <a:pPr marL="0" indent="0" algn="ctr">
                        <a:buNone/>
                      </a:pPr>
                      <a:r>
                        <a:rPr lang="en-US" sz="1200" b="1" dirty="0">
                          <a:solidFill>
                            <a:srgbClr val="4A8C3F"/>
                          </a:solidFill>
                          <a:latin typeface="Calibri" pitchFamily="34" charset="0"/>
                          <a:ea typeface="Calibri" pitchFamily="34" charset="-122"/>
                          <a:cs typeface="Calibri" pitchFamily="34" charset="-120"/>
                        </a:rPr>
                        <a:t>0.956</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E8F5E2"/>
                    </a:solidFill>
                  </a:tcPr>
                </a:tc>
                <a:tc>
                  <a:txBody>
                    <a:bodyPr/>
                    <a:lstStyle/>
                    <a:p>
                      <a:pPr marL="0" indent="0" algn="ctr">
                        <a:buNone/>
                      </a:pPr>
                      <a:r>
                        <a:rPr lang="en-US" sz="1200" b="1" dirty="0">
                          <a:solidFill>
                            <a:srgbClr val="4A8C3F"/>
                          </a:solidFill>
                          <a:latin typeface="Calibri" pitchFamily="34" charset="0"/>
                          <a:ea typeface="Calibri" pitchFamily="34" charset="-122"/>
                          <a:cs typeface="Calibri" pitchFamily="34" charset="-120"/>
                        </a:rPr>
                        <a:t>0.954</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E8F5E2"/>
                    </a:solidFill>
                  </a:tcPr>
                </a:tc>
                <a:tc>
                  <a:txBody>
                    <a:bodyPr/>
                    <a:lstStyle/>
                    <a:p>
                      <a:pPr marL="0" indent="0" algn="ctr">
                        <a:buNone/>
                      </a:pPr>
                      <a:r>
                        <a:rPr lang="en-US" sz="1200" b="1" dirty="0">
                          <a:solidFill>
                            <a:srgbClr val="4A8C3F"/>
                          </a:solidFill>
                          <a:latin typeface="Calibri" pitchFamily="34" charset="0"/>
                          <a:ea typeface="Calibri" pitchFamily="34" charset="-122"/>
                          <a:cs typeface="Calibri" pitchFamily="34" charset="-120"/>
                        </a:rPr>
                        <a:t>0.954</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E8F5E2"/>
                    </a:solidFill>
                  </a:tcPr>
                </a:tc>
                <a:tc>
                  <a:txBody>
                    <a:bodyPr/>
                    <a:lstStyle/>
                    <a:p>
                      <a:pPr marL="0" indent="0" algn="ctr">
                        <a:buNone/>
                      </a:pPr>
                      <a:r>
                        <a:rPr lang="en-US" sz="1200" b="1" dirty="0" err="1">
                          <a:solidFill>
                            <a:srgbClr val="4A8C3F"/>
                          </a:solidFill>
                          <a:latin typeface="Calibri" pitchFamily="34" charset="0"/>
                          <a:ea typeface="Calibri" pitchFamily="34" charset="-122"/>
                          <a:cs typeface="Calibri" pitchFamily="34" charset="-120"/>
                        </a:rPr>
                        <a:t>NaN</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E8F5E2"/>
                    </a:solidFill>
                  </a:tcPr>
                </a:tc>
                <a:extLst>
                  <a:ext uri="{0D108BD9-81ED-4DB2-BD59-A6C34878D82A}">
                    <a16:rowId xmlns:a16="http://schemas.microsoft.com/office/drawing/2014/main" val="10007"/>
                  </a:ext>
                </a:extLst>
              </a:tr>
              <a:tr h="374904">
                <a:tc>
                  <a:txBody>
                    <a:bodyPr/>
                    <a:lstStyle/>
                    <a:p>
                      <a:pPr marL="0" indent="0" algn="ctr">
                        <a:buNone/>
                      </a:pPr>
                      <a:r>
                        <a:rPr lang="en-US" sz="1200" b="1" dirty="0">
                          <a:solidFill>
                            <a:srgbClr val="4A8C3F"/>
                          </a:solidFill>
                          <a:latin typeface="Calibri" pitchFamily="34" charset="0"/>
                          <a:ea typeface="Calibri" pitchFamily="34" charset="-122"/>
                          <a:cs typeface="Calibri" pitchFamily="34" charset="-120"/>
                        </a:rPr>
                        <a:t>Soft Voting</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E8F5E2"/>
                    </a:solidFill>
                  </a:tcPr>
                </a:tc>
                <a:tc>
                  <a:txBody>
                    <a:bodyPr/>
                    <a:lstStyle/>
                    <a:p>
                      <a:pPr marL="0" indent="0" algn="ctr">
                        <a:buNone/>
                      </a:pPr>
                      <a:r>
                        <a:rPr lang="en-US" sz="1200" b="1" dirty="0">
                          <a:solidFill>
                            <a:srgbClr val="4A8C3F"/>
                          </a:solidFill>
                          <a:latin typeface="Calibri" pitchFamily="34" charset="0"/>
                          <a:ea typeface="Calibri" pitchFamily="34" charset="-122"/>
                          <a:cs typeface="Calibri" pitchFamily="34" charset="-120"/>
                        </a:rPr>
                        <a:t>0.962</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E8F5E2"/>
                    </a:solidFill>
                  </a:tcPr>
                </a:tc>
                <a:tc>
                  <a:txBody>
                    <a:bodyPr/>
                    <a:lstStyle/>
                    <a:p>
                      <a:pPr marL="0" indent="0" algn="ctr">
                        <a:buNone/>
                      </a:pPr>
                      <a:r>
                        <a:rPr lang="en-US" sz="1200" b="1" dirty="0">
                          <a:solidFill>
                            <a:srgbClr val="4A8C3F"/>
                          </a:solidFill>
                          <a:latin typeface="Calibri" pitchFamily="34" charset="0"/>
                          <a:ea typeface="Calibri" pitchFamily="34" charset="-122"/>
                          <a:cs typeface="Calibri" pitchFamily="34" charset="-120"/>
                        </a:rPr>
                        <a:t>0.962</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E8F5E2"/>
                    </a:solidFill>
                  </a:tcPr>
                </a:tc>
                <a:tc>
                  <a:txBody>
                    <a:bodyPr/>
                    <a:lstStyle/>
                    <a:p>
                      <a:pPr marL="0" indent="0" algn="ctr">
                        <a:buNone/>
                      </a:pPr>
                      <a:r>
                        <a:rPr lang="en-US" sz="1200" b="1" dirty="0">
                          <a:solidFill>
                            <a:srgbClr val="4A8C3F"/>
                          </a:solidFill>
                          <a:latin typeface="Calibri" pitchFamily="34" charset="0"/>
                          <a:ea typeface="Calibri" pitchFamily="34" charset="-122"/>
                          <a:cs typeface="Calibri" pitchFamily="34" charset="-120"/>
                        </a:rPr>
                        <a:t>0.962</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E8F5E2"/>
                    </a:solidFill>
                  </a:tcPr>
                </a:tc>
                <a:tc>
                  <a:txBody>
                    <a:bodyPr/>
                    <a:lstStyle/>
                    <a:p>
                      <a:pPr marL="0" indent="0" algn="ctr">
                        <a:buNone/>
                      </a:pPr>
                      <a:r>
                        <a:rPr lang="en-US" sz="1200" b="1" dirty="0">
                          <a:solidFill>
                            <a:srgbClr val="4A8C3F"/>
                          </a:solidFill>
                          <a:latin typeface="Calibri" pitchFamily="34" charset="0"/>
                          <a:ea typeface="Calibri" pitchFamily="34" charset="-122"/>
                          <a:cs typeface="Calibri" pitchFamily="34" charset="-120"/>
                        </a:rPr>
                        <a:t>0.962</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E8F5E2"/>
                    </a:solidFill>
                  </a:tcPr>
                </a:tc>
                <a:tc>
                  <a:txBody>
                    <a:bodyPr/>
                    <a:lstStyle/>
                    <a:p>
                      <a:pPr marL="0" indent="0" algn="ctr">
                        <a:buNone/>
                      </a:pPr>
                      <a:r>
                        <a:rPr lang="en-US" sz="1200" b="1" dirty="0">
                          <a:solidFill>
                            <a:srgbClr val="4A8C3F"/>
                          </a:solidFill>
                          <a:latin typeface="Calibri" pitchFamily="34" charset="0"/>
                          <a:ea typeface="Calibri" pitchFamily="34" charset="-122"/>
                          <a:cs typeface="Calibri" pitchFamily="34" charset="-120"/>
                        </a:rPr>
                        <a:t>0.998</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E8F5E2"/>
                    </a:solidFill>
                  </a:tcPr>
                </a:tc>
                <a:extLst>
                  <a:ext uri="{0D108BD9-81ED-4DB2-BD59-A6C34878D82A}">
                    <a16:rowId xmlns:a16="http://schemas.microsoft.com/office/drawing/2014/main" val="10008"/>
                  </a:ext>
                </a:extLst>
              </a:tr>
              <a:tr h="374904">
                <a:tc>
                  <a:txBody>
                    <a:bodyPr/>
                    <a:lstStyle/>
                    <a:p>
                      <a:pPr marL="0" indent="0" algn="ctr">
                        <a:buNone/>
                      </a:pPr>
                      <a:r>
                        <a:rPr lang="en-US" sz="1200" b="1" dirty="0">
                          <a:solidFill>
                            <a:srgbClr val="1B4D2E"/>
                          </a:solidFill>
                          <a:latin typeface="Calibri" pitchFamily="34" charset="0"/>
                          <a:ea typeface="Calibri" pitchFamily="34" charset="-122"/>
                          <a:cs typeface="Calibri" pitchFamily="34" charset="-120"/>
                        </a:rPr>
                        <a:t>Weighted Voting</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D4EAC8"/>
                    </a:solidFill>
                  </a:tcPr>
                </a:tc>
                <a:tc>
                  <a:txBody>
                    <a:bodyPr/>
                    <a:lstStyle/>
                    <a:p>
                      <a:pPr marL="0" indent="0" algn="ctr">
                        <a:buNone/>
                      </a:pPr>
                      <a:r>
                        <a:rPr lang="en-US" sz="1200" b="1" dirty="0">
                          <a:solidFill>
                            <a:srgbClr val="1B4D2E"/>
                          </a:solidFill>
                          <a:latin typeface="Calibri" pitchFamily="34" charset="0"/>
                          <a:ea typeface="Calibri" pitchFamily="34" charset="-122"/>
                          <a:cs typeface="Calibri" pitchFamily="34" charset="-120"/>
                        </a:rPr>
                        <a:t>0.961</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D4EAC8"/>
                    </a:solidFill>
                  </a:tcPr>
                </a:tc>
                <a:tc>
                  <a:txBody>
                    <a:bodyPr/>
                    <a:lstStyle/>
                    <a:p>
                      <a:pPr marL="0" indent="0" algn="ctr">
                        <a:buNone/>
                      </a:pPr>
                      <a:r>
                        <a:rPr lang="en-US" sz="1200" b="1" dirty="0">
                          <a:solidFill>
                            <a:srgbClr val="1B4D2E"/>
                          </a:solidFill>
                          <a:latin typeface="Calibri" pitchFamily="34" charset="0"/>
                          <a:ea typeface="Calibri" pitchFamily="34" charset="-122"/>
                          <a:cs typeface="Calibri" pitchFamily="34" charset="-120"/>
                        </a:rPr>
                        <a:t>0.962</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D4EAC8"/>
                    </a:solidFill>
                  </a:tcPr>
                </a:tc>
                <a:tc>
                  <a:txBody>
                    <a:bodyPr/>
                    <a:lstStyle/>
                    <a:p>
                      <a:pPr marL="0" indent="0" algn="ctr">
                        <a:buNone/>
                      </a:pPr>
                      <a:r>
                        <a:rPr lang="en-US" sz="1200" b="1" dirty="0">
                          <a:solidFill>
                            <a:srgbClr val="1B4D2E"/>
                          </a:solidFill>
                          <a:latin typeface="Calibri" pitchFamily="34" charset="0"/>
                          <a:ea typeface="Calibri" pitchFamily="34" charset="-122"/>
                          <a:cs typeface="Calibri" pitchFamily="34" charset="-120"/>
                        </a:rPr>
                        <a:t>0.961</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D4EAC8"/>
                    </a:solidFill>
                  </a:tcPr>
                </a:tc>
                <a:tc>
                  <a:txBody>
                    <a:bodyPr/>
                    <a:lstStyle/>
                    <a:p>
                      <a:pPr marL="0" indent="0" algn="ctr">
                        <a:buNone/>
                      </a:pPr>
                      <a:r>
                        <a:rPr lang="en-US" sz="1200" b="1" dirty="0">
                          <a:solidFill>
                            <a:srgbClr val="1B4D2E"/>
                          </a:solidFill>
                          <a:latin typeface="Calibri" pitchFamily="34" charset="0"/>
                          <a:ea typeface="Calibri" pitchFamily="34" charset="-122"/>
                          <a:cs typeface="Calibri" pitchFamily="34" charset="-120"/>
                        </a:rPr>
                        <a:t>0.961</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D4EAC8"/>
                    </a:solidFill>
                  </a:tcPr>
                </a:tc>
                <a:tc>
                  <a:txBody>
                    <a:bodyPr/>
                    <a:lstStyle/>
                    <a:p>
                      <a:pPr marL="0" indent="0" algn="ctr">
                        <a:buNone/>
                      </a:pPr>
                      <a:r>
                        <a:rPr lang="en-US" sz="1200" b="1" dirty="0">
                          <a:solidFill>
                            <a:srgbClr val="1B4D2E"/>
                          </a:solidFill>
                          <a:latin typeface="Calibri" pitchFamily="34" charset="0"/>
                          <a:ea typeface="Calibri" pitchFamily="34" charset="-122"/>
                          <a:cs typeface="Calibri" pitchFamily="34" charset="-120"/>
                        </a:rPr>
                        <a:t>0.998</a:t>
                      </a:r>
                      <a:endParaRPr lang="en-US" sz="1200" dirty="0">
                        <a:latin typeface="Calibri" charset="0"/>
                        <a:ea typeface="Calibri" charset="0"/>
                        <a:cs typeface="Calibri" charset="0"/>
                      </a:endParaRPr>
                    </a:p>
                  </a:txBody>
                  <a:tcPr anchor="ctr">
                    <a:lnL w="9525" cap="flat" cmpd="sng" algn="ctr">
                      <a:solidFill>
                        <a:srgbClr val="C2D6B8"/>
                      </a:solidFill>
                      <a:prstDash val="solid"/>
                      <a:round/>
                      <a:headEnd type="none" w="med" len="med"/>
                      <a:tailEnd type="none" w="med" len="med"/>
                    </a:lnL>
                    <a:lnR w="9525" cap="flat" cmpd="sng" algn="ctr">
                      <a:solidFill>
                        <a:srgbClr val="C2D6B8"/>
                      </a:solidFill>
                      <a:prstDash val="solid"/>
                      <a:round/>
                      <a:headEnd type="none" w="med" len="med"/>
                      <a:tailEnd type="none" w="med" len="med"/>
                    </a:lnR>
                    <a:lnT w="9525" cap="flat" cmpd="sng" algn="ctr">
                      <a:solidFill>
                        <a:srgbClr val="C2D6B8"/>
                      </a:solidFill>
                      <a:prstDash val="solid"/>
                      <a:round/>
                      <a:headEnd type="none" w="med" len="med"/>
                      <a:tailEnd type="none" w="med" len="med"/>
                    </a:lnT>
                    <a:lnB w="9525" cap="flat" cmpd="sng" algn="ctr">
                      <a:solidFill>
                        <a:srgbClr val="C2D6B8"/>
                      </a:solidFill>
                      <a:prstDash val="solid"/>
                      <a:round/>
                      <a:headEnd type="none" w="med" len="med"/>
                      <a:tailEnd type="none" w="med" len="med"/>
                    </a:lnB>
                    <a:solidFill>
                      <a:srgbClr val="D4EAC8"/>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4F7F1"/>
        </a:solidFill>
        <a:effectLst/>
      </p:bgPr>
    </p:bg>
    <p:spTree>
      <p:nvGrpSpPr>
        <p:cNvPr id="1" name=""/>
        <p:cNvGrpSpPr/>
        <p:nvPr/>
      </p:nvGrpSpPr>
      <p:grpSpPr>
        <a:xfrm>
          <a:off x="0" y="0"/>
          <a:ext cx="0" cy="0"/>
          <a:chOff x="0" y="0"/>
          <a:chExt cx="0" cy="0"/>
        </a:xfrm>
      </p:grpSpPr>
      <p:sp>
        <p:nvSpPr>
          <p:cNvPr id="2" name="Shape 0"/>
          <p:cNvSpPr/>
          <p:nvPr/>
        </p:nvSpPr>
        <p:spPr>
          <a:xfrm>
            <a:off x="347472" y="228600"/>
            <a:ext cx="73152" cy="566928"/>
          </a:xfrm>
          <a:prstGeom prst="rect">
            <a:avLst/>
          </a:prstGeom>
          <a:solidFill>
            <a:srgbClr val="7CB87A"/>
          </a:solidFill>
          <a:ln w="12700">
            <a:solidFill>
              <a:srgbClr val="7CB87A"/>
            </a:solidFill>
            <a:prstDash val="solid"/>
          </a:ln>
        </p:spPr>
      </p:sp>
      <p:sp>
        <p:nvSpPr>
          <p:cNvPr id="3" name="Text 1"/>
          <p:cNvSpPr/>
          <p:nvPr/>
        </p:nvSpPr>
        <p:spPr>
          <a:xfrm>
            <a:off x="521208" y="192024"/>
            <a:ext cx="8275320" cy="676656"/>
          </a:xfrm>
          <a:prstGeom prst="rect">
            <a:avLst/>
          </a:prstGeom>
          <a:noFill/>
          <a:ln/>
        </p:spPr>
        <p:txBody>
          <a:bodyPr wrap="square" lIns="0" tIns="0" rIns="0" bIns="0" rtlCol="0" anchor="ctr"/>
          <a:lstStyle/>
          <a:p>
            <a:pPr marL="0" indent="0">
              <a:buNone/>
            </a:pPr>
            <a:r>
              <a:rPr lang="en-US" sz="2700" b="1" dirty="0">
                <a:solidFill>
                  <a:srgbClr val="1B4D2E"/>
                </a:solidFill>
                <a:latin typeface="Cambria" pitchFamily="34" charset="0"/>
                <a:ea typeface="Cambria" pitchFamily="34" charset="-122"/>
                <a:cs typeface="Cambria" pitchFamily="34" charset="-120"/>
              </a:rPr>
              <a:t>Explainability: Grad-CAM</a:t>
            </a:r>
            <a:endParaRPr lang="en-US" sz="2700" dirty="0"/>
          </a:p>
        </p:txBody>
      </p:sp>
      <p:sp>
        <p:nvSpPr>
          <p:cNvPr id="6" name="Text 4"/>
          <p:cNvSpPr/>
          <p:nvPr/>
        </p:nvSpPr>
        <p:spPr>
          <a:xfrm>
            <a:off x="8046720" y="4892040"/>
            <a:ext cx="914400" cy="182880"/>
          </a:xfrm>
          <a:prstGeom prst="rect">
            <a:avLst/>
          </a:prstGeom>
          <a:noFill/>
          <a:ln/>
        </p:spPr>
        <p:txBody>
          <a:bodyPr wrap="square" rtlCol="0" anchor="ctr"/>
          <a:lstStyle/>
          <a:p>
            <a:pPr marL="0" indent="0" algn="r">
              <a:buNone/>
            </a:pPr>
            <a:r>
              <a:rPr lang="en-US" sz="1000" dirty="0">
                <a:solidFill>
                  <a:srgbClr val="607060"/>
                </a:solidFill>
                <a:latin typeface="Calibri" pitchFamily="34" charset="0"/>
                <a:ea typeface="Calibri" pitchFamily="34" charset="-122"/>
                <a:cs typeface="Calibri" pitchFamily="34" charset="-120"/>
              </a:rPr>
              <a:t>15 / 22</a:t>
            </a:r>
            <a:endParaRPr lang="en-US" sz="1000" dirty="0"/>
          </a:p>
        </p:txBody>
      </p:sp>
      <p:sp>
        <p:nvSpPr>
          <p:cNvPr id="7" name="Shape 5"/>
          <p:cNvSpPr/>
          <p:nvPr/>
        </p:nvSpPr>
        <p:spPr>
          <a:xfrm>
            <a:off x="347472" y="1042416"/>
            <a:ext cx="3749040" cy="3675888"/>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8" name="Shape 6"/>
          <p:cNvSpPr/>
          <p:nvPr/>
        </p:nvSpPr>
        <p:spPr>
          <a:xfrm>
            <a:off x="347472" y="1042416"/>
            <a:ext cx="3749040" cy="457200"/>
          </a:xfrm>
          <a:prstGeom prst="rect">
            <a:avLst/>
          </a:prstGeom>
          <a:solidFill>
            <a:srgbClr val="1B4D2E"/>
          </a:solidFill>
          <a:ln w="12700">
            <a:solidFill>
              <a:srgbClr val="1B4D2E"/>
            </a:solidFill>
            <a:prstDash val="solid"/>
          </a:ln>
        </p:spPr>
      </p:sp>
      <p:sp>
        <p:nvSpPr>
          <p:cNvPr id="9" name="Text 7"/>
          <p:cNvSpPr/>
          <p:nvPr/>
        </p:nvSpPr>
        <p:spPr>
          <a:xfrm>
            <a:off x="475488" y="1042416"/>
            <a:ext cx="3493008" cy="457200"/>
          </a:xfrm>
          <a:prstGeom prst="rect">
            <a:avLst/>
          </a:prstGeom>
          <a:noFill/>
          <a:ln/>
        </p:spPr>
        <p:txBody>
          <a:bodyPr wrap="square" rtlCol="0" anchor="ctr"/>
          <a:lstStyle/>
          <a:p>
            <a:pPr marL="0" indent="0">
              <a:buNone/>
            </a:pPr>
            <a:r>
              <a:rPr lang="en-US" sz="1400" b="1" dirty="0">
                <a:solidFill>
                  <a:srgbClr val="7CB87A"/>
                </a:solidFill>
                <a:latin typeface="Cambria" pitchFamily="34" charset="0"/>
                <a:ea typeface="Cambria" pitchFamily="34" charset="-122"/>
                <a:cs typeface="Cambria" pitchFamily="34" charset="-120"/>
              </a:rPr>
              <a:t>How Grad-CAM Works</a:t>
            </a:r>
            <a:endParaRPr lang="en-US" sz="1400" dirty="0"/>
          </a:p>
        </p:txBody>
      </p:sp>
      <p:sp>
        <p:nvSpPr>
          <p:cNvPr id="10" name="Text 8"/>
          <p:cNvSpPr/>
          <p:nvPr/>
        </p:nvSpPr>
        <p:spPr>
          <a:xfrm>
            <a:off x="475488" y="1572768"/>
            <a:ext cx="3493008" cy="3072384"/>
          </a:xfrm>
          <a:prstGeom prst="rect">
            <a:avLst/>
          </a:prstGeom>
          <a:noFill/>
          <a:ln/>
        </p:spPr>
        <p:txBody>
          <a:bodyPr wrap="square" rtlCol="0" anchor="ctr"/>
          <a:lstStyle/>
          <a:p>
            <a:pPr marL="342900" indent="-342900">
              <a:spcAft>
                <a:spcPts val="400"/>
              </a:spcAft>
              <a:buSzPct val="100000"/>
              <a:buChar char="•"/>
            </a:pPr>
            <a:r>
              <a:rPr lang="en-US" sz="1200" dirty="0">
                <a:solidFill>
                  <a:srgbClr val="2D3D2A"/>
                </a:solidFill>
                <a:latin typeface="Calibri" pitchFamily="34" charset="0"/>
                <a:ea typeface="Calibri" pitchFamily="34" charset="-122"/>
                <a:cs typeface="Calibri" pitchFamily="34" charset="-120"/>
              </a:rPr>
              <a:t>Target class gradient flows back through the network</a:t>
            </a:r>
            <a:endParaRPr lang="en-US" sz="1200" dirty="0"/>
          </a:p>
          <a:p>
            <a:pPr marL="342900" indent="-342900">
              <a:spcAft>
                <a:spcPts val="400"/>
              </a:spcAft>
              <a:buSzPct val="100000"/>
              <a:buChar char="•"/>
            </a:pPr>
            <a:r>
              <a:rPr lang="en-US" sz="1200" dirty="0">
                <a:solidFill>
                  <a:srgbClr val="2D3D2A"/>
                </a:solidFill>
                <a:latin typeface="Calibri" pitchFamily="34" charset="0"/>
                <a:ea typeface="Calibri" pitchFamily="34" charset="-122"/>
                <a:cs typeface="Calibri" pitchFamily="34" charset="-120"/>
              </a:rPr>
              <a:t>Gradients at the final convolutional feature map are extracted</a:t>
            </a:r>
            <a:endParaRPr lang="en-US" sz="1200" dirty="0"/>
          </a:p>
          <a:p>
            <a:pPr marL="342900" indent="-342900">
              <a:spcAft>
                <a:spcPts val="400"/>
              </a:spcAft>
              <a:buSzPct val="100000"/>
              <a:buChar char="•"/>
            </a:pPr>
            <a:r>
              <a:rPr lang="en-US" sz="1200" dirty="0">
                <a:solidFill>
                  <a:srgbClr val="2D3D2A"/>
                </a:solidFill>
                <a:latin typeface="Calibri" pitchFamily="34" charset="0"/>
                <a:ea typeface="Calibri" pitchFamily="34" charset="-122"/>
                <a:cs typeface="Calibri" pitchFamily="34" charset="-120"/>
              </a:rPr>
              <a:t>Global average-pooled → per-channel importance weights</a:t>
            </a:r>
            <a:endParaRPr lang="en-US" sz="1200" dirty="0"/>
          </a:p>
          <a:p>
            <a:pPr marL="342900" indent="-342900">
              <a:spcAft>
                <a:spcPts val="400"/>
              </a:spcAft>
              <a:buSzPct val="100000"/>
              <a:buChar char="•"/>
            </a:pPr>
            <a:r>
              <a:rPr lang="en-US" sz="1200" dirty="0">
                <a:solidFill>
                  <a:srgbClr val="2D3D2A"/>
                </a:solidFill>
                <a:latin typeface="Calibri" pitchFamily="34" charset="0"/>
                <a:ea typeface="Calibri" pitchFamily="34" charset="-122"/>
                <a:cs typeface="Calibri" pitchFamily="34" charset="-120"/>
              </a:rPr>
              <a:t>Weighted sum of feature maps → coarse spatial heatmap</a:t>
            </a:r>
            <a:endParaRPr lang="en-US" sz="1200" dirty="0"/>
          </a:p>
          <a:p>
            <a:pPr marL="342900" indent="-342900">
              <a:spcAft>
                <a:spcPts val="400"/>
              </a:spcAft>
              <a:buSzPct val="100000"/>
              <a:buChar char="•"/>
            </a:pPr>
            <a:r>
              <a:rPr lang="en-US" sz="1200" dirty="0">
                <a:solidFill>
                  <a:srgbClr val="2D3D2A"/>
                </a:solidFill>
                <a:latin typeface="Calibri" pitchFamily="34" charset="0"/>
                <a:ea typeface="Calibri" pitchFamily="34" charset="-122"/>
                <a:cs typeface="Calibri" pitchFamily="34" charset="-120"/>
              </a:rPr>
              <a:t>Heatmap resized and overlaid on input image</a:t>
            </a:r>
            <a:endParaRPr lang="en-US" sz="1200" dirty="0"/>
          </a:p>
          <a:p>
            <a:pPr marL="342900" indent="-342900">
              <a:spcAft>
                <a:spcPts val="400"/>
              </a:spcAft>
              <a:buSzPct val="100000"/>
              <a:buChar char="•"/>
            </a:pPr>
            <a:r>
              <a:rPr lang="en-US" sz="1200" dirty="0">
                <a:solidFill>
                  <a:srgbClr val="2D3D2A"/>
                </a:solidFill>
                <a:latin typeface="Calibri" pitchFamily="34" charset="0"/>
                <a:ea typeface="Calibri" pitchFamily="34" charset="-122"/>
                <a:cs typeface="Calibri" pitchFamily="34" charset="-120"/>
              </a:rPr>
              <a:t>Red regions = most influential for the predicted class</a:t>
            </a:r>
            <a:endParaRPr lang="en-US" sz="1200" dirty="0"/>
          </a:p>
          <a:p>
            <a:pPr marL="342900" indent="-342900">
              <a:spcAft>
                <a:spcPts val="400"/>
              </a:spcAft>
              <a:buSzPct val="100000"/>
              <a:buChar char="•"/>
            </a:pPr>
            <a:r>
              <a:rPr lang="en-US" sz="1200" dirty="0">
                <a:solidFill>
                  <a:srgbClr val="2D3D2A"/>
                </a:solidFill>
                <a:latin typeface="Calibri" pitchFamily="34" charset="0"/>
                <a:ea typeface="Calibri" pitchFamily="34" charset="-122"/>
                <a:cs typeface="Calibri" pitchFamily="34" charset="-120"/>
              </a:rPr>
              <a:t>Validates: do models attend to the grain, not the background?</a:t>
            </a:r>
            <a:endParaRPr lang="en-US" sz="1200" dirty="0"/>
          </a:p>
        </p:txBody>
      </p:sp>
      <p:sp>
        <p:nvSpPr>
          <p:cNvPr id="17" name="Shape 15"/>
          <p:cNvSpPr/>
          <p:nvPr/>
        </p:nvSpPr>
        <p:spPr>
          <a:xfrm>
            <a:off x="4224528" y="1042416"/>
            <a:ext cx="0" cy="3566160"/>
          </a:xfrm>
          <a:prstGeom prst="line">
            <a:avLst/>
          </a:prstGeom>
          <a:noFill/>
          <a:ln w="6350">
            <a:solidFill>
              <a:srgbClr val="C2D6B8"/>
            </a:solidFill>
            <a:prstDash val="dash"/>
          </a:ln>
        </p:spPr>
      </p:sp>
      <p:pic>
        <p:nvPicPr>
          <p:cNvPr id="19" name="Picture 18">
            <a:extLst>
              <a:ext uri="{FF2B5EF4-FFF2-40B4-BE49-F238E27FC236}">
                <a16:creationId xmlns:a16="http://schemas.microsoft.com/office/drawing/2014/main" id="{5CECAB39-1741-4BDD-B9B5-2BD379D9FE54}"/>
              </a:ext>
            </a:extLst>
          </p:cNvPr>
          <p:cNvPicPr>
            <a:picLocks noChangeAspect="1"/>
          </p:cNvPicPr>
          <p:nvPr/>
        </p:nvPicPr>
        <p:blipFill>
          <a:blip r:embed="rId3"/>
          <a:stretch>
            <a:fillRect/>
          </a:stretch>
        </p:blipFill>
        <p:spPr>
          <a:xfrm>
            <a:off x="5786421" y="3216035"/>
            <a:ext cx="1689714" cy="1676005"/>
          </a:xfrm>
          <a:prstGeom prst="rect">
            <a:avLst/>
          </a:prstGeom>
        </p:spPr>
      </p:pic>
      <p:pic>
        <p:nvPicPr>
          <p:cNvPr id="21" name="Picture 20">
            <a:extLst>
              <a:ext uri="{FF2B5EF4-FFF2-40B4-BE49-F238E27FC236}">
                <a16:creationId xmlns:a16="http://schemas.microsoft.com/office/drawing/2014/main" id="{51FF53A9-69E6-44CD-B607-99B9CF0310A4}"/>
              </a:ext>
            </a:extLst>
          </p:cNvPr>
          <p:cNvPicPr>
            <a:picLocks noChangeAspect="1"/>
          </p:cNvPicPr>
          <p:nvPr/>
        </p:nvPicPr>
        <p:blipFill>
          <a:blip r:embed="rId4"/>
          <a:stretch>
            <a:fillRect/>
          </a:stretch>
        </p:blipFill>
        <p:spPr>
          <a:xfrm>
            <a:off x="4572000" y="1042416"/>
            <a:ext cx="1692399" cy="1699265"/>
          </a:xfrm>
          <a:prstGeom prst="rect">
            <a:avLst/>
          </a:prstGeom>
        </p:spPr>
      </p:pic>
      <p:pic>
        <p:nvPicPr>
          <p:cNvPr id="23" name="Picture 22">
            <a:extLst>
              <a:ext uri="{FF2B5EF4-FFF2-40B4-BE49-F238E27FC236}">
                <a16:creationId xmlns:a16="http://schemas.microsoft.com/office/drawing/2014/main" id="{F96AE1E8-191A-4792-937E-919121809138}"/>
              </a:ext>
            </a:extLst>
          </p:cNvPr>
          <p:cNvPicPr>
            <a:picLocks noChangeAspect="1"/>
          </p:cNvPicPr>
          <p:nvPr/>
        </p:nvPicPr>
        <p:blipFill>
          <a:blip r:embed="rId5"/>
          <a:stretch>
            <a:fillRect/>
          </a:stretch>
        </p:blipFill>
        <p:spPr>
          <a:xfrm>
            <a:off x="6840592" y="1037686"/>
            <a:ext cx="1678914" cy="16992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4F7F1"/>
        </a:solidFill>
        <a:effectLst/>
      </p:bgPr>
    </p:bg>
    <p:spTree>
      <p:nvGrpSpPr>
        <p:cNvPr id="1" name=""/>
        <p:cNvGrpSpPr/>
        <p:nvPr/>
      </p:nvGrpSpPr>
      <p:grpSpPr>
        <a:xfrm>
          <a:off x="0" y="0"/>
          <a:ext cx="0" cy="0"/>
          <a:chOff x="0" y="0"/>
          <a:chExt cx="0" cy="0"/>
        </a:xfrm>
      </p:grpSpPr>
      <p:sp>
        <p:nvSpPr>
          <p:cNvPr id="2" name="Shape 0"/>
          <p:cNvSpPr/>
          <p:nvPr/>
        </p:nvSpPr>
        <p:spPr>
          <a:xfrm>
            <a:off x="347472" y="228600"/>
            <a:ext cx="73152" cy="566928"/>
          </a:xfrm>
          <a:prstGeom prst="rect">
            <a:avLst/>
          </a:prstGeom>
          <a:solidFill>
            <a:srgbClr val="7CB87A"/>
          </a:solidFill>
          <a:ln w="12700">
            <a:solidFill>
              <a:srgbClr val="7CB87A"/>
            </a:solidFill>
            <a:prstDash val="solid"/>
          </a:ln>
        </p:spPr>
      </p:sp>
      <p:sp>
        <p:nvSpPr>
          <p:cNvPr id="3" name="Text 1"/>
          <p:cNvSpPr/>
          <p:nvPr/>
        </p:nvSpPr>
        <p:spPr>
          <a:xfrm>
            <a:off x="521208" y="192024"/>
            <a:ext cx="8275320" cy="676656"/>
          </a:xfrm>
          <a:prstGeom prst="rect">
            <a:avLst/>
          </a:prstGeom>
          <a:noFill/>
          <a:ln/>
        </p:spPr>
        <p:txBody>
          <a:bodyPr wrap="square" lIns="0" tIns="0" rIns="0" bIns="0" rtlCol="0" anchor="ctr"/>
          <a:lstStyle/>
          <a:p>
            <a:pPr marL="0" indent="0">
              <a:buNone/>
            </a:pPr>
            <a:r>
              <a:rPr lang="en-US" sz="2700" b="1" dirty="0">
                <a:solidFill>
                  <a:srgbClr val="1B4D2E"/>
                </a:solidFill>
                <a:latin typeface="Cambria" pitchFamily="34" charset="0"/>
                <a:ea typeface="Cambria" pitchFamily="34" charset="-122"/>
                <a:cs typeface="Cambria" pitchFamily="34" charset="-120"/>
              </a:rPr>
              <a:t>Explainability: LIME</a:t>
            </a:r>
            <a:endParaRPr lang="en-US" sz="2700" dirty="0"/>
          </a:p>
        </p:txBody>
      </p:sp>
      <p:sp>
        <p:nvSpPr>
          <p:cNvPr id="6" name="Text 4"/>
          <p:cNvSpPr/>
          <p:nvPr/>
        </p:nvSpPr>
        <p:spPr>
          <a:xfrm>
            <a:off x="8046720" y="4892040"/>
            <a:ext cx="914400" cy="182880"/>
          </a:xfrm>
          <a:prstGeom prst="rect">
            <a:avLst/>
          </a:prstGeom>
          <a:noFill/>
          <a:ln/>
        </p:spPr>
        <p:txBody>
          <a:bodyPr wrap="square" rtlCol="0" anchor="ctr"/>
          <a:lstStyle/>
          <a:p>
            <a:pPr marL="0" indent="0" algn="r">
              <a:buNone/>
            </a:pPr>
            <a:r>
              <a:rPr lang="en-US" sz="1000" dirty="0">
                <a:solidFill>
                  <a:srgbClr val="607060"/>
                </a:solidFill>
                <a:latin typeface="Calibri" pitchFamily="34" charset="0"/>
                <a:ea typeface="Calibri" pitchFamily="34" charset="-122"/>
                <a:cs typeface="Calibri" pitchFamily="34" charset="-120"/>
              </a:rPr>
              <a:t>16 / 22</a:t>
            </a:r>
            <a:endParaRPr lang="en-US" sz="1000" dirty="0"/>
          </a:p>
        </p:txBody>
      </p:sp>
      <p:sp>
        <p:nvSpPr>
          <p:cNvPr id="7" name="Shape 5"/>
          <p:cNvSpPr/>
          <p:nvPr/>
        </p:nvSpPr>
        <p:spPr>
          <a:xfrm>
            <a:off x="347472" y="1042416"/>
            <a:ext cx="3749040" cy="3675888"/>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8" name="Shape 6"/>
          <p:cNvSpPr/>
          <p:nvPr/>
        </p:nvSpPr>
        <p:spPr>
          <a:xfrm>
            <a:off x="347472" y="1042416"/>
            <a:ext cx="3749040" cy="457200"/>
          </a:xfrm>
          <a:prstGeom prst="rect">
            <a:avLst/>
          </a:prstGeom>
          <a:solidFill>
            <a:srgbClr val="4A8C3F"/>
          </a:solidFill>
          <a:ln w="12700">
            <a:solidFill>
              <a:srgbClr val="4A8C3F"/>
            </a:solidFill>
            <a:prstDash val="solid"/>
          </a:ln>
        </p:spPr>
      </p:sp>
      <p:sp>
        <p:nvSpPr>
          <p:cNvPr id="9" name="Text 7"/>
          <p:cNvSpPr/>
          <p:nvPr/>
        </p:nvSpPr>
        <p:spPr>
          <a:xfrm>
            <a:off x="475488" y="1042416"/>
            <a:ext cx="3493008" cy="45720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How LIME Works</a:t>
            </a:r>
            <a:endParaRPr lang="en-US" sz="1400" dirty="0"/>
          </a:p>
        </p:txBody>
      </p:sp>
      <p:sp>
        <p:nvSpPr>
          <p:cNvPr id="10" name="Text 8"/>
          <p:cNvSpPr/>
          <p:nvPr/>
        </p:nvSpPr>
        <p:spPr>
          <a:xfrm>
            <a:off x="475488" y="1572768"/>
            <a:ext cx="3493008" cy="3072384"/>
          </a:xfrm>
          <a:prstGeom prst="rect">
            <a:avLst/>
          </a:prstGeom>
          <a:noFill/>
          <a:ln/>
        </p:spPr>
        <p:txBody>
          <a:bodyPr wrap="square" rtlCol="0" anchor="ctr"/>
          <a:lstStyle/>
          <a:p>
            <a:pPr marL="342900" indent="-342900">
              <a:spcAft>
                <a:spcPts val="400"/>
              </a:spcAft>
              <a:buSzPct val="100000"/>
              <a:buChar char="•"/>
            </a:pPr>
            <a:r>
              <a:rPr lang="en-US" sz="1200" dirty="0">
                <a:solidFill>
                  <a:srgbClr val="2D3D2A"/>
                </a:solidFill>
                <a:latin typeface="Calibri" pitchFamily="34" charset="0"/>
                <a:ea typeface="Calibri" pitchFamily="34" charset="-122"/>
                <a:cs typeface="Calibri" pitchFamily="34" charset="-120"/>
              </a:rPr>
              <a:t>Segments image into superpixels (coherent regions)</a:t>
            </a:r>
            <a:endParaRPr lang="en-US" sz="1200" dirty="0"/>
          </a:p>
          <a:p>
            <a:pPr marL="342900" indent="-342900">
              <a:spcAft>
                <a:spcPts val="400"/>
              </a:spcAft>
              <a:buSzPct val="100000"/>
              <a:buChar char="•"/>
            </a:pPr>
            <a:r>
              <a:rPr lang="en-US" sz="1200" dirty="0">
                <a:solidFill>
                  <a:srgbClr val="2D3D2A"/>
                </a:solidFill>
                <a:latin typeface="Calibri" pitchFamily="34" charset="0"/>
                <a:ea typeface="Calibri" pitchFamily="34" charset="-122"/>
                <a:cs typeface="Calibri" pitchFamily="34" charset="-120"/>
              </a:rPr>
              <a:t>Generates perturbed samples by hiding random superpixels</a:t>
            </a:r>
            <a:endParaRPr lang="en-US" sz="1200" dirty="0"/>
          </a:p>
          <a:p>
            <a:pPr marL="342900" indent="-342900">
              <a:spcAft>
                <a:spcPts val="400"/>
              </a:spcAft>
              <a:buSzPct val="100000"/>
              <a:buChar char="•"/>
            </a:pPr>
            <a:r>
              <a:rPr lang="en-US" sz="1200" dirty="0">
                <a:solidFill>
                  <a:srgbClr val="2D3D2A"/>
                </a:solidFill>
                <a:latin typeface="Calibri" pitchFamily="34" charset="0"/>
                <a:ea typeface="Calibri" pitchFamily="34" charset="-122"/>
                <a:cs typeface="Calibri" pitchFamily="34" charset="-120"/>
              </a:rPr>
              <a:t>Runs each perturbed sample through the trained model</a:t>
            </a:r>
            <a:endParaRPr lang="en-US" sz="1200" dirty="0"/>
          </a:p>
          <a:p>
            <a:pPr marL="342900" indent="-342900">
              <a:spcAft>
                <a:spcPts val="400"/>
              </a:spcAft>
              <a:buSzPct val="100000"/>
              <a:buChar char="•"/>
            </a:pPr>
            <a:r>
              <a:rPr lang="en-US" sz="1200" dirty="0">
                <a:solidFill>
                  <a:srgbClr val="2D3D2A"/>
                </a:solidFill>
                <a:latin typeface="Calibri" pitchFamily="34" charset="0"/>
                <a:ea typeface="Calibri" pitchFamily="34" charset="-122"/>
                <a:cs typeface="Calibri" pitchFamily="34" charset="-120"/>
              </a:rPr>
              <a:t>Fits a weighted linear model to the perturbation responses</a:t>
            </a:r>
            <a:endParaRPr lang="en-US" sz="1200" dirty="0"/>
          </a:p>
          <a:p>
            <a:pPr marL="342900" indent="-342900">
              <a:spcAft>
                <a:spcPts val="400"/>
              </a:spcAft>
              <a:buSzPct val="100000"/>
              <a:buChar char="•"/>
            </a:pPr>
            <a:r>
              <a:rPr lang="en-US" sz="1200" dirty="0">
                <a:solidFill>
                  <a:srgbClr val="2D3D2A"/>
                </a:solidFill>
                <a:latin typeface="Calibri" pitchFamily="34" charset="0"/>
                <a:ea typeface="Calibri" pitchFamily="34" charset="-122"/>
                <a:cs typeface="Calibri" pitchFamily="34" charset="-120"/>
              </a:rPr>
              <a:t>Top-5 positive superpixels highlighted with boundary marks</a:t>
            </a:r>
            <a:endParaRPr lang="en-US" sz="1200" dirty="0"/>
          </a:p>
          <a:p>
            <a:pPr marL="342900" indent="-342900">
              <a:spcAft>
                <a:spcPts val="400"/>
              </a:spcAft>
              <a:buSzPct val="100000"/>
              <a:buChar char="•"/>
            </a:pPr>
            <a:r>
              <a:rPr lang="en-US" sz="1200" dirty="0">
                <a:solidFill>
                  <a:srgbClr val="2D3D2A"/>
                </a:solidFill>
                <a:latin typeface="Calibri" pitchFamily="34" charset="0"/>
                <a:ea typeface="Calibri" pitchFamily="34" charset="-122"/>
                <a:cs typeface="Calibri" pitchFamily="34" charset="-120"/>
              </a:rPr>
              <a:t>Model-agnostic: works with any black-box classifier</a:t>
            </a:r>
            <a:endParaRPr lang="en-US" sz="1200" dirty="0"/>
          </a:p>
          <a:p>
            <a:pPr marL="342900" indent="-342900">
              <a:spcAft>
                <a:spcPts val="400"/>
              </a:spcAft>
              <a:buSzPct val="100000"/>
              <a:buChar char="•"/>
            </a:pPr>
            <a:r>
              <a:rPr lang="en-US" sz="1200" dirty="0">
                <a:solidFill>
                  <a:srgbClr val="2D3D2A"/>
                </a:solidFill>
                <a:latin typeface="Calibri" pitchFamily="34" charset="0"/>
                <a:ea typeface="Calibri" pitchFamily="34" charset="-122"/>
                <a:cs typeface="Calibri" pitchFamily="34" charset="-120"/>
              </a:rPr>
              <a:t>Complements Grad-CAM with a different explanation mechanism</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bg>
      <p:bgPr>
        <a:solidFill>
          <a:srgbClr val="F4F7F1"/>
        </a:solidFill>
        <a:effectLst/>
      </p:bgPr>
    </p:bg>
    <p:spTree>
      <p:nvGrpSpPr>
        <p:cNvPr id="1" name=""/>
        <p:cNvGrpSpPr/>
        <p:nvPr/>
      </p:nvGrpSpPr>
      <p:grpSpPr>
        <a:xfrm>
          <a:off x="0" y="0"/>
          <a:ext cx="0" cy="0"/>
          <a:chOff x="0" y="0"/>
          <a:chExt cx="0" cy="0"/>
        </a:xfrm>
      </p:grpSpPr>
      <p:sp>
        <p:nvSpPr>
          <p:cNvPr id="2" name="Shape 0"/>
          <p:cNvSpPr/>
          <p:nvPr/>
        </p:nvSpPr>
        <p:spPr>
          <a:xfrm>
            <a:off x="347472" y="228600"/>
            <a:ext cx="73152" cy="566928"/>
          </a:xfrm>
          <a:prstGeom prst="rect">
            <a:avLst/>
          </a:prstGeom>
          <a:solidFill>
            <a:srgbClr val="7CB87A"/>
          </a:solidFill>
          <a:ln w="12700">
            <a:solidFill>
              <a:srgbClr val="7CB87A"/>
            </a:solidFill>
            <a:prstDash val="solid"/>
          </a:ln>
        </p:spPr>
      </p:sp>
      <p:sp>
        <p:nvSpPr>
          <p:cNvPr id="3" name="Text 1"/>
          <p:cNvSpPr/>
          <p:nvPr/>
        </p:nvSpPr>
        <p:spPr>
          <a:xfrm>
            <a:off x="521208" y="192024"/>
            <a:ext cx="8275320" cy="676656"/>
          </a:xfrm>
          <a:prstGeom prst="rect">
            <a:avLst/>
          </a:prstGeom>
          <a:noFill/>
          <a:ln/>
        </p:spPr>
        <p:txBody>
          <a:bodyPr wrap="square" lIns="0" tIns="0" rIns="0" bIns="0" rtlCol="0" anchor="ctr"/>
          <a:lstStyle/>
          <a:p>
            <a:pPr marL="0" indent="0">
              <a:buNone/>
            </a:pPr>
            <a:r>
              <a:rPr lang="en-US" sz="2700" b="1" dirty="0">
                <a:solidFill>
                  <a:srgbClr val="1B4D2E"/>
                </a:solidFill>
                <a:latin typeface="Cambria" pitchFamily="34" charset="0"/>
                <a:ea typeface="Cambria" pitchFamily="34" charset="-122"/>
                <a:cs typeface="Cambria" pitchFamily="34" charset="-120"/>
              </a:rPr>
              <a:t>Discussion</a:t>
            </a:r>
            <a:endParaRPr lang="en-US" sz="2700" dirty="0"/>
          </a:p>
        </p:txBody>
      </p:sp>
      <p:sp>
        <p:nvSpPr>
          <p:cNvPr id="4" name="Shape 2"/>
          <p:cNvSpPr/>
          <p:nvPr/>
        </p:nvSpPr>
        <p:spPr>
          <a:xfrm>
            <a:off x="347472" y="969264"/>
            <a:ext cx="8449056" cy="0"/>
          </a:xfrm>
          <a:prstGeom prst="line">
            <a:avLst/>
          </a:prstGeom>
          <a:noFill/>
          <a:ln w="12700">
            <a:solidFill>
              <a:srgbClr val="C2D6B8"/>
            </a:solidFill>
            <a:prstDash val="solid"/>
          </a:ln>
        </p:spPr>
      </p:sp>
      <p:sp>
        <p:nvSpPr>
          <p:cNvPr id="5" name="Text 3"/>
          <p:cNvSpPr/>
          <p:nvPr/>
        </p:nvSpPr>
        <p:spPr>
          <a:xfrm>
            <a:off x="8046720" y="4892040"/>
            <a:ext cx="914400" cy="182880"/>
          </a:xfrm>
          <a:prstGeom prst="rect">
            <a:avLst/>
          </a:prstGeom>
          <a:noFill/>
          <a:ln/>
        </p:spPr>
        <p:txBody>
          <a:bodyPr wrap="square" rtlCol="0" anchor="ctr"/>
          <a:lstStyle/>
          <a:p>
            <a:pPr marL="0" indent="0" algn="r">
              <a:buNone/>
            </a:pPr>
            <a:r>
              <a:rPr lang="en-US" sz="1000" dirty="0">
                <a:solidFill>
                  <a:srgbClr val="607060"/>
                </a:solidFill>
                <a:latin typeface="Calibri" pitchFamily="34" charset="0"/>
                <a:ea typeface="Calibri" pitchFamily="34" charset="-122"/>
                <a:cs typeface="Calibri" pitchFamily="34" charset="-120"/>
              </a:rPr>
              <a:t>18 / 22</a:t>
            </a:r>
            <a:endParaRPr lang="en-US" sz="1000" dirty="0"/>
          </a:p>
        </p:txBody>
      </p:sp>
      <p:sp>
        <p:nvSpPr>
          <p:cNvPr id="6" name="Shape 4"/>
          <p:cNvSpPr/>
          <p:nvPr/>
        </p:nvSpPr>
        <p:spPr>
          <a:xfrm>
            <a:off x="347472" y="1042416"/>
            <a:ext cx="4041648" cy="3675888"/>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7" name="Shape 5"/>
          <p:cNvSpPr/>
          <p:nvPr/>
        </p:nvSpPr>
        <p:spPr>
          <a:xfrm>
            <a:off x="347472" y="1042416"/>
            <a:ext cx="4041648" cy="475488"/>
          </a:xfrm>
          <a:prstGeom prst="rect">
            <a:avLst/>
          </a:prstGeom>
          <a:solidFill>
            <a:srgbClr val="1B4D2E"/>
          </a:solidFill>
          <a:ln w="12700">
            <a:solidFill>
              <a:srgbClr val="1B4D2E"/>
            </a:solidFill>
            <a:prstDash val="solid"/>
          </a:ln>
        </p:spPr>
      </p:sp>
      <p:sp>
        <p:nvSpPr>
          <p:cNvPr id="8" name="Text 6"/>
          <p:cNvSpPr/>
          <p:nvPr/>
        </p:nvSpPr>
        <p:spPr>
          <a:xfrm>
            <a:off x="475488" y="1042416"/>
            <a:ext cx="3785616" cy="475488"/>
          </a:xfrm>
          <a:prstGeom prst="rect">
            <a:avLst/>
          </a:prstGeom>
          <a:noFill/>
          <a:ln/>
        </p:spPr>
        <p:txBody>
          <a:bodyPr wrap="square" rtlCol="0" anchor="ctr"/>
          <a:lstStyle/>
          <a:p>
            <a:pPr marL="0" indent="0">
              <a:buNone/>
            </a:pPr>
            <a:r>
              <a:rPr lang="en-US" sz="1400" b="1" dirty="0">
                <a:solidFill>
                  <a:srgbClr val="7CB87A"/>
                </a:solidFill>
                <a:latin typeface="Cambria" pitchFamily="34" charset="0"/>
                <a:ea typeface="Cambria" pitchFamily="34" charset="-122"/>
                <a:cs typeface="Cambria" pitchFamily="34" charset="-120"/>
              </a:rPr>
              <a:t>Why the Ensemble Worked</a:t>
            </a:r>
            <a:endParaRPr lang="en-US" sz="1400" dirty="0"/>
          </a:p>
        </p:txBody>
      </p:sp>
      <p:sp>
        <p:nvSpPr>
          <p:cNvPr id="9" name="Text 7"/>
          <p:cNvSpPr/>
          <p:nvPr/>
        </p:nvSpPr>
        <p:spPr>
          <a:xfrm>
            <a:off x="475488" y="1591056"/>
            <a:ext cx="3785616" cy="3035808"/>
          </a:xfrm>
          <a:prstGeom prst="rect">
            <a:avLst/>
          </a:prstGeom>
          <a:noFill/>
          <a:ln/>
        </p:spPr>
        <p:txBody>
          <a:bodyPr wrap="square" rtlCol="0" anchor="ctr"/>
          <a:lstStyle/>
          <a:p>
            <a:pPr marL="342900" indent="-342900">
              <a:spcAft>
                <a:spcPts val="400"/>
              </a:spcAft>
              <a:buSzPct val="100000"/>
              <a:buChar char="•"/>
            </a:pPr>
            <a:r>
              <a:rPr lang="en-US" sz="1400" dirty="0">
                <a:solidFill>
                  <a:srgbClr val="2D3D2A"/>
                </a:solidFill>
                <a:latin typeface="Calibri" pitchFamily="34" charset="0"/>
                <a:ea typeface="Calibri" pitchFamily="34" charset="-122"/>
                <a:cs typeface="Calibri" pitchFamily="34" charset="-120"/>
              </a:rPr>
              <a:t>Model diversity: six architectures capture complementary spatial features</a:t>
            </a:r>
            <a:endParaRPr lang="en-US" sz="1400" dirty="0"/>
          </a:p>
          <a:p>
            <a:pPr marL="342900" indent="-342900">
              <a:spcAft>
                <a:spcPts val="400"/>
              </a:spcAft>
              <a:buSzPct val="100000"/>
              <a:buChar char="•"/>
            </a:pPr>
            <a:r>
              <a:rPr lang="en-US" sz="1400" dirty="0">
                <a:solidFill>
                  <a:srgbClr val="2D3D2A"/>
                </a:solidFill>
                <a:latin typeface="Calibri" pitchFamily="34" charset="0"/>
                <a:ea typeface="Calibri" pitchFamily="34" charset="-122"/>
                <a:cs typeface="Calibri" pitchFamily="34" charset="-120"/>
              </a:rPr>
              <a:t>Weighted voting exploits known performance differences between models</a:t>
            </a:r>
            <a:endParaRPr lang="en-US" sz="1400" dirty="0"/>
          </a:p>
          <a:p>
            <a:pPr marL="342900" indent="-342900">
              <a:spcAft>
                <a:spcPts val="400"/>
              </a:spcAft>
              <a:buSzPct val="100000"/>
              <a:buChar char="•"/>
            </a:pPr>
            <a:r>
              <a:rPr lang="en-US" sz="1400" dirty="0">
                <a:solidFill>
                  <a:srgbClr val="2D3D2A"/>
                </a:solidFill>
                <a:latin typeface="Calibri" pitchFamily="34" charset="0"/>
                <a:ea typeface="Calibri" pitchFamily="34" charset="-122"/>
                <a:cs typeface="Calibri" pitchFamily="34" charset="-120"/>
              </a:rPr>
              <a:t>Transfer learning reduced training data requirements significantly</a:t>
            </a:r>
            <a:endParaRPr lang="en-US" sz="1400" dirty="0"/>
          </a:p>
          <a:p>
            <a:pPr marL="342900" indent="-342900">
              <a:spcAft>
                <a:spcPts val="400"/>
              </a:spcAft>
              <a:buSzPct val="100000"/>
              <a:buChar char="•"/>
            </a:pPr>
            <a:r>
              <a:rPr lang="en-US" sz="1400" dirty="0">
                <a:solidFill>
                  <a:srgbClr val="2D3D2A"/>
                </a:solidFill>
                <a:latin typeface="Calibri" pitchFamily="34" charset="0"/>
                <a:ea typeface="Calibri" pitchFamily="34" charset="-122"/>
                <a:cs typeface="Calibri" pitchFamily="34" charset="-120"/>
              </a:rPr>
              <a:t>Otsu segmentation validated by Grad-CAM — models focus on grain body</a:t>
            </a:r>
            <a:endParaRPr lang="en-US" sz="1400" dirty="0"/>
          </a:p>
          <a:p>
            <a:pPr marL="342900" indent="-342900">
              <a:spcAft>
                <a:spcPts val="400"/>
              </a:spcAft>
              <a:buSzPct val="100000"/>
              <a:buChar char="•"/>
            </a:pPr>
            <a:r>
              <a:rPr lang="en-US" sz="1400" dirty="0">
                <a:solidFill>
                  <a:srgbClr val="2D3D2A"/>
                </a:solidFill>
                <a:latin typeface="Calibri" pitchFamily="34" charset="0"/>
                <a:ea typeface="Calibri" pitchFamily="34" charset="-122"/>
                <a:cs typeface="Calibri" pitchFamily="34" charset="-120"/>
              </a:rPr>
              <a:t>Per-model normalisation preserved each backbone’s learned feature statistics</a:t>
            </a:r>
            <a:endParaRPr lang="en-US" sz="1400" dirty="0"/>
          </a:p>
          <a:p>
            <a:pPr marL="342900" indent="-342900">
              <a:spcAft>
                <a:spcPts val="400"/>
              </a:spcAft>
              <a:buSzPct val="100000"/>
              <a:buChar char="•"/>
            </a:pPr>
            <a:r>
              <a:rPr lang="en-US" sz="1400" dirty="0">
                <a:solidFill>
                  <a:srgbClr val="2D3D2A"/>
                </a:solidFill>
                <a:latin typeface="Calibri" pitchFamily="34" charset="0"/>
                <a:ea typeface="Calibri" pitchFamily="34" charset="-122"/>
                <a:cs typeface="Calibri" pitchFamily="34" charset="-120"/>
              </a:rPr>
              <a:t>Early stopping + ReduceLROnPlateau prevented overfitting across all models</a:t>
            </a:r>
            <a:endParaRPr lang="en-US" sz="1400" dirty="0"/>
          </a:p>
        </p:txBody>
      </p:sp>
      <p:sp>
        <p:nvSpPr>
          <p:cNvPr id="10" name="Shape 8"/>
          <p:cNvSpPr/>
          <p:nvPr/>
        </p:nvSpPr>
        <p:spPr>
          <a:xfrm>
            <a:off x="4572000" y="1042416"/>
            <a:ext cx="4224528" cy="3675888"/>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11" name="Shape 9"/>
          <p:cNvSpPr/>
          <p:nvPr/>
        </p:nvSpPr>
        <p:spPr>
          <a:xfrm>
            <a:off x="4572000" y="1042416"/>
            <a:ext cx="4224528" cy="475488"/>
          </a:xfrm>
          <a:prstGeom prst="rect">
            <a:avLst/>
          </a:prstGeom>
          <a:solidFill>
            <a:srgbClr val="4A8C3F"/>
          </a:solidFill>
          <a:ln w="12700">
            <a:solidFill>
              <a:srgbClr val="4A8C3F"/>
            </a:solidFill>
            <a:prstDash val="solid"/>
          </a:ln>
        </p:spPr>
      </p:sp>
      <p:sp>
        <p:nvSpPr>
          <p:cNvPr id="12" name="Text 10"/>
          <p:cNvSpPr/>
          <p:nvPr/>
        </p:nvSpPr>
        <p:spPr>
          <a:xfrm>
            <a:off x="4700016" y="1042416"/>
            <a:ext cx="3968496" cy="475488"/>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Limitations &amp; Trade-offs</a:t>
            </a:r>
            <a:endParaRPr lang="en-US" sz="1400" dirty="0"/>
          </a:p>
        </p:txBody>
      </p:sp>
      <p:sp>
        <p:nvSpPr>
          <p:cNvPr id="13" name="Text 11"/>
          <p:cNvSpPr/>
          <p:nvPr/>
        </p:nvSpPr>
        <p:spPr>
          <a:xfrm>
            <a:off x="4700016" y="1591056"/>
            <a:ext cx="3968496" cy="3035808"/>
          </a:xfrm>
          <a:prstGeom prst="rect">
            <a:avLst/>
          </a:prstGeom>
          <a:noFill/>
          <a:ln/>
        </p:spPr>
        <p:txBody>
          <a:bodyPr wrap="square" rtlCol="0" anchor="ctr"/>
          <a:lstStyle/>
          <a:p>
            <a:pPr marL="342900" indent="-342900">
              <a:spcAft>
                <a:spcPts val="400"/>
              </a:spcAft>
              <a:buSzPct val="100000"/>
              <a:buChar char="•"/>
            </a:pPr>
            <a:r>
              <a:rPr lang="en-US" sz="1400" dirty="0">
                <a:solidFill>
                  <a:srgbClr val="2D3D2A"/>
                </a:solidFill>
                <a:latin typeface="Calibri" pitchFamily="34" charset="0"/>
                <a:ea typeface="Calibri" pitchFamily="34" charset="-122"/>
                <a:cs typeface="Calibri" pitchFamily="34" charset="-120"/>
              </a:rPr>
              <a:t>Dataset is pre-augmented — does not represent fully wild, unconstrained grain images</a:t>
            </a:r>
            <a:endParaRPr lang="en-US" sz="1400" dirty="0"/>
          </a:p>
          <a:p>
            <a:pPr marL="342900" indent="-342900">
              <a:spcAft>
                <a:spcPts val="400"/>
              </a:spcAft>
              <a:buSzPct val="100000"/>
              <a:buChar char="•"/>
            </a:pPr>
            <a:r>
              <a:rPr lang="en-US" sz="1400" dirty="0">
                <a:solidFill>
                  <a:srgbClr val="2D3D2A"/>
                </a:solidFill>
                <a:latin typeface="Calibri" pitchFamily="34" charset="0"/>
                <a:ea typeface="Calibri" pitchFamily="34" charset="-122"/>
                <a:cs typeface="Calibri" pitchFamily="34" charset="-120"/>
              </a:rPr>
              <a:t>Ensemble inference time scales linearly with the number of models (6× single)</a:t>
            </a:r>
            <a:endParaRPr lang="en-US" sz="1400" dirty="0"/>
          </a:p>
          <a:p>
            <a:pPr marL="342900" indent="-342900">
              <a:spcAft>
                <a:spcPts val="400"/>
              </a:spcAft>
              <a:buSzPct val="100000"/>
              <a:buChar char="•"/>
            </a:pPr>
            <a:r>
              <a:rPr lang="en-US" sz="1400" dirty="0">
                <a:solidFill>
                  <a:srgbClr val="2D3D2A"/>
                </a:solidFill>
                <a:latin typeface="Calibri" pitchFamily="34" charset="0"/>
                <a:ea typeface="Calibri" pitchFamily="34" charset="-122"/>
                <a:cs typeface="Calibri" pitchFamily="34" charset="-120"/>
              </a:rPr>
              <a:t>Grad-CAM heatmap resolution is limited by the spatial size of the last conv layer</a:t>
            </a:r>
            <a:endParaRPr lang="en-US" sz="1400" dirty="0"/>
          </a:p>
          <a:p>
            <a:pPr marL="342900" indent="-342900">
              <a:spcAft>
                <a:spcPts val="400"/>
              </a:spcAft>
              <a:buSzPct val="100000"/>
              <a:buChar char="•"/>
            </a:pPr>
            <a:r>
              <a:rPr lang="en-US" sz="1400" dirty="0">
                <a:solidFill>
                  <a:srgbClr val="2D3D2A"/>
                </a:solidFill>
                <a:latin typeface="Calibri" pitchFamily="34" charset="0"/>
                <a:ea typeface="Calibri" pitchFamily="34" charset="-122"/>
                <a:cs typeface="Calibri" pitchFamily="34" charset="-120"/>
              </a:rPr>
              <a:t>LIME explanations can vary with random seed and number of perturbation samples</a:t>
            </a:r>
            <a:endParaRPr lang="en-US" sz="1400" dirty="0"/>
          </a:p>
          <a:p>
            <a:pPr marL="342900" indent="-342900">
              <a:spcAft>
                <a:spcPts val="400"/>
              </a:spcAft>
              <a:buSzPct val="100000"/>
              <a:buChar char="•"/>
            </a:pPr>
            <a:r>
              <a:rPr lang="en-US" sz="1400" dirty="0">
                <a:solidFill>
                  <a:srgbClr val="2D3D2A"/>
                </a:solidFill>
                <a:latin typeface="Calibri" pitchFamily="34" charset="0"/>
                <a:ea typeface="Calibri" pitchFamily="34" charset="-122"/>
                <a:cs typeface="Calibri" pitchFamily="34" charset="-120"/>
              </a:rPr>
              <a:t>All models trained on same dataset split — no cross-dataset validation reported</a:t>
            </a:r>
            <a:endParaRPr lang="en-US" sz="1400" dirty="0"/>
          </a:p>
          <a:p>
            <a:pPr marL="342900" indent="-342900">
              <a:spcAft>
                <a:spcPts val="400"/>
              </a:spcAft>
              <a:buSzPct val="100000"/>
              <a:buChar char="•"/>
            </a:pPr>
            <a:r>
              <a:rPr lang="en-US" sz="1400" dirty="0">
                <a:solidFill>
                  <a:srgbClr val="2D3D2A"/>
                </a:solidFill>
                <a:latin typeface="Calibri" pitchFamily="34" charset="0"/>
                <a:ea typeface="Calibri" pitchFamily="34" charset="-122"/>
                <a:cs typeface="Calibri" pitchFamily="34" charset="-120"/>
              </a:rPr>
              <a:t>GPU memory requirements may be challenging for deployment on edge hardware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9">
    <p:bg>
      <p:bgPr>
        <a:solidFill>
          <a:srgbClr val="1B4D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7CB87A"/>
          </a:solidFill>
          <a:ln w="12700">
            <a:solidFill>
              <a:srgbClr val="7CB87A"/>
            </a:solidFill>
            <a:prstDash val="solid"/>
          </a:ln>
        </p:spPr>
      </p:sp>
      <p:sp>
        <p:nvSpPr>
          <p:cNvPr id="3" name="Shape 1"/>
          <p:cNvSpPr/>
          <p:nvPr/>
        </p:nvSpPr>
        <p:spPr>
          <a:xfrm>
            <a:off x="0" y="4978908"/>
            <a:ext cx="9144000" cy="164592"/>
          </a:xfrm>
          <a:prstGeom prst="rect">
            <a:avLst/>
          </a:prstGeom>
          <a:solidFill>
            <a:srgbClr val="4A8C3F"/>
          </a:solidFill>
          <a:ln w="12700">
            <a:solidFill>
              <a:srgbClr val="4A8C3F"/>
            </a:solidFill>
            <a:prstDash val="solid"/>
          </a:ln>
        </p:spPr>
      </p:sp>
      <p:sp>
        <p:nvSpPr>
          <p:cNvPr id="4" name="Text 2"/>
          <p:cNvSpPr/>
          <p:nvPr/>
        </p:nvSpPr>
        <p:spPr>
          <a:xfrm>
            <a:off x="457200" y="256032"/>
            <a:ext cx="8229600" cy="658368"/>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5" name="Shape 3"/>
          <p:cNvSpPr/>
          <p:nvPr/>
        </p:nvSpPr>
        <p:spPr>
          <a:xfrm>
            <a:off x="457200" y="932688"/>
            <a:ext cx="8229600" cy="0"/>
          </a:xfrm>
          <a:prstGeom prst="line">
            <a:avLst/>
          </a:prstGeom>
          <a:noFill/>
          <a:ln w="12700">
            <a:solidFill>
              <a:srgbClr val="4A8C3F"/>
            </a:solidFill>
            <a:prstDash val="solid"/>
          </a:ln>
        </p:spPr>
      </p:sp>
      <p:sp>
        <p:nvSpPr>
          <p:cNvPr id="6" name="Shape 4"/>
          <p:cNvSpPr/>
          <p:nvPr/>
        </p:nvSpPr>
        <p:spPr>
          <a:xfrm>
            <a:off x="347472" y="1042416"/>
            <a:ext cx="4041648" cy="1627632"/>
          </a:xfrm>
          <a:prstGeom prst="rect">
            <a:avLst/>
          </a:prstGeom>
          <a:solidFill>
            <a:srgbClr val="2E7D45"/>
          </a:solidFill>
          <a:ln w="9525">
            <a:solidFill>
              <a:srgbClr val="4A8C3F"/>
            </a:solidFill>
            <a:prstDash val="solid"/>
          </a:ln>
          <a:effectLst>
            <a:outerShdw blurRad="63500" dist="25400" dir="8100000" algn="bl" rotWithShape="0">
              <a:srgbClr val="000000">
                <a:alpha val="9000"/>
              </a:srgbClr>
            </a:outerShdw>
          </a:effectLst>
        </p:spPr>
      </p:sp>
      <p:sp>
        <p:nvSpPr>
          <p:cNvPr id="7" name="Shape 5"/>
          <p:cNvSpPr/>
          <p:nvPr/>
        </p:nvSpPr>
        <p:spPr>
          <a:xfrm>
            <a:off x="347472" y="1042416"/>
            <a:ext cx="502920" cy="1627632"/>
          </a:xfrm>
          <a:prstGeom prst="rect">
            <a:avLst/>
          </a:prstGeom>
          <a:solidFill>
            <a:srgbClr val="7CB87A"/>
          </a:solidFill>
          <a:ln w="12700">
            <a:solidFill>
              <a:srgbClr val="7CB87A"/>
            </a:solidFill>
            <a:prstDash val="solid"/>
          </a:ln>
        </p:spPr>
      </p:sp>
      <p:sp>
        <p:nvSpPr>
          <p:cNvPr id="8" name="Text 6"/>
          <p:cNvSpPr/>
          <p:nvPr/>
        </p:nvSpPr>
        <p:spPr>
          <a:xfrm>
            <a:off x="347472" y="1042416"/>
            <a:ext cx="502920" cy="1627632"/>
          </a:xfrm>
          <a:prstGeom prst="rect">
            <a:avLst/>
          </a:prstGeom>
          <a:noFill/>
          <a:ln/>
        </p:spPr>
        <p:txBody>
          <a:bodyPr wrap="square" rtlCol="0" anchor="ctr"/>
          <a:lstStyle/>
          <a:p>
            <a:pPr marL="0" indent="0" algn="ctr">
              <a:buNone/>
            </a:pPr>
            <a:r>
              <a:rPr lang="en-US" sz="2200" b="1" dirty="0">
                <a:solidFill>
                  <a:srgbClr val="1B4D2E"/>
                </a:solidFill>
                <a:latin typeface="Cambria" pitchFamily="34" charset="0"/>
                <a:ea typeface="Cambria" pitchFamily="34" charset="-122"/>
                <a:cs typeface="Cambria" pitchFamily="34" charset="-120"/>
              </a:rPr>
              <a:t>1</a:t>
            </a:r>
            <a:endParaRPr lang="en-US" sz="2200" dirty="0"/>
          </a:p>
        </p:txBody>
      </p:sp>
      <p:sp>
        <p:nvSpPr>
          <p:cNvPr id="9" name="Text 7"/>
          <p:cNvSpPr/>
          <p:nvPr/>
        </p:nvSpPr>
        <p:spPr>
          <a:xfrm>
            <a:off x="941832" y="1133856"/>
            <a:ext cx="3355848" cy="347472"/>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Preprocessing Validates Segmentation</a:t>
            </a:r>
            <a:endParaRPr lang="en-US" sz="1300" dirty="0"/>
          </a:p>
        </p:txBody>
      </p:sp>
      <p:sp>
        <p:nvSpPr>
          <p:cNvPr id="10" name="Text 8"/>
          <p:cNvSpPr/>
          <p:nvPr/>
        </p:nvSpPr>
        <p:spPr>
          <a:xfrm>
            <a:off x="941832" y="1499616"/>
            <a:ext cx="3355848" cy="1097280"/>
          </a:xfrm>
          <a:prstGeom prst="rect">
            <a:avLst/>
          </a:prstGeom>
          <a:noFill/>
          <a:ln/>
        </p:spPr>
        <p:txBody>
          <a:bodyPr wrap="square" rtlCol="0" anchor="ctr"/>
          <a:lstStyle/>
          <a:p>
            <a:pPr marL="0" indent="0">
              <a:buNone/>
            </a:pPr>
            <a:r>
              <a:rPr lang="en-US" sz="1200" dirty="0">
                <a:solidFill>
                  <a:srgbClr val="C8DFA0"/>
                </a:solidFill>
                <a:latin typeface="Calibri" pitchFamily="34" charset="0"/>
                <a:ea typeface="Calibri" pitchFamily="34" charset="-122"/>
                <a:cs typeface="Calibri" pitchFamily="34" charset="-120"/>
              </a:rPr>
              <a:t>Otsu-based grain segmentation effectively removes background noise. Grad-CAM confirms models focus on morphological grain features, not background artefacts.</a:t>
            </a:r>
            <a:endParaRPr lang="en-US" sz="1200" dirty="0"/>
          </a:p>
        </p:txBody>
      </p:sp>
      <p:sp>
        <p:nvSpPr>
          <p:cNvPr id="11" name="Shape 9"/>
          <p:cNvSpPr/>
          <p:nvPr/>
        </p:nvSpPr>
        <p:spPr>
          <a:xfrm>
            <a:off x="4590288" y="1042416"/>
            <a:ext cx="4041648" cy="1627632"/>
          </a:xfrm>
          <a:prstGeom prst="rect">
            <a:avLst/>
          </a:prstGeom>
          <a:solidFill>
            <a:srgbClr val="2E7D45"/>
          </a:solidFill>
          <a:ln w="9525">
            <a:solidFill>
              <a:srgbClr val="4A8C3F"/>
            </a:solidFill>
            <a:prstDash val="solid"/>
          </a:ln>
          <a:effectLst>
            <a:outerShdw blurRad="63500" dist="25400" dir="8100000" algn="bl" rotWithShape="0">
              <a:srgbClr val="000000">
                <a:alpha val="9000"/>
              </a:srgbClr>
            </a:outerShdw>
          </a:effectLst>
        </p:spPr>
      </p:sp>
      <p:sp>
        <p:nvSpPr>
          <p:cNvPr id="12" name="Shape 10"/>
          <p:cNvSpPr/>
          <p:nvPr/>
        </p:nvSpPr>
        <p:spPr>
          <a:xfrm>
            <a:off x="4590288" y="1042416"/>
            <a:ext cx="502920" cy="1627632"/>
          </a:xfrm>
          <a:prstGeom prst="rect">
            <a:avLst/>
          </a:prstGeom>
          <a:solidFill>
            <a:srgbClr val="7CB87A"/>
          </a:solidFill>
          <a:ln w="12700">
            <a:solidFill>
              <a:srgbClr val="7CB87A"/>
            </a:solidFill>
            <a:prstDash val="solid"/>
          </a:ln>
        </p:spPr>
      </p:sp>
      <p:sp>
        <p:nvSpPr>
          <p:cNvPr id="13" name="Text 11"/>
          <p:cNvSpPr/>
          <p:nvPr/>
        </p:nvSpPr>
        <p:spPr>
          <a:xfrm>
            <a:off x="4590288" y="1042416"/>
            <a:ext cx="502920" cy="1627632"/>
          </a:xfrm>
          <a:prstGeom prst="rect">
            <a:avLst/>
          </a:prstGeom>
          <a:noFill/>
          <a:ln/>
        </p:spPr>
        <p:txBody>
          <a:bodyPr wrap="square" rtlCol="0" anchor="ctr"/>
          <a:lstStyle/>
          <a:p>
            <a:pPr marL="0" indent="0" algn="ctr">
              <a:buNone/>
            </a:pPr>
            <a:r>
              <a:rPr lang="en-US" sz="2200" b="1" dirty="0">
                <a:solidFill>
                  <a:srgbClr val="1B4D2E"/>
                </a:solidFill>
                <a:latin typeface="Cambria" pitchFamily="34" charset="0"/>
                <a:ea typeface="Cambria" pitchFamily="34" charset="-122"/>
                <a:cs typeface="Cambria" pitchFamily="34" charset="-120"/>
              </a:rPr>
              <a:t>2</a:t>
            </a:r>
            <a:endParaRPr lang="en-US" sz="2200" dirty="0"/>
          </a:p>
        </p:txBody>
      </p:sp>
      <p:sp>
        <p:nvSpPr>
          <p:cNvPr id="14" name="Text 12"/>
          <p:cNvSpPr/>
          <p:nvPr/>
        </p:nvSpPr>
        <p:spPr>
          <a:xfrm>
            <a:off x="5184648" y="1133856"/>
            <a:ext cx="3355848" cy="347472"/>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Transfer Learning Achieves High Accuracy</a:t>
            </a:r>
            <a:endParaRPr lang="en-US" sz="1300" dirty="0"/>
          </a:p>
        </p:txBody>
      </p:sp>
      <p:sp>
        <p:nvSpPr>
          <p:cNvPr id="15" name="Text 13"/>
          <p:cNvSpPr/>
          <p:nvPr/>
        </p:nvSpPr>
        <p:spPr>
          <a:xfrm>
            <a:off x="5184648" y="1499616"/>
            <a:ext cx="3355848" cy="1097280"/>
          </a:xfrm>
          <a:prstGeom prst="rect">
            <a:avLst/>
          </a:prstGeom>
          <a:noFill/>
          <a:ln/>
        </p:spPr>
        <p:txBody>
          <a:bodyPr wrap="square" rtlCol="0" anchor="ctr"/>
          <a:lstStyle/>
          <a:p>
            <a:pPr marL="0" indent="0">
              <a:buNone/>
            </a:pPr>
            <a:r>
              <a:rPr lang="en-US" sz="1200" dirty="0">
                <a:solidFill>
                  <a:srgbClr val="C8DFA0"/>
                </a:solidFill>
                <a:latin typeface="Calibri" pitchFamily="34" charset="0"/>
                <a:ea typeface="Calibri" pitchFamily="34" charset="-122"/>
                <a:cs typeface="Calibri" pitchFamily="34" charset="-120"/>
              </a:rPr>
              <a:t>All six pre-trained CNNs achieve strong classification accuracy on rice grain varieties, validating the transfer learning approach with the custom head design.</a:t>
            </a:r>
            <a:endParaRPr lang="en-US" sz="1200" dirty="0"/>
          </a:p>
        </p:txBody>
      </p:sp>
      <p:sp>
        <p:nvSpPr>
          <p:cNvPr id="16" name="Shape 14"/>
          <p:cNvSpPr/>
          <p:nvPr/>
        </p:nvSpPr>
        <p:spPr>
          <a:xfrm>
            <a:off x="347472" y="2798064"/>
            <a:ext cx="4041648" cy="1627632"/>
          </a:xfrm>
          <a:prstGeom prst="rect">
            <a:avLst/>
          </a:prstGeom>
          <a:solidFill>
            <a:srgbClr val="2E7D45"/>
          </a:solidFill>
          <a:ln w="9525">
            <a:solidFill>
              <a:srgbClr val="4A8C3F"/>
            </a:solidFill>
            <a:prstDash val="solid"/>
          </a:ln>
          <a:effectLst>
            <a:outerShdw blurRad="63500" dist="25400" dir="8100000" algn="bl" rotWithShape="0">
              <a:srgbClr val="000000">
                <a:alpha val="9000"/>
              </a:srgbClr>
            </a:outerShdw>
          </a:effectLst>
        </p:spPr>
      </p:sp>
      <p:sp>
        <p:nvSpPr>
          <p:cNvPr id="17" name="Shape 15"/>
          <p:cNvSpPr/>
          <p:nvPr/>
        </p:nvSpPr>
        <p:spPr>
          <a:xfrm>
            <a:off x="347472" y="2798064"/>
            <a:ext cx="502920" cy="1627632"/>
          </a:xfrm>
          <a:prstGeom prst="rect">
            <a:avLst/>
          </a:prstGeom>
          <a:solidFill>
            <a:srgbClr val="7CB87A"/>
          </a:solidFill>
          <a:ln w="12700">
            <a:solidFill>
              <a:srgbClr val="7CB87A"/>
            </a:solidFill>
            <a:prstDash val="solid"/>
          </a:ln>
        </p:spPr>
      </p:sp>
      <p:sp>
        <p:nvSpPr>
          <p:cNvPr id="18" name="Text 16"/>
          <p:cNvSpPr/>
          <p:nvPr/>
        </p:nvSpPr>
        <p:spPr>
          <a:xfrm>
            <a:off x="347472" y="2798064"/>
            <a:ext cx="502920" cy="1627632"/>
          </a:xfrm>
          <a:prstGeom prst="rect">
            <a:avLst/>
          </a:prstGeom>
          <a:noFill/>
          <a:ln/>
        </p:spPr>
        <p:txBody>
          <a:bodyPr wrap="square" rtlCol="0" anchor="ctr"/>
          <a:lstStyle/>
          <a:p>
            <a:pPr marL="0" indent="0" algn="ctr">
              <a:buNone/>
            </a:pPr>
            <a:r>
              <a:rPr lang="en-US" sz="2200" b="1" dirty="0">
                <a:solidFill>
                  <a:srgbClr val="1B4D2E"/>
                </a:solidFill>
                <a:latin typeface="Cambria" pitchFamily="34" charset="0"/>
                <a:ea typeface="Cambria" pitchFamily="34" charset="-122"/>
                <a:cs typeface="Cambria" pitchFamily="34" charset="-120"/>
              </a:rPr>
              <a:t>3</a:t>
            </a:r>
            <a:endParaRPr lang="en-US" sz="2200" dirty="0"/>
          </a:p>
        </p:txBody>
      </p:sp>
      <p:sp>
        <p:nvSpPr>
          <p:cNvPr id="19" name="Text 17"/>
          <p:cNvSpPr/>
          <p:nvPr/>
        </p:nvSpPr>
        <p:spPr>
          <a:xfrm>
            <a:off x="941832" y="2889504"/>
            <a:ext cx="3355848" cy="347472"/>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Weighted Voting Ensemble Performs Best</a:t>
            </a:r>
            <a:endParaRPr lang="en-US" sz="1300" dirty="0"/>
          </a:p>
        </p:txBody>
      </p:sp>
      <p:sp>
        <p:nvSpPr>
          <p:cNvPr id="20" name="Text 18"/>
          <p:cNvSpPr/>
          <p:nvPr/>
        </p:nvSpPr>
        <p:spPr>
          <a:xfrm>
            <a:off x="941832" y="3255264"/>
            <a:ext cx="3355848" cy="1097280"/>
          </a:xfrm>
          <a:prstGeom prst="rect">
            <a:avLst/>
          </a:prstGeom>
          <a:noFill/>
          <a:ln/>
        </p:spPr>
        <p:txBody>
          <a:bodyPr wrap="square" rtlCol="0" anchor="ctr"/>
          <a:lstStyle/>
          <a:p>
            <a:pPr marL="0" indent="0">
              <a:buNone/>
            </a:pPr>
            <a:r>
              <a:rPr lang="en-US" sz="1200" dirty="0">
                <a:solidFill>
                  <a:srgbClr val="C8DFA0"/>
                </a:solidFill>
                <a:latin typeface="Calibri" pitchFamily="34" charset="0"/>
                <a:ea typeface="Calibri" pitchFamily="34" charset="-122"/>
                <a:cs typeface="Calibri" pitchFamily="34" charset="-120"/>
              </a:rPr>
              <a:t>The weighted voting ensemble outperforms all individual models across Accuracy, Precision, Recall, and F1, demonstrating the value of combining diverse architectures.</a:t>
            </a:r>
            <a:endParaRPr lang="en-US" sz="1200" dirty="0"/>
          </a:p>
        </p:txBody>
      </p:sp>
      <p:sp>
        <p:nvSpPr>
          <p:cNvPr id="21" name="Shape 19"/>
          <p:cNvSpPr/>
          <p:nvPr/>
        </p:nvSpPr>
        <p:spPr>
          <a:xfrm>
            <a:off x="4590288" y="2798064"/>
            <a:ext cx="4041648" cy="1627632"/>
          </a:xfrm>
          <a:prstGeom prst="rect">
            <a:avLst/>
          </a:prstGeom>
          <a:solidFill>
            <a:srgbClr val="2E7D45"/>
          </a:solidFill>
          <a:ln w="9525">
            <a:solidFill>
              <a:srgbClr val="4A8C3F"/>
            </a:solidFill>
            <a:prstDash val="solid"/>
          </a:ln>
          <a:effectLst>
            <a:outerShdw blurRad="63500" dist="25400" dir="8100000" algn="bl" rotWithShape="0">
              <a:srgbClr val="000000">
                <a:alpha val="9000"/>
              </a:srgbClr>
            </a:outerShdw>
          </a:effectLst>
        </p:spPr>
      </p:sp>
      <p:sp>
        <p:nvSpPr>
          <p:cNvPr id="22" name="Shape 20"/>
          <p:cNvSpPr/>
          <p:nvPr/>
        </p:nvSpPr>
        <p:spPr>
          <a:xfrm>
            <a:off x="4590288" y="2798064"/>
            <a:ext cx="502920" cy="1627632"/>
          </a:xfrm>
          <a:prstGeom prst="rect">
            <a:avLst/>
          </a:prstGeom>
          <a:solidFill>
            <a:srgbClr val="7CB87A"/>
          </a:solidFill>
          <a:ln w="12700">
            <a:solidFill>
              <a:srgbClr val="7CB87A"/>
            </a:solidFill>
            <a:prstDash val="solid"/>
          </a:ln>
        </p:spPr>
      </p:sp>
      <p:sp>
        <p:nvSpPr>
          <p:cNvPr id="23" name="Text 21"/>
          <p:cNvSpPr/>
          <p:nvPr/>
        </p:nvSpPr>
        <p:spPr>
          <a:xfrm>
            <a:off x="4590288" y="2798064"/>
            <a:ext cx="502920" cy="1627632"/>
          </a:xfrm>
          <a:prstGeom prst="rect">
            <a:avLst/>
          </a:prstGeom>
          <a:noFill/>
          <a:ln/>
        </p:spPr>
        <p:txBody>
          <a:bodyPr wrap="square" rtlCol="0" anchor="ctr"/>
          <a:lstStyle/>
          <a:p>
            <a:pPr marL="0" indent="0" algn="ctr">
              <a:buNone/>
            </a:pPr>
            <a:r>
              <a:rPr lang="en-US" sz="2200" b="1" dirty="0">
                <a:solidFill>
                  <a:srgbClr val="1B4D2E"/>
                </a:solidFill>
                <a:latin typeface="Cambria" pitchFamily="34" charset="0"/>
                <a:ea typeface="Cambria" pitchFamily="34" charset="-122"/>
                <a:cs typeface="Cambria" pitchFamily="34" charset="-120"/>
              </a:rPr>
              <a:t>4</a:t>
            </a:r>
            <a:endParaRPr lang="en-US" sz="2200" dirty="0"/>
          </a:p>
        </p:txBody>
      </p:sp>
      <p:sp>
        <p:nvSpPr>
          <p:cNvPr id="24" name="Text 22"/>
          <p:cNvSpPr/>
          <p:nvPr/>
        </p:nvSpPr>
        <p:spPr>
          <a:xfrm>
            <a:off x="5184648" y="2889504"/>
            <a:ext cx="3355848" cy="347472"/>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Dual Explainability Builds Trust</a:t>
            </a:r>
            <a:endParaRPr lang="en-US" sz="1300" dirty="0"/>
          </a:p>
        </p:txBody>
      </p:sp>
      <p:sp>
        <p:nvSpPr>
          <p:cNvPr id="25" name="Text 23"/>
          <p:cNvSpPr/>
          <p:nvPr/>
        </p:nvSpPr>
        <p:spPr>
          <a:xfrm>
            <a:off x="5184648" y="3255264"/>
            <a:ext cx="3355848" cy="1097280"/>
          </a:xfrm>
          <a:prstGeom prst="rect">
            <a:avLst/>
          </a:prstGeom>
          <a:noFill/>
          <a:ln/>
        </p:spPr>
        <p:txBody>
          <a:bodyPr wrap="square" rtlCol="0" anchor="ctr"/>
          <a:lstStyle/>
          <a:p>
            <a:pPr marL="0" indent="0">
              <a:buNone/>
            </a:pPr>
            <a:r>
              <a:rPr lang="en-US" sz="1200" dirty="0">
                <a:solidFill>
                  <a:srgbClr val="C8DFA0"/>
                </a:solidFill>
                <a:latin typeface="Calibri" pitchFamily="34" charset="0"/>
                <a:ea typeface="Calibri" pitchFamily="34" charset="-122"/>
                <a:cs typeface="Calibri" pitchFamily="34" charset="-120"/>
              </a:rPr>
              <a:t>Grad-CAM and LIME provide complementary, consistent explanations — making the system interpretable and trustworthy for agricultural AI deployment.</a:t>
            </a:r>
            <a:endParaRPr lang="en-US" sz="1200" dirty="0"/>
          </a:p>
        </p:txBody>
      </p:sp>
      <p:sp>
        <p:nvSpPr>
          <p:cNvPr id="26" name="Text 24"/>
          <p:cNvSpPr/>
          <p:nvPr/>
        </p:nvSpPr>
        <p:spPr>
          <a:xfrm>
            <a:off x="8046720" y="4892040"/>
            <a:ext cx="914400" cy="182880"/>
          </a:xfrm>
          <a:prstGeom prst="rect">
            <a:avLst/>
          </a:prstGeom>
          <a:noFill/>
          <a:ln/>
        </p:spPr>
        <p:txBody>
          <a:bodyPr wrap="square" rtlCol="0" anchor="ctr"/>
          <a:lstStyle/>
          <a:p>
            <a:pPr marL="0" indent="0" algn="r">
              <a:buNone/>
            </a:pPr>
            <a:r>
              <a:rPr lang="en-US" sz="1000" dirty="0">
                <a:solidFill>
                  <a:srgbClr val="4A8C3F"/>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bg>
      <p:bgPr>
        <a:solidFill>
          <a:srgbClr val="F4F7F1"/>
        </a:solidFill>
        <a:effectLst/>
      </p:bgPr>
    </p:bg>
    <p:spTree>
      <p:nvGrpSpPr>
        <p:cNvPr id="1" name=""/>
        <p:cNvGrpSpPr/>
        <p:nvPr/>
      </p:nvGrpSpPr>
      <p:grpSpPr>
        <a:xfrm>
          <a:off x="0" y="0"/>
          <a:ext cx="0" cy="0"/>
          <a:chOff x="0" y="0"/>
          <a:chExt cx="0" cy="0"/>
        </a:xfrm>
      </p:grpSpPr>
      <p:sp>
        <p:nvSpPr>
          <p:cNvPr id="2" name="Shape 0"/>
          <p:cNvSpPr/>
          <p:nvPr/>
        </p:nvSpPr>
        <p:spPr>
          <a:xfrm>
            <a:off x="347472" y="228600"/>
            <a:ext cx="73152" cy="566928"/>
          </a:xfrm>
          <a:prstGeom prst="rect">
            <a:avLst/>
          </a:prstGeom>
          <a:solidFill>
            <a:srgbClr val="7CB87A"/>
          </a:solidFill>
          <a:ln w="12700">
            <a:solidFill>
              <a:srgbClr val="7CB87A"/>
            </a:solidFill>
            <a:prstDash val="solid"/>
          </a:ln>
        </p:spPr>
      </p:sp>
      <p:sp>
        <p:nvSpPr>
          <p:cNvPr id="3" name="Text 1"/>
          <p:cNvSpPr/>
          <p:nvPr/>
        </p:nvSpPr>
        <p:spPr>
          <a:xfrm>
            <a:off x="521208" y="192024"/>
            <a:ext cx="8275320" cy="676656"/>
          </a:xfrm>
          <a:prstGeom prst="rect">
            <a:avLst/>
          </a:prstGeom>
          <a:noFill/>
          <a:ln/>
        </p:spPr>
        <p:txBody>
          <a:bodyPr wrap="square" lIns="0" tIns="0" rIns="0" bIns="0" rtlCol="0" anchor="ctr"/>
          <a:lstStyle/>
          <a:p>
            <a:pPr marL="0" indent="0">
              <a:buNone/>
            </a:pPr>
            <a:r>
              <a:rPr lang="en-US" sz="2700" b="1" dirty="0">
                <a:solidFill>
                  <a:srgbClr val="1B4D2E"/>
                </a:solidFill>
                <a:latin typeface="Cambria" pitchFamily="34" charset="0"/>
                <a:ea typeface="Cambria" pitchFamily="34" charset="-122"/>
                <a:cs typeface="Cambria" pitchFamily="34" charset="-120"/>
              </a:rPr>
              <a:t>Future Work</a:t>
            </a:r>
            <a:endParaRPr lang="en-US" sz="2700" dirty="0"/>
          </a:p>
        </p:txBody>
      </p:sp>
      <p:sp>
        <p:nvSpPr>
          <p:cNvPr id="4" name="Shape 2"/>
          <p:cNvSpPr/>
          <p:nvPr/>
        </p:nvSpPr>
        <p:spPr>
          <a:xfrm>
            <a:off x="347472" y="969264"/>
            <a:ext cx="8449056" cy="0"/>
          </a:xfrm>
          <a:prstGeom prst="line">
            <a:avLst/>
          </a:prstGeom>
          <a:noFill/>
          <a:ln w="12700">
            <a:solidFill>
              <a:srgbClr val="C2D6B8"/>
            </a:solidFill>
            <a:prstDash val="solid"/>
          </a:ln>
        </p:spPr>
      </p:sp>
      <p:sp>
        <p:nvSpPr>
          <p:cNvPr id="5" name="Text 3"/>
          <p:cNvSpPr/>
          <p:nvPr/>
        </p:nvSpPr>
        <p:spPr>
          <a:xfrm>
            <a:off x="8046720" y="4892040"/>
            <a:ext cx="914400" cy="182880"/>
          </a:xfrm>
          <a:prstGeom prst="rect">
            <a:avLst/>
          </a:prstGeom>
          <a:noFill/>
          <a:ln/>
        </p:spPr>
        <p:txBody>
          <a:bodyPr wrap="square" rtlCol="0" anchor="ctr"/>
          <a:lstStyle/>
          <a:p>
            <a:pPr marL="0" indent="0" algn="r">
              <a:buNone/>
            </a:pPr>
            <a:r>
              <a:rPr lang="en-US" sz="1000" dirty="0">
                <a:solidFill>
                  <a:srgbClr val="607060"/>
                </a:solidFill>
                <a:latin typeface="Calibri" pitchFamily="34" charset="0"/>
                <a:ea typeface="Calibri" pitchFamily="34" charset="-122"/>
                <a:cs typeface="Calibri" pitchFamily="34" charset="-120"/>
              </a:rPr>
              <a:t>20 / 22</a:t>
            </a:r>
            <a:endParaRPr lang="en-US" sz="1000" dirty="0"/>
          </a:p>
        </p:txBody>
      </p:sp>
      <p:sp>
        <p:nvSpPr>
          <p:cNvPr id="6" name="Shape 4"/>
          <p:cNvSpPr/>
          <p:nvPr/>
        </p:nvSpPr>
        <p:spPr>
          <a:xfrm>
            <a:off x="347472" y="1042416"/>
            <a:ext cx="4041648" cy="1719072"/>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7" name="Shape 5"/>
          <p:cNvSpPr/>
          <p:nvPr/>
        </p:nvSpPr>
        <p:spPr>
          <a:xfrm>
            <a:off x="347472" y="1042416"/>
            <a:ext cx="4041648" cy="475488"/>
          </a:xfrm>
          <a:prstGeom prst="rect">
            <a:avLst/>
          </a:prstGeom>
          <a:solidFill>
            <a:srgbClr val="4A8C3F"/>
          </a:solidFill>
          <a:ln w="12700">
            <a:solidFill>
              <a:srgbClr val="4A8C3F"/>
            </a:solidFill>
            <a:prstDash val="solid"/>
          </a:ln>
        </p:spPr>
      </p:sp>
      <p:sp>
        <p:nvSpPr>
          <p:cNvPr id="8" name="Text 6"/>
          <p:cNvSpPr/>
          <p:nvPr/>
        </p:nvSpPr>
        <p:spPr>
          <a:xfrm>
            <a:off x="475488" y="1042416"/>
            <a:ext cx="3858768" cy="475488"/>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01  Real-World Validation</a:t>
            </a:r>
            <a:endParaRPr lang="en-US" sz="1300" dirty="0"/>
          </a:p>
        </p:txBody>
      </p:sp>
      <p:sp>
        <p:nvSpPr>
          <p:cNvPr id="9" name="Text 7"/>
          <p:cNvSpPr/>
          <p:nvPr/>
        </p:nvSpPr>
        <p:spPr>
          <a:xfrm>
            <a:off x="475488" y="1591056"/>
            <a:ext cx="3840480" cy="1097280"/>
          </a:xfrm>
          <a:prstGeom prst="rect">
            <a:avLst/>
          </a:prstGeom>
          <a:noFill/>
          <a:ln/>
        </p:spPr>
        <p:txBody>
          <a:bodyPr wrap="square" rtlCol="0" anchor="ctr"/>
          <a:lstStyle/>
          <a:p>
            <a:pPr marL="0" indent="0">
              <a:buNone/>
            </a:pPr>
            <a:r>
              <a:rPr lang="en-US" sz="1400" dirty="0">
                <a:solidFill>
                  <a:srgbClr val="2D3D2A"/>
                </a:solidFill>
                <a:latin typeface="Calibri" pitchFamily="34" charset="0"/>
                <a:ea typeface="Calibri" pitchFamily="34" charset="-122"/>
                <a:cs typeface="Calibri" pitchFamily="34" charset="-120"/>
              </a:rPr>
              <a:t>Test on unconstrained, field-captured grain images with non-uniform backgrounds, variable lighting, and mixed grain samples to assess generalisation.</a:t>
            </a:r>
            <a:endParaRPr lang="en-US" sz="1400" dirty="0"/>
          </a:p>
        </p:txBody>
      </p:sp>
      <p:sp>
        <p:nvSpPr>
          <p:cNvPr id="10" name="Shape 8"/>
          <p:cNvSpPr/>
          <p:nvPr/>
        </p:nvSpPr>
        <p:spPr>
          <a:xfrm>
            <a:off x="4608576" y="1042416"/>
            <a:ext cx="4041648" cy="1719072"/>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11" name="Shape 9"/>
          <p:cNvSpPr/>
          <p:nvPr/>
        </p:nvSpPr>
        <p:spPr>
          <a:xfrm>
            <a:off x="4608576" y="1042416"/>
            <a:ext cx="4041648" cy="475488"/>
          </a:xfrm>
          <a:prstGeom prst="rect">
            <a:avLst/>
          </a:prstGeom>
          <a:solidFill>
            <a:srgbClr val="4A8C3F"/>
          </a:solidFill>
          <a:ln w="12700">
            <a:solidFill>
              <a:srgbClr val="4A8C3F"/>
            </a:solidFill>
            <a:prstDash val="solid"/>
          </a:ln>
        </p:spPr>
      </p:sp>
      <p:sp>
        <p:nvSpPr>
          <p:cNvPr id="12" name="Text 10"/>
          <p:cNvSpPr/>
          <p:nvPr/>
        </p:nvSpPr>
        <p:spPr>
          <a:xfrm>
            <a:off x="4736592" y="1042416"/>
            <a:ext cx="3858768" cy="475488"/>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02  Knowledge Distillation</a:t>
            </a:r>
            <a:endParaRPr lang="en-US" sz="1300" dirty="0"/>
          </a:p>
        </p:txBody>
      </p:sp>
      <p:sp>
        <p:nvSpPr>
          <p:cNvPr id="13" name="Text 11"/>
          <p:cNvSpPr/>
          <p:nvPr/>
        </p:nvSpPr>
        <p:spPr>
          <a:xfrm>
            <a:off x="4736592" y="1591056"/>
            <a:ext cx="3840480" cy="1097280"/>
          </a:xfrm>
          <a:prstGeom prst="rect">
            <a:avLst/>
          </a:prstGeom>
          <a:noFill/>
          <a:ln/>
        </p:spPr>
        <p:txBody>
          <a:bodyPr wrap="square" rtlCol="0" anchor="ctr"/>
          <a:lstStyle/>
          <a:p>
            <a:pPr marL="0" indent="0">
              <a:buNone/>
            </a:pPr>
            <a:r>
              <a:rPr lang="en-US" sz="1400" dirty="0">
                <a:solidFill>
                  <a:srgbClr val="2D3D2A"/>
                </a:solidFill>
                <a:latin typeface="Calibri" pitchFamily="34" charset="0"/>
                <a:ea typeface="Calibri" pitchFamily="34" charset="-122"/>
                <a:cs typeface="Calibri" pitchFamily="34" charset="-120"/>
              </a:rPr>
              <a:t>Compress the six-model ensemble into a single lightweight student model, reducing inference time while preserving the ensemble’s accuracy advantage.</a:t>
            </a:r>
            <a:endParaRPr lang="en-US" sz="1400" dirty="0"/>
          </a:p>
        </p:txBody>
      </p:sp>
      <p:sp>
        <p:nvSpPr>
          <p:cNvPr id="14" name="Shape 12"/>
          <p:cNvSpPr/>
          <p:nvPr/>
        </p:nvSpPr>
        <p:spPr>
          <a:xfrm>
            <a:off x="347472" y="2944368"/>
            <a:ext cx="4041648" cy="1719072"/>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15" name="Shape 13"/>
          <p:cNvSpPr/>
          <p:nvPr/>
        </p:nvSpPr>
        <p:spPr>
          <a:xfrm>
            <a:off x="347472" y="2944368"/>
            <a:ext cx="4041648" cy="475488"/>
          </a:xfrm>
          <a:prstGeom prst="rect">
            <a:avLst/>
          </a:prstGeom>
          <a:solidFill>
            <a:srgbClr val="4A8C3F"/>
          </a:solidFill>
          <a:ln w="12700">
            <a:solidFill>
              <a:srgbClr val="4A8C3F"/>
            </a:solidFill>
            <a:prstDash val="solid"/>
          </a:ln>
        </p:spPr>
      </p:sp>
      <p:sp>
        <p:nvSpPr>
          <p:cNvPr id="16" name="Text 14"/>
          <p:cNvSpPr/>
          <p:nvPr/>
        </p:nvSpPr>
        <p:spPr>
          <a:xfrm>
            <a:off x="475488" y="2944368"/>
            <a:ext cx="3858768" cy="475488"/>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03  Multi-Modal Feature Fusion</a:t>
            </a:r>
            <a:endParaRPr lang="en-US" sz="1300" dirty="0"/>
          </a:p>
        </p:txBody>
      </p:sp>
      <p:sp>
        <p:nvSpPr>
          <p:cNvPr id="17" name="Text 15"/>
          <p:cNvSpPr/>
          <p:nvPr/>
        </p:nvSpPr>
        <p:spPr>
          <a:xfrm>
            <a:off x="475488" y="3493008"/>
            <a:ext cx="3840480" cy="1097280"/>
          </a:xfrm>
          <a:prstGeom prst="rect">
            <a:avLst/>
          </a:prstGeom>
          <a:noFill/>
          <a:ln/>
        </p:spPr>
        <p:txBody>
          <a:bodyPr wrap="square" rtlCol="0" anchor="ctr"/>
          <a:lstStyle/>
          <a:p>
            <a:pPr marL="0" indent="0">
              <a:buNone/>
            </a:pPr>
            <a:r>
              <a:rPr lang="en-US" sz="1400" dirty="0">
                <a:solidFill>
                  <a:srgbClr val="2D3D2A"/>
                </a:solidFill>
                <a:latin typeface="Calibri" pitchFamily="34" charset="0"/>
                <a:ea typeface="Calibri" pitchFamily="34" charset="-122"/>
                <a:cs typeface="Calibri" pitchFamily="34" charset="-120"/>
              </a:rPr>
              <a:t>Incorporate hand-crafted morphological features (aspect ratio, eccentricity, solidity) alongside CNN features as complementary side inputs to the classifier.</a:t>
            </a:r>
            <a:endParaRPr lang="en-US" sz="1400" dirty="0"/>
          </a:p>
        </p:txBody>
      </p:sp>
      <p:sp>
        <p:nvSpPr>
          <p:cNvPr id="18" name="Shape 16"/>
          <p:cNvSpPr/>
          <p:nvPr/>
        </p:nvSpPr>
        <p:spPr>
          <a:xfrm>
            <a:off x="4608576" y="2944368"/>
            <a:ext cx="4041648" cy="1719072"/>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19" name="Shape 17"/>
          <p:cNvSpPr/>
          <p:nvPr/>
        </p:nvSpPr>
        <p:spPr>
          <a:xfrm>
            <a:off x="4608576" y="2944368"/>
            <a:ext cx="4041648" cy="475488"/>
          </a:xfrm>
          <a:prstGeom prst="rect">
            <a:avLst/>
          </a:prstGeom>
          <a:solidFill>
            <a:srgbClr val="4A8C3F"/>
          </a:solidFill>
          <a:ln w="12700">
            <a:solidFill>
              <a:srgbClr val="4A8C3F"/>
            </a:solidFill>
            <a:prstDash val="solid"/>
          </a:ln>
        </p:spPr>
      </p:sp>
      <p:sp>
        <p:nvSpPr>
          <p:cNvPr id="20" name="Text 18"/>
          <p:cNvSpPr/>
          <p:nvPr/>
        </p:nvSpPr>
        <p:spPr>
          <a:xfrm>
            <a:off x="4736592" y="2944368"/>
            <a:ext cx="3858768" cy="475488"/>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04  Edge Deployment</a:t>
            </a:r>
            <a:endParaRPr lang="en-US" sz="1300" dirty="0"/>
          </a:p>
        </p:txBody>
      </p:sp>
      <p:sp>
        <p:nvSpPr>
          <p:cNvPr id="21" name="Text 19"/>
          <p:cNvSpPr/>
          <p:nvPr/>
        </p:nvSpPr>
        <p:spPr>
          <a:xfrm>
            <a:off x="4736592" y="3493008"/>
            <a:ext cx="3840480" cy="1097280"/>
          </a:xfrm>
          <a:prstGeom prst="rect">
            <a:avLst/>
          </a:prstGeom>
          <a:noFill/>
          <a:ln/>
        </p:spPr>
        <p:txBody>
          <a:bodyPr wrap="square" rtlCol="0" anchor="ctr"/>
          <a:lstStyle/>
          <a:p>
            <a:pPr marL="0" indent="0">
              <a:buNone/>
            </a:pPr>
            <a:r>
              <a:rPr lang="en-US" sz="1400" dirty="0">
                <a:solidFill>
                  <a:srgbClr val="2D3D2A"/>
                </a:solidFill>
                <a:latin typeface="Calibri" pitchFamily="34" charset="0"/>
                <a:ea typeface="Calibri" pitchFamily="34" charset="-122"/>
                <a:cs typeface="Calibri" pitchFamily="34" charset="-120"/>
              </a:rPr>
              <a:t>Optimise the best single model (or distilled ensemble) for real-time inference on mobile/edge hardware for on-farm grain quality grading.</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1">
    <p:bg>
      <p:bgPr>
        <a:solidFill>
          <a:srgbClr val="F4F7F1"/>
        </a:solidFill>
        <a:effectLst/>
      </p:bgPr>
    </p:bg>
    <p:spTree>
      <p:nvGrpSpPr>
        <p:cNvPr id="1" name=""/>
        <p:cNvGrpSpPr/>
        <p:nvPr/>
      </p:nvGrpSpPr>
      <p:grpSpPr>
        <a:xfrm>
          <a:off x="0" y="0"/>
          <a:ext cx="0" cy="0"/>
          <a:chOff x="0" y="0"/>
          <a:chExt cx="0" cy="0"/>
        </a:xfrm>
      </p:grpSpPr>
      <p:sp>
        <p:nvSpPr>
          <p:cNvPr id="2" name="Shape 0"/>
          <p:cNvSpPr/>
          <p:nvPr/>
        </p:nvSpPr>
        <p:spPr>
          <a:xfrm>
            <a:off x="347472" y="228600"/>
            <a:ext cx="73152" cy="566928"/>
          </a:xfrm>
          <a:prstGeom prst="rect">
            <a:avLst/>
          </a:prstGeom>
          <a:solidFill>
            <a:srgbClr val="7CB87A"/>
          </a:solidFill>
          <a:ln w="12700">
            <a:solidFill>
              <a:srgbClr val="7CB87A"/>
            </a:solidFill>
            <a:prstDash val="solid"/>
          </a:ln>
        </p:spPr>
      </p:sp>
      <p:sp>
        <p:nvSpPr>
          <p:cNvPr id="3" name="Text 1"/>
          <p:cNvSpPr/>
          <p:nvPr/>
        </p:nvSpPr>
        <p:spPr>
          <a:xfrm>
            <a:off x="521208" y="192024"/>
            <a:ext cx="8275320" cy="676656"/>
          </a:xfrm>
          <a:prstGeom prst="rect">
            <a:avLst/>
          </a:prstGeom>
          <a:noFill/>
          <a:ln/>
        </p:spPr>
        <p:txBody>
          <a:bodyPr wrap="square" lIns="0" tIns="0" rIns="0" bIns="0" rtlCol="0" anchor="ctr"/>
          <a:lstStyle/>
          <a:p>
            <a:pPr marL="0" indent="0">
              <a:buNone/>
            </a:pPr>
            <a:r>
              <a:rPr lang="en-US" sz="2700" b="1" dirty="0">
                <a:solidFill>
                  <a:srgbClr val="1B4D2E"/>
                </a:solidFill>
                <a:latin typeface="Cambria" pitchFamily="34" charset="0"/>
                <a:ea typeface="Cambria" pitchFamily="34" charset="-122"/>
                <a:cs typeface="Cambria" pitchFamily="34" charset="-120"/>
              </a:rPr>
              <a:t>References</a:t>
            </a:r>
            <a:endParaRPr lang="en-US" sz="2700" dirty="0"/>
          </a:p>
        </p:txBody>
      </p:sp>
      <p:sp>
        <p:nvSpPr>
          <p:cNvPr id="4" name="Shape 2"/>
          <p:cNvSpPr/>
          <p:nvPr/>
        </p:nvSpPr>
        <p:spPr>
          <a:xfrm>
            <a:off x="347472" y="969264"/>
            <a:ext cx="8449056" cy="0"/>
          </a:xfrm>
          <a:prstGeom prst="line">
            <a:avLst/>
          </a:prstGeom>
          <a:noFill/>
          <a:ln w="12700">
            <a:solidFill>
              <a:srgbClr val="C2D6B8"/>
            </a:solidFill>
            <a:prstDash val="solid"/>
          </a:ln>
        </p:spPr>
      </p:sp>
      <p:sp>
        <p:nvSpPr>
          <p:cNvPr id="5" name="Text 3"/>
          <p:cNvSpPr/>
          <p:nvPr/>
        </p:nvSpPr>
        <p:spPr>
          <a:xfrm>
            <a:off x="8046720" y="4892040"/>
            <a:ext cx="914400" cy="182880"/>
          </a:xfrm>
          <a:prstGeom prst="rect">
            <a:avLst/>
          </a:prstGeom>
          <a:noFill/>
          <a:ln/>
        </p:spPr>
        <p:txBody>
          <a:bodyPr wrap="square" rtlCol="0" anchor="ctr"/>
          <a:lstStyle/>
          <a:p>
            <a:pPr marL="0" indent="0" algn="r">
              <a:buNone/>
            </a:pPr>
            <a:r>
              <a:rPr lang="en-US" sz="1000" dirty="0">
                <a:solidFill>
                  <a:srgbClr val="607060"/>
                </a:solidFill>
                <a:latin typeface="Calibri" pitchFamily="34" charset="0"/>
                <a:ea typeface="Calibri" pitchFamily="34" charset="-122"/>
                <a:cs typeface="Calibri" pitchFamily="34" charset="-120"/>
              </a:rPr>
              <a:t>21 / 22</a:t>
            </a:r>
            <a:endParaRPr lang="en-US" sz="1000" dirty="0"/>
          </a:p>
        </p:txBody>
      </p:sp>
      <p:sp>
        <p:nvSpPr>
          <p:cNvPr id="6" name="Shape 4"/>
          <p:cNvSpPr/>
          <p:nvPr/>
        </p:nvSpPr>
        <p:spPr>
          <a:xfrm>
            <a:off x="347472" y="1042416"/>
            <a:ext cx="4160520" cy="3694176"/>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sp>
      <p:sp>
        <p:nvSpPr>
          <p:cNvPr id="7" name="Text 5"/>
          <p:cNvSpPr/>
          <p:nvPr/>
        </p:nvSpPr>
        <p:spPr>
          <a:xfrm>
            <a:off x="475488" y="1115568"/>
            <a:ext cx="3904488" cy="3547872"/>
          </a:xfrm>
          <a:prstGeom prst="rect">
            <a:avLst/>
          </a:prstGeom>
          <a:noFill/>
          <a:ln/>
        </p:spPr>
        <p:txBody>
          <a:bodyPr wrap="square" rtlCol="0" anchor="ctr"/>
          <a:lstStyle/>
          <a:p>
            <a:pPr marL="0" indent="0" algn="just">
              <a:spcAft>
                <a:spcPts val="500"/>
              </a:spcAft>
              <a:buNone/>
            </a:pPr>
            <a:r>
              <a:rPr lang="en-US" sz="1150" dirty="0">
                <a:solidFill>
                  <a:srgbClr val="2D3D2A"/>
                </a:solidFill>
                <a:latin typeface="Calibri" pitchFamily="34" charset="0"/>
                <a:ea typeface="Calibri" pitchFamily="34" charset="-122"/>
                <a:cs typeface="Calibri" pitchFamily="34" charset="-120"/>
              </a:rPr>
              <a:t>[1] </a:t>
            </a:r>
            <a:r>
              <a:rPr lang="en-US" sz="1200" b="0" i="0" dirty="0" err="1">
                <a:effectLst/>
                <a:latin typeface="CircularXXWeb"/>
              </a:rPr>
              <a:t>Busi</a:t>
            </a:r>
            <a:r>
              <a:rPr lang="en-US" sz="1200" b="0" i="0" dirty="0">
                <a:effectLst/>
                <a:latin typeface="CircularXXWeb"/>
              </a:rPr>
              <a:t>, R., Prasanna, V., Bhavana, S., Kishore, T., </a:t>
            </a:r>
            <a:r>
              <a:rPr lang="en-US" sz="1200" b="0" i="0" dirty="0" err="1">
                <a:effectLst/>
                <a:latin typeface="CircularXXWeb"/>
              </a:rPr>
              <a:t>Santhi</a:t>
            </a:r>
            <a:r>
              <a:rPr lang="en-US" sz="1200" b="0" i="0" dirty="0">
                <a:effectLst/>
                <a:latin typeface="CircularXXWeb"/>
              </a:rPr>
              <a:t>, V., &amp; Sainath, Y. (2024). Rice Grains Detection, Classification, and Quality Prediction Using Deep Learning. </a:t>
            </a:r>
            <a:r>
              <a:rPr lang="en-US" sz="1200" b="0" i="1" dirty="0">
                <a:effectLst/>
                <a:latin typeface="CircularXXWeb"/>
              </a:rPr>
              <a:t>International Journal for Research in Applied Science and Engineering Technology</a:t>
            </a:r>
            <a:r>
              <a:rPr lang="en-US" sz="1200" b="0" i="0" dirty="0">
                <a:effectLst/>
                <a:latin typeface="CircularXXWeb"/>
              </a:rPr>
              <a:t>. </a:t>
            </a:r>
            <a:r>
              <a:rPr lang="en-US" sz="1200" b="0" i="0" dirty="0">
                <a:effectLst/>
                <a:latin typeface="CircularXXWeb"/>
                <a:hlinkClick r:id="rId3">
                  <a:extLst>
                    <a:ext uri="{A12FA001-AC4F-418D-AE19-62706E023703}">
                      <ahyp:hlinkClr xmlns:ahyp="http://schemas.microsoft.com/office/drawing/2018/hyperlinkcolor" val="tx"/>
                    </a:ext>
                  </a:extLst>
                </a:hlinkClick>
              </a:rPr>
              <a:t>https://doi.org/10.22214/ijraset.2024.59321</a:t>
            </a:r>
            <a:r>
              <a:rPr lang="en-US" sz="1200" b="0" i="0" dirty="0">
                <a:effectLst/>
                <a:latin typeface="CircularXXWeb"/>
              </a:rPr>
              <a:t>.</a:t>
            </a:r>
          </a:p>
          <a:p>
            <a:pPr marL="0" indent="0" algn="just">
              <a:spcAft>
                <a:spcPts val="500"/>
              </a:spcAft>
              <a:buNone/>
            </a:pPr>
            <a:r>
              <a:rPr lang="en-US" sz="1150" dirty="0">
                <a:solidFill>
                  <a:srgbClr val="2D3D2A"/>
                </a:solidFill>
                <a:latin typeface="Calibri" pitchFamily="34" charset="0"/>
                <a:ea typeface="Calibri" pitchFamily="34" charset="-122"/>
                <a:cs typeface="Calibri" pitchFamily="34" charset="-120"/>
              </a:rPr>
              <a:t>[2] </a:t>
            </a:r>
            <a:r>
              <a:rPr lang="en-US" sz="1200" b="0" i="0" dirty="0">
                <a:effectLst/>
                <a:latin typeface="CircularXXWeb"/>
              </a:rPr>
              <a:t>Setiawan, R., &amp; </a:t>
            </a:r>
            <a:r>
              <a:rPr lang="en-US" sz="1200" b="0" i="0" dirty="0" err="1">
                <a:effectLst/>
                <a:latin typeface="CircularXXWeb"/>
              </a:rPr>
              <a:t>Oumarou</a:t>
            </a:r>
            <a:r>
              <a:rPr lang="en-US" sz="1200" b="0" i="0" dirty="0">
                <a:effectLst/>
                <a:latin typeface="CircularXXWeb"/>
              </a:rPr>
              <a:t>, H. (2024). Classification of Rice Grain Varieties Using Ensemble Learning and Image Analysis Techniques. </a:t>
            </a:r>
            <a:r>
              <a:rPr lang="en-US" sz="1200" b="0" i="1" dirty="0">
                <a:effectLst/>
                <a:latin typeface="CircularXXWeb"/>
              </a:rPr>
              <a:t>Indonesian Journal of Data and Science</a:t>
            </a:r>
            <a:r>
              <a:rPr lang="en-US" sz="1200" b="0" i="0" dirty="0">
                <a:effectLst/>
                <a:latin typeface="CircularXXWeb"/>
              </a:rPr>
              <a:t>. </a:t>
            </a:r>
            <a:r>
              <a:rPr lang="en-US" sz="1200" b="0" i="0" dirty="0">
                <a:effectLst/>
                <a:latin typeface="CircularXXWeb"/>
                <a:hlinkClick r:id="rId4">
                  <a:extLst>
                    <a:ext uri="{A12FA001-AC4F-418D-AE19-62706E023703}">
                      <ahyp:hlinkClr xmlns:ahyp="http://schemas.microsoft.com/office/drawing/2018/hyperlinkcolor" val="tx"/>
                    </a:ext>
                  </a:extLst>
                </a:hlinkClick>
              </a:rPr>
              <a:t>https://doi.org/10.56705/ijodas.v5i1.129</a:t>
            </a:r>
            <a:r>
              <a:rPr lang="en-US" sz="1200" b="0" i="0" dirty="0">
                <a:effectLst/>
                <a:latin typeface="CircularXXWeb"/>
              </a:rPr>
              <a:t>.</a:t>
            </a:r>
          </a:p>
          <a:p>
            <a:pPr marL="0" indent="0" algn="just">
              <a:spcAft>
                <a:spcPts val="500"/>
              </a:spcAft>
              <a:buNone/>
            </a:pPr>
            <a:r>
              <a:rPr lang="en-US" sz="1150" dirty="0">
                <a:solidFill>
                  <a:srgbClr val="2D3D2A"/>
                </a:solidFill>
                <a:latin typeface="Calibri" pitchFamily="34" charset="0"/>
                <a:ea typeface="Calibri" pitchFamily="34" charset="-122"/>
                <a:cs typeface="Calibri" pitchFamily="34" charset="-120"/>
              </a:rPr>
              <a:t>[3] </a:t>
            </a:r>
            <a:r>
              <a:rPr lang="en-US" sz="1200" b="0" i="0" dirty="0" err="1">
                <a:effectLst/>
                <a:latin typeface="CircularXXWeb"/>
              </a:rPr>
              <a:t>Koklu</a:t>
            </a:r>
            <a:r>
              <a:rPr lang="en-US" sz="1200" b="0" i="0" dirty="0">
                <a:effectLst/>
                <a:latin typeface="CircularXXWeb"/>
              </a:rPr>
              <a:t>, M., </a:t>
            </a:r>
            <a:r>
              <a:rPr lang="en-US" sz="1200" b="0" i="0" dirty="0" err="1">
                <a:effectLst/>
                <a:latin typeface="CircularXXWeb"/>
              </a:rPr>
              <a:t>Cınar</a:t>
            </a:r>
            <a:r>
              <a:rPr lang="en-US" sz="1200" b="0" i="0" dirty="0">
                <a:effectLst/>
                <a:latin typeface="CircularXXWeb"/>
              </a:rPr>
              <a:t>, I., &amp; </a:t>
            </a:r>
            <a:r>
              <a:rPr lang="en-US" sz="1200" b="0" i="0" dirty="0" err="1">
                <a:effectLst/>
                <a:latin typeface="CircularXXWeb"/>
              </a:rPr>
              <a:t>Taşpınar</a:t>
            </a:r>
            <a:r>
              <a:rPr lang="en-US" sz="1200" b="0" i="0" dirty="0">
                <a:effectLst/>
                <a:latin typeface="CircularXXWeb"/>
              </a:rPr>
              <a:t>, Y. (2021). Classification of rice varieties with deep learning methods. </a:t>
            </a:r>
            <a:r>
              <a:rPr lang="en-US" sz="1200" b="0" i="1" dirty="0" err="1">
                <a:effectLst/>
                <a:latin typeface="CircularXXWeb"/>
              </a:rPr>
              <a:t>Comput</a:t>
            </a:r>
            <a:r>
              <a:rPr lang="en-US" sz="1200" b="0" i="1" dirty="0">
                <a:effectLst/>
                <a:latin typeface="CircularXXWeb"/>
              </a:rPr>
              <a:t>. Electron. Agric., 187</a:t>
            </a:r>
            <a:r>
              <a:rPr lang="en-US" sz="1200" b="0" i="0" dirty="0">
                <a:effectLst/>
                <a:latin typeface="CircularXXWeb"/>
              </a:rPr>
              <a:t>, 106285. </a:t>
            </a:r>
            <a:r>
              <a:rPr lang="en-US" sz="1200" b="0" i="0" dirty="0">
                <a:effectLst/>
                <a:latin typeface="CircularXXWeb"/>
                <a:hlinkClick r:id="rId5">
                  <a:extLst>
                    <a:ext uri="{A12FA001-AC4F-418D-AE19-62706E023703}">
                      <ahyp:hlinkClr xmlns:ahyp="http://schemas.microsoft.com/office/drawing/2018/hyperlinkcolor" val="tx"/>
                    </a:ext>
                  </a:extLst>
                </a:hlinkClick>
              </a:rPr>
              <a:t>https://doi.org/10.1016/j.compag.2021.106285</a:t>
            </a:r>
            <a:r>
              <a:rPr lang="en-US" sz="1200" b="0" i="0" dirty="0">
                <a:effectLst/>
                <a:latin typeface="CircularXXWeb"/>
              </a:rPr>
              <a:t>.</a:t>
            </a:r>
          </a:p>
          <a:p>
            <a:pPr marL="0" indent="0" algn="just">
              <a:spcAft>
                <a:spcPts val="500"/>
              </a:spcAft>
              <a:buNone/>
            </a:pPr>
            <a:r>
              <a:rPr lang="en-US" sz="1150" dirty="0">
                <a:solidFill>
                  <a:srgbClr val="2D3D2A"/>
                </a:solidFill>
                <a:latin typeface="Calibri" pitchFamily="34" charset="0"/>
                <a:ea typeface="Calibri" pitchFamily="34" charset="-122"/>
                <a:cs typeface="Calibri" pitchFamily="34" charset="-120"/>
              </a:rPr>
              <a:t>[4] </a:t>
            </a:r>
            <a:r>
              <a:rPr lang="en-US" sz="1200" b="0" i="0" dirty="0" err="1">
                <a:effectLst/>
                <a:latin typeface="CircularXXWeb"/>
              </a:rPr>
              <a:t>Razavi</a:t>
            </a:r>
            <a:r>
              <a:rPr lang="en-US" sz="1200" b="0" i="0" dirty="0">
                <a:effectLst/>
                <a:latin typeface="CircularXXWeb"/>
              </a:rPr>
              <a:t>, M., </a:t>
            </a:r>
            <a:r>
              <a:rPr lang="en-US" sz="1200" b="0" i="0" dirty="0" err="1">
                <a:effectLst/>
                <a:latin typeface="CircularXXWeb"/>
              </a:rPr>
              <a:t>Mavaddati</a:t>
            </a:r>
            <a:r>
              <a:rPr lang="en-US" sz="1200" b="0" i="0" dirty="0">
                <a:effectLst/>
                <a:latin typeface="CircularXXWeb"/>
              </a:rPr>
              <a:t>, S., &amp; </a:t>
            </a:r>
            <a:r>
              <a:rPr lang="en-US" sz="1200" b="0" i="0" dirty="0" err="1">
                <a:effectLst/>
                <a:latin typeface="CircularXXWeb"/>
              </a:rPr>
              <a:t>Koohi</a:t>
            </a:r>
            <a:r>
              <a:rPr lang="en-US" sz="1200" b="0" i="0" dirty="0">
                <a:effectLst/>
                <a:latin typeface="CircularXXWeb"/>
              </a:rPr>
              <a:t>, H. (2024). </a:t>
            </a:r>
            <a:r>
              <a:rPr lang="en-US" sz="1200" b="0" i="0" dirty="0" err="1">
                <a:effectLst/>
                <a:latin typeface="CircularXXWeb"/>
              </a:rPr>
              <a:t>ResNet</a:t>
            </a:r>
            <a:r>
              <a:rPr lang="en-US" sz="1200" b="0" i="0" dirty="0">
                <a:effectLst/>
                <a:latin typeface="CircularXXWeb"/>
              </a:rPr>
              <a:t> deep models and transfer learning technique for classification and quality detection of rice cultivars. </a:t>
            </a:r>
            <a:r>
              <a:rPr lang="en-US" sz="1200" b="0" i="1" dirty="0">
                <a:effectLst/>
                <a:latin typeface="CircularXXWeb"/>
              </a:rPr>
              <a:t>Expert Syst. Appl., 247</a:t>
            </a:r>
            <a:r>
              <a:rPr lang="en-US" sz="1200" b="0" i="0" dirty="0">
                <a:effectLst/>
                <a:latin typeface="CircularXXWeb"/>
              </a:rPr>
              <a:t>, 123276. </a:t>
            </a:r>
            <a:r>
              <a:rPr lang="en-US" sz="1200" b="0" i="0" dirty="0">
                <a:effectLst/>
                <a:latin typeface="CircularXXWeb"/>
                <a:hlinkClick r:id="rId6">
                  <a:extLst>
                    <a:ext uri="{A12FA001-AC4F-418D-AE19-62706E023703}">
                      <ahyp:hlinkClr xmlns:ahyp="http://schemas.microsoft.com/office/drawing/2018/hyperlinkcolor" val="tx"/>
                    </a:ext>
                  </a:extLst>
                </a:hlinkClick>
              </a:rPr>
              <a:t>https://doi.org/10.1016/j.eswa.2024.123276</a:t>
            </a:r>
            <a:r>
              <a:rPr lang="en-US" sz="1200" b="0" i="0" dirty="0">
                <a:effectLst/>
                <a:latin typeface="CircularXXWeb"/>
              </a:rPr>
              <a:t>.</a:t>
            </a:r>
          </a:p>
        </p:txBody>
      </p:sp>
      <p:sp>
        <p:nvSpPr>
          <p:cNvPr id="8" name="Shape 6"/>
          <p:cNvSpPr/>
          <p:nvPr/>
        </p:nvSpPr>
        <p:spPr>
          <a:xfrm>
            <a:off x="4636008" y="1042416"/>
            <a:ext cx="4160520" cy="3694176"/>
          </a:xfrm>
          <a:prstGeom prst="rect">
            <a:avLst/>
          </a:prstGeom>
          <a:solidFill>
            <a:srgbClr val="FFFFFF"/>
          </a:solidFill>
          <a:ln w="9525">
            <a:solidFill>
              <a:srgbClr val="C2D6B8"/>
            </a:solidFill>
            <a:prstDash val="solid"/>
          </a:ln>
          <a:effectLst>
            <a:outerShdw blurRad="63500" dist="25400" dir="8100000" algn="bl" rotWithShape="0">
              <a:srgbClr val="000000">
                <a:alpha val="9000"/>
              </a:srgbClr>
            </a:outerShdw>
          </a:effectLst>
        </p:spPr>
        <p:txBody>
          <a:bodyPr/>
          <a:lstStyle/>
          <a:p>
            <a:pPr algn="just"/>
            <a:r>
              <a:rPr lang="en-US" sz="1200" dirty="0"/>
              <a:t>[5] </a:t>
            </a:r>
            <a:r>
              <a:rPr lang="en-US" sz="1200" b="0" i="0" dirty="0">
                <a:effectLst/>
                <a:latin typeface="CircularXXWeb"/>
              </a:rPr>
              <a:t>Dar, R., Din, N., Bhat, M., Assad, A., Islam, Z., Gulzar, W., &amp; Yaseen, A. (2022). Classification of Rice Grain Varieties Using Deep Convolutional Neural Network Architectures. </a:t>
            </a:r>
            <a:r>
              <a:rPr lang="en-US" sz="1200" b="0" i="1" dirty="0">
                <a:effectLst/>
                <a:latin typeface="CircularXXWeb"/>
              </a:rPr>
              <a:t>SSRN Electronic Journal</a:t>
            </a:r>
            <a:r>
              <a:rPr lang="en-US" sz="1200" b="0" i="0" dirty="0">
                <a:effectLst/>
                <a:latin typeface="CircularXXWeb"/>
              </a:rPr>
              <a:t>. </a:t>
            </a:r>
            <a:r>
              <a:rPr lang="en-US" sz="1200" b="0" i="0" dirty="0">
                <a:effectLst/>
                <a:latin typeface="CircularXXWeb"/>
                <a:hlinkClick r:id="rId7"/>
              </a:rPr>
              <a:t>https://doi.org/10.2139/ssrn.4129842</a:t>
            </a:r>
            <a:r>
              <a:rPr lang="en-US" sz="1200" b="0" i="0" dirty="0">
                <a:effectLst/>
                <a:latin typeface="CircularXXWeb"/>
              </a:rPr>
              <a:t>.</a:t>
            </a:r>
          </a:p>
          <a:p>
            <a:pPr algn="just"/>
            <a:endParaRPr lang="en-US" sz="1200" dirty="0">
              <a:latin typeface="CircularXXWeb"/>
            </a:endParaRPr>
          </a:p>
          <a:p>
            <a:pPr algn="just"/>
            <a:r>
              <a:rPr lang="en-US" sz="1200" dirty="0">
                <a:latin typeface="CircularXXWeb"/>
              </a:rPr>
              <a:t>[6] </a:t>
            </a:r>
            <a:r>
              <a:rPr lang="en-US" sz="1200" b="0" i="0" dirty="0">
                <a:effectLst/>
                <a:latin typeface="CircularXXWeb"/>
              </a:rPr>
              <a:t>Islam, M., </a:t>
            </a:r>
            <a:r>
              <a:rPr lang="en-US" sz="1200" b="0" i="0" dirty="0" err="1">
                <a:effectLst/>
                <a:latin typeface="CircularXXWeb"/>
              </a:rPr>
              <a:t>Himel</a:t>
            </a:r>
            <a:r>
              <a:rPr lang="en-US" sz="1200" b="0" i="0" dirty="0">
                <a:effectLst/>
                <a:latin typeface="CircularXXWeb"/>
              </a:rPr>
              <a:t>, G., Moazzam, M., &amp; Uddin, M. (2025). Artificial Intelligence-based Rice Variety Classification: A State-of-the-Art Review and Future Directions. </a:t>
            </a:r>
            <a:r>
              <a:rPr lang="en-US" sz="1200" b="0" i="1" dirty="0">
                <a:effectLst/>
                <a:latin typeface="CircularXXWeb"/>
              </a:rPr>
              <a:t>Smart Agricultural Technology</a:t>
            </a:r>
            <a:r>
              <a:rPr lang="en-US" sz="1200" b="0" i="0" dirty="0">
                <a:effectLst/>
                <a:latin typeface="CircularXXWeb"/>
              </a:rPr>
              <a:t>. </a:t>
            </a:r>
            <a:r>
              <a:rPr lang="en-US" sz="1200" b="0" i="0" dirty="0">
                <a:effectLst/>
                <a:latin typeface="CircularXXWeb"/>
                <a:hlinkClick r:id="rId8"/>
              </a:rPr>
              <a:t>https://doi.org/10.1016/j.atech.2025.100788</a:t>
            </a:r>
            <a:r>
              <a:rPr lang="en-US" sz="1200" b="0" i="0" dirty="0">
                <a:effectLst/>
                <a:latin typeface="CircularXXWeb"/>
              </a:rPr>
              <a:t>.</a:t>
            </a:r>
          </a:p>
          <a:p>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B4D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7CB87A"/>
          </a:solidFill>
          <a:ln w="12700">
            <a:solidFill>
              <a:srgbClr val="7CB87A"/>
            </a:solidFill>
            <a:prstDash val="solid"/>
          </a:ln>
        </p:spPr>
      </p:sp>
      <p:sp>
        <p:nvSpPr>
          <p:cNvPr id="3" name="Shape 1"/>
          <p:cNvSpPr/>
          <p:nvPr/>
        </p:nvSpPr>
        <p:spPr>
          <a:xfrm>
            <a:off x="0" y="4978908"/>
            <a:ext cx="9144000" cy="164592"/>
          </a:xfrm>
          <a:prstGeom prst="rect">
            <a:avLst/>
          </a:prstGeom>
          <a:solidFill>
            <a:srgbClr val="4A8C3F"/>
          </a:solidFill>
          <a:ln w="12700">
            <a:solidFill>
              <a:srgbClr val="4A8C3F"/>
            </a:solidFill>
            <a:prstDash val="solid"/>
          </a:ln>
        </p:spPr>
      </p:sp>
      <p:sp>
        <p:nvSpPr>
          <p:cNvPr id="4" name="Shape 2"/>
          <p:cNvSpPr/>
          <p:nvPr/>
        </p:nvSpPr>
        <p:spPr>
          <a:xfrm>
            <a:off x="0" y="164592"/>
            <a:ext cx="502920" cy="4814316"/>
          </a:xfrm>
          <a:prstGeom prst="rect">
            <a:avLst/>
          </a:prstGeom>
          <a:solidFill>
            <a:srgbClr val="4A8C3F"/>
          </a:solidFill>
          <a:ln w="12700">
            <a:solidFill>
              <a:srgbClr val="4A8C3F"/>
            </a:solidFill>
            <a:prstDash val="solid"/>
          </a:ln>
        </p:spPr>
      </p:sp>
      <p:sp>
        <p:nvSpPr>
          <p:cNvPr id="5" name="Shape 3"/>
          <p:cNvSpPr/>
          <p:nvPr/>
        </p:nvSpPr>
        <p:spPr>
          <a:xfrm>
            <a:off x="5559552" y="-1097280"/>
            <a:ext cx="5486400" cy="5486400"/>
          </a:xfrm>
          <a:prstGeom prst="ellipse">
            <a:avLst/>
          </a:prstGeom>
          <a:solidFill>
            <a:srgbClr val="2E7D45">
              <a:alpha val="20000"/>
            </a:srgbClr>
          </a:solidFill>
          <a:ln w="12700">
            <a:solidFill>
              <a:srgbClr val="2E7D45">
                <a:alpha val="20000"/>
              </a:srgbClr>
            </a:solidFill>
            <a:prstDash val="solid"/>
          </a:ln>
        </p:spPr>
      </p:sp>
      <p:sp>
        <p:nvSpPr>
          <p:cNvPr id="6" name="Shape 4"/>
          <p:cNvSpPr/>
          <p:nvPr/>
        </p:nvSpPr>
        <p:spPr>
          <a:xfrm>
            <a:off x="6583680" y="2103120"/>
            <a:ext cx="3200400" cy="3200400"/>
          </a:xfrm>
          <a:prstGeom prst="ellipse">
            <a:avLst/>
          </a:prstGeom>
          <a:solidFill>
            <a:srgbClr val="4A8C3F">
              <a:alpha val="18000"/>
            </a:srgbClr>
          </a:solidFill>
          <a:ln w="12700">
            <a:solidFill>
              <a:srgbClr val="4A8C3F">
                <a:alpha val="18000"/>
              </a:srgbClr>
            </a:solidFill>
            <a:prstDash val="solid"/>
          </a:ln>
        </p:spPr>
      </p:sp>
      <p:sp>
        <p:nvSpPr>
          <p:cNvPr id="7" name="Text 5"/>
          <p:cNvSpPr/>
          <p:nvPr/>
        </p:nvSpPr>
        <p:spPr>
          <a:xfrm>
            <a:off x="731520" y="640080"/>
            <a:ext cx="5486400" cy="128016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8" name="Text 6"/>
          <p:cNvSpPr/>
          <p:nvPr/>
        </p:nvSpPr>
        <p:spPr>
          <a:xfrm>
            <a:off x="731520" y="1920240"/>
            <a:ext cx="5486400" cy="914400"/>
          </a:xfrm>
          <a:prstGeom prst="rect">
            <a:avLst/>
          </a:prstGeom>
          <a:noFill/>
          <a:ln/>
        </p:spPr>
        <p:txBody>
          <a:bodyPr wrap="square" rtlCol="0" anchor="ctr"/>
          <a:lstStyle/>
          <a:p>
            <a:pPr marL="0" indent="0">
              <a:buNone/>
            </a:pPr>
            <a:r>
              <a:rPr lang="en-US" sz="3400" i="1" dirty="0">
                <a:solidFill>
                  <a:srgbClr val="7CB87A"/>
                </a:solidFill>
                <a:latin typeface="Cambria" pitchFamily="34" charset="0"/>
                <a:ea typeface="Cambria" pitchFamily="34" charset="-122"/>
                <a:cs typeface="Cambria" pitchFamily="34" charset="-120"/>
              </a:rPr>
              <a:t>Any Questions?</a:t>
            </a:r>
            <a:endParaRPr lang="en-US" sz="3400" dirty="0"/>
          </a:p>
        </p:txBody>
      </p:sp>
      <p:sp>
        <p:nvSpPr>
          <p:cNvPr id="9" name="Shape 7"/>
          <p:cNvSpPr/>
          <p:nvPr/>
        </p:nvSpPr>
        <p:spPr>
          <a:xfrm>
            <a:off x="731520" y="2926080"/>
            <a:ext cx="5029200" cy="0"/>
          </a:xfrm>
          <a:prstGeom prst="line">
            <a:avLst/>
          </a:prstGeom>
          <a:noFill/>
          <a:ln w="19050">
            <a:solidFill>
              <a:srgbClr val="4A8C3F"/>
            </a:solidFill>
            <a:prstDash val="solid"/>
          </a:ln>
        </p:spPr>
      </p:sp>
      <p:sp>
        <p:nvSpPr>
          <p:cNvPr id="10" name="Text 8"/>
          <p:cNvSpPr/>
          <p:nvPr/>
        </p:nvSpPr>
        <p:spPr>
          <a:xfrm>
            <a:off x="731520" y="3063240"/>
            <a:ext cx="5486400" cy="1280160"/>
          </a:xfrm>
          <a:prstGeom prst="rect">
            <a:avLst/>
          </a:prstGeom>
          <a:noFill/>
          <a:ln/>
        </p:spPr>
        <p:txBody>
          <a:bodyPr wrap="square" rtlCol="0" anchor="ctr"/>
          <a:lstStyle/>
          <a:p>
            <a:pPr marL="0" indent="0">
              <a:buNone/>
            </a:pPr>
            <a:r>
              <a:rPr lang="en-US" sz="1400" dirty="0">
                <a:solidFill>
                  <a:srgbClr val="C8DFA0"/>
                </a:solidFill>
                <a:latin typeface="Calibri" pitchFamily="34" charset="0"/>
                <a:ea typeface="Calibri" pitchFamily="34" charset="-122"/>
                <a:cs typeface="Calibri" pitchFamily="34" charset="-120"/>
                <a:hlinkClick r:id="rId3"/>
              </a:rPr>
              <a:t>naim.molla.stats@gmail.com</a:t>
            </a:r>
            <a:endParaRPr lang="en-US" sz="1400" dirty="0">
              <a:solidFill>
                <a:srgbClr val="C8DFA0"/>
              </a:solidFill>
              <a:latin typeface="Calibri" pitchFamily="34" charset="0"/>
              <a:ea typeface="Calibri" pitchFamily="34" charset="-122"/>
              <a:cs typeface="Calibri" pitchFamily="34" charset="-120"/>
            </a:endParaRPr>
          </a:p>
          <a:p>
            <a:pPr marL="0" indent="0">
              <a:buNone/>
            </a:pPr>
            <a:r>
              <a:rPr lang="en-US" sz="1400" dirty="0">
                <a:solidFill>
                  <a:srgbClr val="C8DFA0"/>
                </a:solidFill>
                <a:latin typeface="Calibri" pitchFamily="34" charset="0"/>
                <a:ea typeface="Calibri" pitchFamily="34" charset="-122"/>
                <a:cs typeface="Calibri" pitchFamily="34" charset="-120"/>
              </a:rPr>
              <a:t>Dataset: data.mendeley.com/datasets/sfp9s96prh/1</a:t>
            </a:r>
          </a:p>
          <a:p>
            <a:pPr marL="0" indent="0">
              <a:buNone/>
            </a:pPr>
            <a:r>
              <a:rPr lang="en-US" sz="1400" dirty="0">
                <a:solidFill>
                  <a:srgbClr val="C8DFA0"/>
                </a:solidFill>
                <a:latin typeface="Calibri" pitchFamily="34" charset="0"/>
                <a:ea typeface="Calibri" pitchFamily="34" charset="-122"/>
                <a:cs typeface="Calibri" pitchFamily="34" charset="-120"/>
              </a:rPr>
              <a:t>Code: https://github.com/md-naim-molla/Rice-Grain-Classification</a:t>
            </a:r>
            <a:endParaRPr lang="en-US" sz="1400" dirty="0"/>
          </a:p>
          <a:p>
            <a:pPr marL="0" indent="0">
              <a:buNone/>
            </a:pPr>
            <a:r>
              <a:rPr lang="en-US" sz="1400" dirty="0">
                <a:solidFill>
                  <a:srgbClr val="C8DFA0"/>
                </a:solidFill>
                <a:latin typeface="Calibri" pitchFamily="34" charset="0"/>
                <a:ea typeface="Calibri" pitchFamily="34" charset="-122"/>
                <a:cs typeface="Calibri" pitchFamily="34" charset="-120"/>
              </a:rPr>
              <a:t>Data Science Research Lab, Department of Statistics, University of Rajshahi, Rajshahi-6205, Bangladesh</a:t>
            </a:r>
            <a:endParaRPr lang="en-US" sz="1400" dirty="0"/>
          </a:p>
        </p:txBody>
      </p:sp>
    </p:spTree>
    <p:extLst>
      <p:ext uri="{BB962C8B-B14F-4D97-AF65-F5344CB8AC3E}">
        <p14:creationId xmlns:p14="http://schemas.microsoft.com/office/powerpoint/2010/main" val="21719348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1613</TotalTime>
  <Words>2522</Words>
  <Application>Microsoft Office PowerPoint</Application>
  <PresentationFormat>On-screen Show (16:9)</PresentationFormat>
  <Paragraphs>389</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CircularXXWeb</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Nayeem Hasan</cp:lastModifiedBy>
  <cp:revision>21</cp:revision>
  <dcterms:created xsi:type="dcterms:W3CDTF">2026-04-19T10:14:21Z</dcterms:created>
  <dcterms:modified xsi:type="dcterms:W3CDTF">2026-04-21T14:02:24Z</dcterms:modified>
</cp:coreProperties>
</file>